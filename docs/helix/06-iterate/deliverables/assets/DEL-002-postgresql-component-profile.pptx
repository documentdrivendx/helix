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need once, in the profile's words: DepositMatch needs one store for imports, source rows, invoices, deposits, matches, decisions, exceptions, and the audit log, so that every accepted match can be explained at month-end, every exception stays owned, and the pilot ships with one store to operate. Then say this deck is the record behind the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profile's goals, cited there to the product vision, principles 2 and 5, and the decision record's drivers.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seven rows aloud; every later slide is measured against them. Two nice-to-haves the record also speaks to, semi-structured storage for raw rows and partitioning of import sessions, appear under Outside the public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record names three built-for use cases: general transactional applications, mixed relational and document data through the JSONB type, and incremental change feeds through built-in logical replication.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deck exists for. The profile's verdict is Fit. Confidence is Medium: adoption and row-security practice are independently corroborated, and the transaction, constraint, trigger, archiving, and queue claims rest on the maker's documentation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Partitioning of import sessions by range, list, or hash is in core once a retention policy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alternative has its own profile with its own record, or none yet; a cell marked not researched is filled there. The decision record's third alternative, an event store with read models, is an architecture pattern with no single component to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here. The source names no owner, date, or duration for any of the three; if the room asks who runs them, that belongs to the decision this deck feeds.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presented.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7304837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as DepositMatch's system of record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0"/>
            <a:ext cx="73048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record on one candidate, measured against the seven capabilities the system-of-record decision requires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16975" y="1965960"/>
            <a:ext cx="2926080" cy="2926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50800">
            <a:solidFill>
              <a:srgbClr val="C44B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7017" y="2756002"/>
            <a:ext cx="1345997" cy="13459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836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C44B2F"/>
          </a:solidFill>
          <a:ln w="12700">
            <a:solidFill>
              <a:srgbClr val="C44B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58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548640"/>
            <a:ext cx="10317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S1, S2 (appendix)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65960"/>
            <a:ext cx="4462653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firms reconcile in accounting exports, bank reports, and spreadsheets today</a:t>
            </a:r>
            <a:endParaRPr lang="en-US" sz="1800" dirty="0"/>
          </a:p>
          <a:p>
            <a:pPr marL="228600" indent="-2286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accepted match must be explainable at month-end; every exception must stay owned</a:t>
            </a:r>
            <a:endParaRPr lang="en-US" sz="1800" dirty="0"/>
          </a:p>
          <a:p>
            <a:pPr marL="228600" indent="-2286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 ships with one store to operate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285613" y="26289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B6BA8"/>
          </a:solidFill>
          <a:ln w="12700">
            <a:solidFill>
              <a:srgbClr val="3B6BA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6197" y="272948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017133" y="2446020"/>
            <a:ext cx="5625922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 log a firm can explain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017133" y="2906878"/>
            <a:ext cx="562592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reviewer, and time on every match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285613" y="35890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B6BA8"/>
          </a:solidFill>
          <a:ln w="12700">
            <a:solidFill>
              <a:srgbClr val="3B6BA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197" y="368960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17133" y="3406140"/>
            <a:ext cx="5625922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that stay owned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017133" y="3866998"/>
            <a:ext cx="562592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deposit drifts to a spreadsheet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285613" y="454914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B6BA8"/>
          </a:solidFill>
          <a:ln w="12700">
            <a:solidFill>
              <a:srgbClr val="3B6BA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197" y="464972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017133" y="4366260"/>
            <a:ext cx="5625922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store to operate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017133" y="4827118"/>
            <a:ext cx="562592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imports, matches, decisions, jobs, and audit together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836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C44B2F"/>
          </a:solidFill>
          <a:ln w="12700">
            <a:solidFill>
              <a:srgbClr val="C44B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58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548640"/>
            <a:ext cx="10317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capabilities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S2 (appendix)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3883045"/>
                <a:gridCol w="3883045"/>
              </a:tblGrid>
              <a:tr h="474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Comes from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import, its source rows, and the derived rows commit together or not at all, under constraints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review log a firm can explain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decision record and the import-integrity standard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reviewer decision and correction is recorded with who and when, and history is kept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auditability as usability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auditability standard and the principles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is scoped by role down to the column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protecting customer financial records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financial-data standard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 in transit by the software and at rest by the hosting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records that stay unreadable if traffic or storage leaks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financial-data standard and the architecture document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Point-in-time recovery with a recovery point no older than fifteen minutes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disaster-recovery 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architecture document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836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C44B2F"/>
          </a:solidFill>
          <a:ln w="12700">
            <a:solidFill>
              <a:srgbClr val="C44B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58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548640"/>
            <a:ext cx="10317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capabilities (continued)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S2 (appendix)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3883045"/>
                <a:gridCol w="3883045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Comes from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durable job queue inside the store for several workers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store to operate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architecture document and the decision record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read replica can be added later without a schema 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reports that do not slow imports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decision record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836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C44B2F"/>
          </a:solidFill>
          <a:ln w="12700">
            <a:solidFill>
              <a:srgbClr val="C44B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58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548640"/>
            <a:ext cx="10317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S3 (appendix)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65960"/>
            <a:ext cx="4462653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open-source object-relational database, ACID-compliant since 2001</a:t>
            </a:r>
            <a:endParaRPr lang="en-US" sz="1800" dirty="0"/>
          </a:p>
          <a:p>
            <a:pPr marL="228600" indent="-2286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governed, no controlling vendor; the most-used database in the 2025 survey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285613" y="2057400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3B6BA8"/>
          </a:solidFill>
          <a:ln w="12700">
            <a:solidFill>
              <a:srgbClr val="3B6BA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4368" y="2156155"/>
            <a:ext cx="296266" cy="29626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007989" y="1965960"/>
            <a:ext cx="563506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object-relational, transactional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007989" y="2334646"/>
            <a:ext cx="56350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SQL, ACID, constraints, extensions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285613" y="2825496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3B6BA8"/>
          </a:solidFill>
          <a:ln w="12700">
            <a:solidFill>
              <a:srgbClr val="3B6BA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368" y="2924251"/>
            <a:ext cx="296266" cy="29626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07989" y="2734056"/>
            <a:ext cx="563506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governed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007989" y="3102742"/>
            <a:ext cx="56350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committers and a core team, no controlling vendor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285613" y="3593592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3B6BA8"/>
          </a:solidFill>
          <a:ln w="12700">
            <a:solidFill>
              <a:srgbClr val="3B6BA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368" y="3692347"/>
            <a:ext cx="296266" cy="29626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007989" y="3502152"/>
            <a:ext cx="563506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most-used database, 2025 survey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007989" y="3870838"/>
            <a:ext cx="56350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55.6% of respondents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285613" y="4361688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3B6BA8"/>
          </a:solidFill>
          <a:ln w="12700">
            <a:solidFill>
              <a:srgbClr val="3B6BA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368" y="4460443"/>
            <a:ext cx="296266" cy="29626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007989" y="4270248"/>
            <a:ext cx="563506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major release a year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6007989" y="4638934"/>
            <a:ext cx="56350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years of support each, version 16 until 2028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285613" y="5129784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3B6BA8"/>
          </a:solidFill>
          <a:ln w="12700">
            <a:solidFill>
              <a:srgbClr val="3B6BA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368" y="5228539"/>
            <a:ext cx="296266" cy="29626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007989" y="5038344"/>
            <a:ext cx="563506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licence fee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6007989" y="5407030"/>
            <a:ext cx="56350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use, copy, modify, distribute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836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C44B2F"/>
          </a:solidFill>
          <a:ln w="12700">
            <a:solidFill>
              <a:srgbClr val="C44B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58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548640"/>
            <a:ext cx="10317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alignment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S4, S8 (appendix)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3883045"/>
                <a:gridCol w="3883045"/>
              </a:tblGrid>
              <a:tr h="474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record shows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Atomic commit and constraints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All-or-nothing transactions, six constraint types including foreign keys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Attribution and history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 functions writing user, time, and the changed row to an audit 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scope to the column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Column-level privileges and row security since 9.5, SET LOCAL behind a pool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from the software, AES-256 at rest from the hosting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Point-in-time recovery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 archiving, hosting uploads logs every 5 minutes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In-store job queue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FOR UPDATE SKIP LOCKED for queue tables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836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C44B2F"/>
          </a:solidFill>
          <a:ln w="12700">
            <a:solidFill>
              <a:srgbClr val="C44B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58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548640"/>
            <a:ext cx="10317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alignment (continued)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S4, S8 (appendix)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3883045"/>
                <a:gridCol w="3883045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record shows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replica later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 standby, read-only and eventually consistent, replicas with a lag metric on the hosting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836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C44B2F"/>
          </a:solidFill>
          <a:ln w="12700">
            <a:solidFill>
              <a:srgbClr val="C44B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58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548640"/>
            <a:ext cx="10317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the public record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S5, S6 (appendix)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65960"/>
            <a:ext cx="4462653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at rest, certifications, and running cost belong to the hosting</a:t>
            </a:r>
            <a:endParaRPr lang="en-US" sz="1800" dirty="0"/>
          </a:p>
          <a:p>
            <a:pPr marL="228600" indent="-2286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Cross-server sharding is not native; raw CSV rows fit the core JSONB type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285613" y="26289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B6BA8"/>
          </a:solidFill>
          <a:ln w="12700">
            <a:solidFill>
              <a:srgbClr val="3B6BA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6197" y="272948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017133" y="2446020"/>
            <a:ext cx="5625922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rest, certifications, cost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017133" y="2906878"/>
            <a:ext cx="562592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hosting's alone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285613" y="35890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B6BA8"/>
          </a:solidFill>
          <a:ln w="12700">
            <a:solidFill>
              <a:srgbClr val="3B6BA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197" y="368960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17133" y="3406140"/>
            <a:ext cx="5625922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native cross-server sharding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017133" y="3866998"/>
            <a:ext cx="562592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partitioning within one server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285613" y="454914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B6BA8"/>
          </a:solidFill>
          <a:ln w="12700">
            <a:solidFill>
              <a:srgbClr val="3B6BA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197" y="464972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017133" y="4366260"/>
            <a:ext cx="5625922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rows in JSONB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017133" y="4827118"/>
            <a:ext cx="562592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second store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836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C44B2F"/>
          </a:solidFill>
          <a:ln w="12700">
            <a:solidFill>
              <a:srgbClr val="C44B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58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548640"/>
            <a:ext cx="10317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S7 (appendix)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1553218"/>
                <a:gridCol w="1553218"/>
                <a:gridCol w="1553218"/>
                <a:gridCol w="1553218"/>
                <a:gridCol w="1553218"/>
              </a:tblGrid>
              <a:tr h="597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Atomic commit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scope to the column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 at rest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Point-in-time recovery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replica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 via hosting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 via hosting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 8.4 Community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InnoDB adheres to the ACID 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Unmet, no native row-level security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researched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researched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researched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database (MongoDB)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Multi-document transactions since 4.0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researched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researched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researched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researched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RDS for PostgreSQL 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Inherits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Inherits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AES-256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Logs every 5 minutes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Read-only replicas with a lag 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836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C44B2F"/>
          </a:solidFill>
          <a:ln w="12700">
            <a:solidFill>
              <a:srgbClr val="C44B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58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548640"/>
            <a:ext cx="10317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S9 (appendix)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3883045"/>
                <a:gridCol w="3883045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question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the answer comes from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a point-in-time restore complete within the four-hour recovery-time target?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record carries the recovery point and no restore duration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quarterly restore drill before paid launch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replica lag would a reporting replica see during an import burst, should reporting load grow?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Decides whether firm-level reports can leave the primary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decision's review trigger, then a planned test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per-firm isolation moves into row security, does throughput hold behind the API's connection pool?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Decides whether isolation lives in the database or the application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planned test, only if row security is adopted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6354897"/>
                <a:gridCol w="423659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 or figure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Governing artifact and section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 and Summary: PostgreSQL 16, the system-of-record role, the accepted decision this informs; 33 sources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component-profile-postgresql#scope, component-profile-postgresql#summary, component-profile-postgresql#sources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and Required Capabilities: the goals and the seven capabilities with their origins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component-profile-postgresql#need, component-profile-postgresql#required-capabilities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Is: object-relational, ACID-compliant since 2001, community governed, 55.6% of 2025 survey respondents, one major a year, five years of support, 16 until 2028, no-fee licence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component-profile-postgresql#what-it-is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 Alignment: transactions and constraints; triggers with current_user and now(); column privileges and row security since 9.5 (superusers always bypass, owners unless forced, SET LOCAL); TLS, AES-256 via hosting; archiving, logs every 5 minutes; SKIP LOCKED; hot standby; Met on all seven; verdict 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component-profile-postgresql#capability-alignment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capabilities: JSONB in core; no cross-server sharding; logical replication since 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component-profile-postgresql#capability-alignment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(continued)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6354897"/>
                <a:gridCol w="423659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 or figure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Governing artifact and section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A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and pricing: certifications and running cost not published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component-profile-postgresql#technology-and-operations, component-profile-postgresql#pricing-and-licensing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Competitive Landscape: MySQL 8.4 (InnoDB ACID, no native row-level security, GPL); MongoDB (transactions since 4.0); Amazon RDS for PostgreSQL 16 (PostgreSQL 13 to 17, AES-256, logs every 5 minutes, replicas with a lag metric, Multi-AZ standby)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component-profile-postgresql#competitive-landscape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Confidence: Medium; design-defining claims rest on the maker alone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component-profile-postgresql#confidence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560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Questions: restore within the 4-hour target, replica lag under an import burst, row-security throughput behind the pool; drill, review trigger, 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component-profile-postgresql#open-questions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PostgreSQL as DepositMatch's system of record</dc:title>
  <dc:subject>PptxGenJS Presentation</dc:subject>
  <dc:creator>HELIX</dc:creator>
  <cp:lastModifiedBy>HELIX</cp:lastModifiedBy>
  <cp:revision>1</cp:revision>
  <dcterms:created xsi:type="dcterms:W3CDTF">2026-09-22T17:47:53Z</dcterms:created>
  <dcterms:modified xsi:type="dcterms:W3CDTF">2026-09-22T17:47:53Z</dcterms:modified>
</cp:coreProperties>
</file>