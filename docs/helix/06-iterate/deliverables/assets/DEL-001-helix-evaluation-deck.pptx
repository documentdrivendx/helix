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takeaway sentence. Say that the ask is one pilot project for one quarter and that it comes on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situation. Agents are ready; teams improvise the methodology around them. Do not argue the premise; most leaders in this audience live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failure modes the requirements document names. Each one shows up late, in review or in production, which is why the cost is 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target-market table in the vision. The left column is what the audience recognizes; the right column is the claim the rest of the deck has to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double helix is the product's own metaphor. The point for this audience is the last bullet: adoption is incremental and reversible.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four-step contract the requirements document commits to. Walk the OAuth example from the vision: the alignment pass finds the three affected specs, the conflicting decision, and the missing stories, ordered by authority, before anyone writes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fifth item, methodology not platform, is already on slide 5; leave it in the table and do not repeat it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targets, not results; say so. The first one is the bar for judging a pilot, which sets up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non-goals from the requirements document. This slide answers the objection every platform team raises, so give it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 after the ask. If asked about cost, the answer is that the pilot needs one champion and no new tooling.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presented.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EEF2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agents can ship with the discipline your best teams already use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0690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evaluation briefing for engineering leaders whose teams build with AI agents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HELIX  |  September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509760" y="1280160"/>
            <a:ext cx="2011680" cy="4297680"/>
          </a:xfrm>
          <a:prstGeom prst="ellipse">
            <a:avLst/>
          </a:prstGeom>
          <a:solidFill>
            <a:srgbClr val="14181F"/>
          </a:solidFill>
          <a:ln w="38100">
            <a:solidFill>
              <a:srgbClr val="6B9F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0" y="1280160"/>
            <a:ext cx="2011680" cy="4297680"/>
          </a:xfrm>
          <a:prstGeom prst="ellipse">
            <a:avLst/>
          </a:prstGeom>
          <a:solidFill>
            <a:srgbClr val="14181F"/>
          </a:solidFill>
          <a:ln w="38100">
            <a:solidFill>
              <a:srgbClr val="E07A5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AI-assisted development is now the default, and the practice behind it is not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professional developers ship AI-touched code every day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is locally good and globally inconsistent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disciplines human teams built over decades never reached the agents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era will have its equivalent of test-driven development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35040" y="2011680"/>
            <a:ext cx="5577840" cy="3931920"/>
          </a:xfrm>
          <a:prstGeom prst="roundRect">
            <a:avLst>
              <a:gd name="adj" fmla="val 2791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29260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D6DCE4"/>
          </a:solidFill>
          <a:ln w="12700">
            <a:solidFill>
              <a:srgbClr val="D6DC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0" y="29260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3B6BA8"/>
          </a:solidFill>
          <a:ln w="12700">
            <a:solidFill>
              <a:srgbClr val="3B6B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778240" y="2926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practice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12680" y="3657600"/>
            <a:ext cx="0" cy="640080"/>
          </a:xfrm>
          <a:prstGeom prst="line">
            <a:avLst/>
          </a:prstGeom>
          <a:noFill/>
          <a:ln w="25400">
            <a:solidFill>
              <a:srgbClr val="C44B2F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9875520" y="4297680"/>
            <a:ext cx="274320" cy="2743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44B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methodology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5303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AI-assisted development moved from novelty to default, and the gap it left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product vision, Why now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failures repeat on every AI-assisted team: drift, local decisions, lost context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Specs, designs, and tests fall out of sync because nobody walks them between sessions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feature ships whose design contradicts a decision recorded months earlier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new conversation re-improvises the workflow, so reviews that should happen do not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60720" y="2011680"/>
            <a:ext cx="1828800" cy="39319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2834640"/>
            <a:ext cx="914400" cy="914400"/>
          </a:xfrm>
          <a:prstGeom prst="ellipse">
            <a:avLst/>
          </a:prstGeom>
          <a:solidFill>
            <a:srgbClr val="3B6BA8"/>
          </a:solidFill>
          <a:ln w="12700">
            <a:solidFill>
              <a:srgbClr val="3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3931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4434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and code diverge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0" y="2011680"/>
            <a:ext cx="1828800" cy="39319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2834640"/>
            <a:ext cx="914400" cy="914400"/>
          </a:xfrm>
          <a:prstGeom prst="ellipse">
            <a:avLst/>
          </a:prstGeom>
          <a:solidFill>
            <a:srgbClr val="6842A8"/>
          </a:solidFill>
          <a:ln w="12700">
            <a:solidFill>
              <a:srgbClr val="6842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3931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decisions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909560" y="4434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contradicts an earlier decision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84080" y="2011680"/>
            <a:ext cx="1828800" cy="39319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0" y="2834640"/>
            <a:ext cx="914400" cy="91440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0" y="2834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921240" y="3931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context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921240" y="44348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session starts over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requirements, Problem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Teams switch when every change traces back to a governing document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5606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hoc prompting, manual document upkeep, and hoping for the best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976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 surfaces in review or in production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B6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HELIX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537960" y="2971800"/>
            <a:ext cx="365760" cy="365760"/>
          </a:xfrm>
          <a:prstGeom prst="ellipse">
            <a:avLst/>
          </a:prstGeom>
          <a:solidFill>
            <a:srgbClr val="3B6BA8"/>
          </a:solidFill>
          <a:ln w="12700">
            <a:solidFill>
              <a:srgbClr val="3B6B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9260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and people share one methodology; every change traces to a governing document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4343400"/>
            <a:ext cx="365760" cy="365760"/>
          </a:xfrm>
          <a:prstGeom prst="ellipse">
            <a:avLst/>
          </a:prstGeom>
          <a:solidFill>
            <a:srgbClr val="3B6BA8"/>
          </a:solidFill>
          <a:ln w="12700">
            <a:solidFill>
              <a:srgbClr val="3B6B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2976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alignment pass catches drift early, before it accumulates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product vision, Target market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HELIX is a methodology you adopt, not a platform you join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catalog of document templates, from product intent through deployment and feedback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skill that keeps those documents aligned as the work moves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that runs on any agent runtime that reads and writes markdown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lock-in: adopt one document type at a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92024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0" y="2377440"/>
            <a:ext cx="914400" cy="3017520"/>
          </a:xfrm>
          <a:prstGeom prst="roundRect">
            <a:avLst>
              <a:gd name="adj" fmla="val 50000"/>
            </a:avLst>
          </a:prstGeom>
          <a:solidFill>
            <a:srgbClr val="3B6BA8"/>
          </a:solidFill>
          <a:ln w="12700">
            <a:solidFill>
              <a:srgbClr val="3B6B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0" y="2377440"/>
            <a:ext cx="914400" cy="3017520"/>
          </a:xfrm>
          <a:prstGeom prst="roundRect">
            <a:avLst>
              <a:gd name="adj" fmla="val 50000"/>
            </a:avLst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0" y="3200400"/>
            <a:ext cx="2286000" cy="0"/>
          </a:xfrm>
          <a:prstGeom prst="line">
            <a:avLst/>
          </a:prstGeom>
          <a:noFill/>
          <a:ln w="31750">
            <a:solidFill>
              <a:srgbClr val="6842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4114800"/>
            <a:ext cx="2286000" cy="0"/>
          </a:xfrm>
          <a:prstGeom prst="line">
            <a:avLst/>
          </a:prstGeom>
          <a:noFill/>
          <a:ln w="31750">
            <a:solidFill>
              <a:srgbClr val="6842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0" y="5029200"/>
            <a:ext cx="2286000" cy="0"/>
          </a:xfrm>
          <a:prstGeom prst="line">
            <a:avLst/>
          </a:prstGeom>
          <a:noFill/>
          <a:ln w="31750">
            <a:solidFill>
              <a:srgbClr val="6842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0" y="3749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84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5486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6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0" y="5486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4B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runtime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intent, design, tests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runs, evidence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product vision, Mission and Positioning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brief, check alignment, plan the work, run it in your own factory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43200" cy="1463040"/>
          </a:xfrm>
          <a:prstGeom prst="chevron">
            <a:avLst/>
          </a:prstGeom>
          <a:solidFill>
            <a:srgbClr val="3B6BA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9260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brief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intent, requirements, constraints, decisions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2743200"/>
            <a:ext cx="2743200" cy="1463040"/>
          </a:xfrm>
          <a:prstGeom prst="chevron">
            <a:avLst/>
          </a:prstGeom>
          <a:solidFill>
            <a:srgbClr val="C44B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29260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alignment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drift, contradictions, stale assumptions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2743200"/>
            <a:ext cx="2743200" cy="1463040"/>
          </a:xfrm>
          <a:prstGeom prst="chevron">
            <a:avLst/>
          </a:prstGeom>
          <a:solidFill>
            <a:srgbClr val="3B6BA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9260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the work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items with scope and evidence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15400" y="2743200"/>
            <a:ext cx="2743200" cy="1463040"/>
          </a:xfrm>
          <a:prstGeom prst="chevron">
            <a:avLst/>
          </a:prstGeom>
          <a:solidFill>
            <a:srgbClr val="3B6BA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0" y="29260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your factory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runtime executes, measures, reports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09160" y="5029200"/>
            <a:ext cx="0" cy="457200"/>
          </a:xfrm>
          <a:prstGeom prst="line">
            <a:avLst/>
          </a:prstGeom>
          <a:noFill/>
          <a:ln w="25400">
            <a:solidFill>
              <a:srgbClr val="C44B2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2423160" y="5532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4B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step nobody does by hand today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requirements, Core workflow contract; product vision, User experience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things change once the catalog and the alignment skill are in place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B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changes for your team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6BA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Authority-ranked catalog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document has a clear governing relationship; changes propagate predictably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alignment skill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Drift is caught early without walking the document tree by hand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Portable content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on any runtime that reads markdown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Document-driven reviews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Audits work on documents, not chat transcripts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Methodology, not platform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 incrementally; no vendor lock-in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product vision, Key value propositions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than 3 alignment findings per run is the health bar we hold ourselves 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6517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B6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3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per alignment run on a healthy document set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303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51960" y="201168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26517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6842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4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42062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runtimes documented within 12 months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5303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0" y="201168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9525">
            <a:solidFill>
              <a:srgbClr val="D6DC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26517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44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50+</a:t>
            </a:r>
            <a:endParaRPr lang="en-US" sz="6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2062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repositories using the catalog within 18 months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5303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product vision, Success definition; requirements, Success metrics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C44B2F"/>
          </a:solidFill>
          <a:ln w="12700">
            <a:solidFill>
              <a:srgbClr val="C44B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HELIX takes no runtime, no tracker, and no technology choice away from you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command-line tool, tracker, queue, or execution engine ships with it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technology choices imposed; your stack stays yours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replacement for product, design, or architectural judgment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an agent does without asking is a dial you set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920240"/>
            <a:ext cx="5394960" cy="3931920"/>
          </a:xfrm>
          <a:prstGeom prst="roundRect">
            <a:avLst>
              <a:gd name="adj" fmla="val 3488"/>
            </a:avLst>
          </a:prstGeom>
          <a:solidFill>
            <a:srgbClr val="F3F5F8"/>
          </a:solidFill>
          <a:ln w="12700">
            <a:solidFill>
              <a:srgbClr val="D6DC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runtime and tools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514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tracker  •  queue  •  CI  •  stack  •  judgment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0" y="329184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3B6BA8"/>
          </a:solidFill>
          <a:ln w="12700">
            <a:solidFill>
              <a:srgbClr val="3B6B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0" y="3474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HELIX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977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+ one skill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241280" y="4023360"/>
            <a:ext cx="1005840" cy="0"/>
          </a:xfrm>
          <a:prstGeom prst="line">
            <a:avLst/>
          </a:prstGeom>
          <a:noFill/>
          <a:ln w="25400">
            <a:solidFill>
              <a:srgbClr val="C44B2F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4023360"/>
            <a:ext cx="1005840" cy="0"/>
          </a:xfrm>
          <a:prstGeom prst="line">
            <a:avLst/>
          </a:prstGeom>
          <a:noFill/>
          <a:ln w="25400">
            <a:solidFill>
              <a:srgbClr val="C44B2F"/>
            </a:solidFill>
            <a:prstDash val="solid"/>
            <a:headEnd type="triangle"/>
            <a:tailEnd type="none"/>
          </a:ln>
        </p:spPr>
      </p:sp>
      <p:sp>
        <p:nvSpPr>
          <p:cNvPr id="14" name="Text 12"/>
          <p:cNvSpPr txBox="1"/>
          <p:nvPr/>
        </p:nvSpPr>
        <p:spPr>
          <a:xfrm>
            <a:off x="6492240" y="5074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and writes your documents; asks before anything irreversible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requirements, Non-goals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02920" cy="50292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EF2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HELIX on one project this quarter and measure the drift it catches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4415" cy="822960"/>
          </a:xfrm>
          <a:prstGeom prst="roundRect">
            <a:avLst>
              <a:gd name="adj" fmla="val 13333"/>
            </a:avLst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ask: one active project, one quarter, one alignment pass per sprint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971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2971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2971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411480" cy="41148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83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E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active project with an agent already in the loop, by the end of this week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863840" y="3840480"/>
            <a:ext cx="1828800" cy="0"/>
          </a:xfrm>
          <a:prstGeom prst="line">
            <a:avLst/>
          </a:prstGeom>
          <a:noFill/>
          <a:ln w="9525">
            <a:solidFill>
              <a:srgbClr val="B9C2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66960" y="3840480"/>
            <a:ext cx="1645920" cy="0"/>
          </a:xfrm>
          <a:prstGeom prst="line">
            <a:avLst/>
          </a:prstGeom>
          <a:noFill/>
          <a:ln w="9525">
            <a:solidFill>
              <a:srgbClr val="B9C2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206240"/>
            <a:ext cx="411480" cy="41148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60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E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catalog and run an alignment pass on its documents in the first sprint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863840" y="4617720"/>
            <a:ext cx="1828800" cy="0"/>
          </a:xfrm>
          <a:prstGeom prst="line">
            <a:avLst/>
          </a:prstGeom>
          <a:noFill/>
          <a:ln w="9525">
            <a:solidFill>
              <a:srgbClr val="B9C2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66960" y="4617720"/>
            <a:ext cx="1645920" cy="0"/>
          </a:xfrm>
          <a:prstGeom prst="line">
            <a:avLst/>
          </a:prstGeom>
          <a:noFill/>
          <a:ln w="9525">
            <a:solidFill>
              <a:srgbClr val="B9C2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983480"/>
            <a:ext cx="411480" cy="41148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83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9377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E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findings together after four weeks and decide whether to widen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863840" y="5394960"/>
            <a:ext cx="1828800" cy="0"/>
          </a:xfrm>
          <a:prstGeom prst="line">
            <a:avLst/>
          </a:prstGeom>
          <a:noFill/>
          <a:ln w="9525">
            <a:solidFill>
              <a:srgbClr val="B9C2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66960" y="5394960"/>
            <a:ext cx="1645920" cy="0"/>
          </a:xfrm>
          <a:prstGeom prst="line">
            <a:avLst/>
          </a:prstGeom>
          <a:noFill/>
          <a:ln w="9525">
            <a:solidFill>
              <a:srgbClr val="B9C2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pilot the practice stays improvised and drift keeps surfacing late.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2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requirements, Core workflow contract; product vision, Success definition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852160"/>
                <a:gridCol w="45994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Methodology and artifact catalog; the double helix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vision, Mission statement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practice; locally good, globally inconsistent; the TDD-equivalent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vision, Why now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failure modes: drift, inconsistent agent behavior, lossy session boundaries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requirements, 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solution and why teams switch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vision, Target market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methodology you adopt; runs on any markdown runtime; no lock-in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vision, Positioning; Key value propositions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Four-step workflow contract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requirements, Core workflow contract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OAuth example: what the alignment pass finds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vision, User experience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value propositions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vision, Key value propositions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Targets: &lt; 3 findings per run; 3 runtimes in 12 months; 50+ repos in 18 months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vision, Success definition; requirements, Success metrics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06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Non-goals: no CLI, tracker, queue, or engine; no imposed technology; judgment stays human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requirements, Non-goals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agents can ship with the discipline your best teams already use</dc:title>
  <dc:subject>PptxGenJS Presentation</dc:subject>
  <dc:creator>HELIX</dc:creator>
  <cp:lastModifiedBy>HELIX</cp:lastModifiedBy>
  <cp:revision>1</cp:revision>
  <dcterms:created xsi:type="dcterms:W3CDTF">2026-09-11T03:36:01Z</dcterms:created>
  <dcterms:modified xsi:type="dcterms:W3CDTF">2026-09-11T03:36:01Z</dcterms:modified>
</cp:coreProperties>
</file>