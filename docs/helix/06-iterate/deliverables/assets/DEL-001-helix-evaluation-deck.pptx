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takeaway once, then say the ask comes on the last slide and is one project for one quarter. Do not explain HELIX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change; do not argue it. This audience lives it. The missing third milestone is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 modes the requirements document names. Each shows up late, in review or in production, which is why the cost is high. Ask which one the audience saw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HELIX is a method you adopt, not a platform you join. Each template carries an authoring prompt and quality criteria, and the templates rank: vision governs requirements, requirements govern designs, designs govern tests and code. Every one of the 53 is optional; teams adopt one type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never invokes a HELIX command, because there is none. They invoke their agent, and the agent invokes the skill. The four panels are the modes this audience will use first; the rest are in the appendix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not a filing order. An agent may act only within what the layer above authorizes. On one OAuth change the vision's worked example starts with the security architecture, then the specs, then the stories, and no code moves until then; slide 9 shows the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 concerns in the library, each with practices keyed to the activity they apply in. Exclusive slots (one frontend framework, one runtime, one auth provider) are why two agents cannot make two different choices. The artifact-honesty rule closes the loop: a claim without evidence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is not only for engineers. A client cut of a status report may subset the internal one but never contradict it. Say that this deck is the worked example: its script, its sources, and its inspection record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worked example in the product vision, not a customer result. The order matters: the plan starts with the security architecture revision, then the specs, then the stories. The bar the product sets for itself, under 3 findings per check on a healthy project, is a target and belongs to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strands of the helix share one loop with different jobs. Low autonomy asks before each step, medium pauses on ambiguity, high records assumptions and proceeds, and a hard floor of stop triggers holds at every level. Nothing here needs a new tool: no command-line tool, tracker, queue, or execution engine ships with HELIX, and it installs on six hosts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after the ask. The bar is a target the product sets for itself, not a result; say so. If asked about cost, the trial needs one champion and no new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548640" y="1371600"/>
            <a:ext cx="7304837" cy="2286000"/>
          </a:xfrm>
          <a:prstGeom prst="rect">
            <a:avLst/>
          </a:prstGeom>
          <a:noFill/>
          <a:ln/>
        </p:spPr>
        <p:txBody>
          <a:bodyPr wrap="square" lIns="0" tIns="0" rIns="0" bIns="0" rtlCol="0" anchor="b">
            <a:normAutofit/>
          </a:bodyPr>
          <a:lstStyle/>
          <a:p>
            <a:pPr algn="l" indent="0" marL="0">
              <a:buNone/>
            </a:pPr>
            <a:r>
              <a:rPr lang="en-US" sz="3600" b="1" dirty="0">
                <a:solidFill>
                  <a:srgbClr val="EEF2F7"/>
                </a:solidFill>
                <a:latin typeface="Georgia" pitchFamily="34" charset="0"/>
                <a:ea typeface="Georgia" pitchFamily="34" charset="-122"/>
                <a:cs typeface="Georgia" pitchFamily="34" charset="-120"/>
              </a:rPr>
              <a:t>One document discipline governs agent work from intent to release</a:t>
            </a:r>
            <a:endParaRPr lang="en-US" sz="3600" dirty="0"/>
          </a:p>
        </p:txBody>
      </p:sp>
      <p:sp>
        <p:nvSpPr>
          <p:cNvPr id="3" name="Text 1"/>
          <p:cNvSpPr txBox="1"/>
          <p:nvPr/>
        </p:nvSpPr>
        <p:spPr>
          <a:xfrm>
            <a:off x="548640" y="3840480"/>
            <a:ext cx="7304837" cy="914400"/>
          </a:xfrm>
          <a:prstGeom prst="rect">
            <a:avLst/>
          </a:prstGeom>
          <a:noFill/>
          <a:ln/>
        </p:spPr>
        <p:txBody>
          <a:bodyPr wrap="square" lIns="0" tIns="0" rIns="0" bIns="0" rtlCol="0" anchor="t">
            <a:normAutofit/>
          </a:bodyPr>
          <a:lstStyle/>
          <a:p>
            <a:pPr algn="l" indent="0" marL="0">
              <a:buNone/>
            </a:pPr>
            <a:r>
              <a:rPr lang="en-US" sz="2000" dirty="0">
                <a:solidFill>
                  <a:srgbClr val="B9C2CF"/>
                </a:solidFill>
                <a:latin typeface="Arial" pitchFamily="34" charset="0"/>
                <a:ea typeface="Arial" pitchFamily="34" charset="-122"/>
                <a:cs typeface="Arial" pitchFamily="34" charset="-120"/>
              </a:rPr>
              <a:t>An evaluation briefing for engineering leaders whose teams build with AI agents</a:t>
            </a:r>
            <a:endParaRPr lang="en-US" sz="2000" dirty="0"/>
          </a:p>
        </p:txBody>
      </p:sp>
      <p:sp>
        <p:nvSpPr>
          <p:cNvPr id="4" name="Text 2"/>
          <p:cNvSpPr txBox="1"/>
          <p:nvPr/>
        </p:nvSpPr>
        <p:spPr>
          <a:xfrm>
            <a:off x="548640" y="5669280"/>
            <a:ext cx="5486400" cy="320040"/>
          </a:xfrm>
          <a:prstGeom prst="rect">
            <a:avLst/>
          </a:prstGeom>
          <a:noFill/>
          <a:ln/>
        </p:spPr>
        <p:txBody>
          <a:bodyPr wrap="square" lIns="0" tIns="0" rIns="0" bIns="0" rtlCol="0" anchor="b">
            <a:normAutofit/>
          </a:bodyPr>
          <a:lstStyle/>
          <a:p>
            <a:pPr algn="l" indent="0" marL="0">
              <a:buNone/>
            </a:pPr>
            <a:r>
              <a:rPr lang="en-US" sz="1200" dirty="0">
                <a:solidFill>
                  <a:srgbClr val="B9C2CF"/>
                </a:solidFill>
                <a:latin typeface="Arial" pitchFamily="34" charset="0"/>
                <a:ea typeface="Arial" pitchFamily="34" charset="-122"/>
                <a:cs typeface="Arial" pitchFamily="34" charset="-120"/>
              </a:rPr>
              <a:t>September 2026</a:t>
            </a:r>
            <a:endParaRPr lang="en-US" sz="1200" dirty="0"/>
          </a:p>
        </p:txBody>
      </p:sp>
      <p:sp>
        <p:nvSpPr>
          <p:cNvPr id="5" name="Shape 3"/>
          <p:cNvSpPr/>
          <p:nvPr/>
        </p:nvSpPr>
        <p:spPr>
          <a:xfrm>
            <a:off x="8716975" y="1965960"/>
            <a:ext cx="2926080" cy="2926080"/>
          </a:xfrm>
          <a:prstGeom prst="ellipse">
            <a:avLst/>
          </a:prstGeom>
          <a:solidFill>
            <a:srgbClr val="14181F"/>
          </a:solidFill>
          <a:ln w="50800">
            <a:solidFill>
              <a:srgbClr val="E07A5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Agents now write most production code without a shared practice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S2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2</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Most professional developers ship agent-written code every day</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output is locally good and globally inconsistent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document disciplines human teams built never reached the agents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Every practice era gets its equivalent of test-driven development</a:t>
            </a:r>
            <a:endParaRPr lang="en-US" sz="1800" dirty="0"/>
          </a:p>
        </p:txBody>
      </p:sp>
      <p:sp>
        <p:nvSpPr>
          <p:cNvPr id="9" name="Shape 6"/>
          <p:cNvSpPr/>
          <p:nvPr/>
        </p:nvSpPr>
        <p:spPr>
          <a:xfrm>
            <a:off x="5834253" y="3502152"/>
            <a:ext cx="5260162" cy="0"/>
          </a:xfrm>
          <a:prstGeom prst="line">
            <a:avLst/>
          </a:prstGeom>
          <a:noFill/>
          <a:ln w="38100">
            <a:solidFill>
              <a:srgbClr val="D6DCE4"/>
            </a:solidFill>
            <a:prstDash val="solid"/>
            <a:headEnd type="none"/>
            <a:tailEnd type="none"/>
          </a:ln>
        </p:spPr>
      </p:sp>
      <p:sp>
        <p:nvSpPr>
          <p:cNvPr id="10" name="Shape 7"/>
          <p:cNvSpPr/>
          <p:nvPr/>
        </p:nvSpPr>
        <p:spPr>
          <a:xfrm>
            <a:off x="5697093" y="3364992"/>
            <a:ext cx="274320" cy="274320"/>
          </a:xfrm>
          <a:prstGeom prst="ellipse">
            <a:avLst/>
          </a:prstGeom>
          <a:solidFill>
            <a:srgbClr val="3B6BA8"/>
          </a:solidFill>
          <a:ln w="12700">
            <a:solidFill>
              <a:srgbClr val="3B6BA8"/>
            </a:solidFill>
            <a:prstDash val="solid"/>
          </a:ln>
        </p:spPr>
      </p:sp>
      <p:sp>
        <p:nvSpPr>
          <p:cNvPr id="11" name="Text 8"/>
          <p:cNvSpPr txBox="1"/>
          <p:nvPr/>
        </p:nvSpPr>
        <p:spPr>
          <a:xfrm>
            <a:off x="5285613" y="2633472"/>
            <a:ext cx="2538641" cy="640080"/>
          </a:xfrm>
          <a:prstGeom prst="rect">
            <a:avLst/>
          </a:prstGeom>
          <a:noFill/>
          <a:ln/>
        </p:spPr>
        <p:txBody>
          <a:bodyPr wrap="square" lIns="0" tIns="0" rIns="0" bIns="0" rtlCol="0" anchor="b">
            <a:normAutofit/>
          </a:bodyPr>
          <a:lstStyle/>
          <a:p>
            <a:pPr algn="ctr" indent="0" marL="0">
              <a:buNone/>
            </a:pPr>
            <a:r>
              <a:rPr lang="en-US" sz="1400" dirty="0">
                <a:solidFill>
                  <a:srgbClr val="1F2933"/>
                </a:solidFill>
                <a:latin typeface="Arial" pitchFamily="34" charset="0"/>
                <a:ea typeface="Arial" pitchFamily="34" charset="-122"/>
                <a:cs typeface="Arial" pitchFamily="34" charset="-120"/>
              </a:rPr>
              <a:t>agents as novelty</a:t>
            </a:r>
            <a:endParaRPr lang="en-US" sz="1400" dirty="0"/>
          </a:p>
        </p:txBody>
      </p:sp>
      <p:sp>
        <p:nvSpPr>
          <p:cNvPr id="12" name="Shape 9"/>
          <p:cNvSpPr/>
          <p:nvPr/>
        </p:nvSpPr>
        <p:spPr>
          <a:xfrm>
            <a:off x="8327174" y="3364992"/>
            <a:ext cx="274320" cy="274320"/>
          </a:xfrm>
          <a:prstGeom prst="ellipse">
            <a:avLst/>
          </a:prstGeom>
          <a:solidFill>
            <a:srgbClr val="C44B2F"/>
          </a:solidFill>
          <a:ln w="12700">
            <a:solidFill>
              <a:srgbClr val="C44B2F"/>
            </a:solidFill>
            <a:prstDash val="solid"/>
          </a:ln>
        </p:spPr>
      </p:sp>
      <p:sp>
        <p:nvSpPr>
          <p:cNvPr id="13" name="Text 10"/>
          <p:cNvSpPr txBox="1"/>
          <p:nvPr/>
        </p:nvSpPr>
        <p:spPr>
          <a:xfrm>
            <a:off x="7195014" y="3730752"/>
            <a:ext cx="2538641" cy="640080"/>
          </a:xfrm>
          <a:prstGeom prst="rect">
            <a:avLst/>
          </a:prstGeom>
          <a:noFill/>
          <a:ln/>
        </p:spPr>
        <p:txBody>
          <a:bodyPr wrap="square" lIns="0" tIns="0" rIns="0" bIns="0" rtlCol="0" anchor="t">
            <a:normAutofit/>
          </a:bodyPr>
          <a:lstStyle/>
          <a:p>
            <a:pPr algn="ctr" indent="0" marL="0">
              <a:buNone/>
            </a:pPr>
            <a:r>
              <a:rPr lang="en-US" sz="1400" b="1" dirty="0">
                <a:solidFill>
                  <a:srgbClr val="C44B2F"/>
                </a:solidFill>
                <a:latin typeface="Arial" pitchFamily="34" charset="0"/>
                <a:ea typeface="Arial" pitchFamily="34" charset="-122"/>
                <a:cs typeface="Arial" pitchFamily="34" charset="-120"/>
              </a:rPr>
              <a:t>agents as default practice</a:t>
            </a:r>
            <a:endParaRPr lang="en-US" sz="1400" dirty="0"/>
          </a:p>
        </p:txBody>
      </p:sp>
      <p:sp>
        <p:nvSpPr>
          <p:cNvPr id="14" name="Shape 11"/>
          <p:cNvSpPr/>
          <p:nvPr/>
        </p:nvSpPr>
        <p:spPr>
          <a:xfrm>
            <a:off x="8464334" y="4370832"/>
            <a:ext cx="0" cy="274320"/>
          </a:xfrm>
          <a:prstGeom prst="line">
            <a:avLst/>
          </a:prstGeom>
          <a:noFill/>
          <a:ln w="25400">
            <a:solidFill>
              <a:srgbClr val="C44B2F"/>
            </a:solidFill>
            <a:prstDash val="dash"/>
            <a:headEnd type="none"/>
            <a:tailEnd type="none"/>
          </a:ln>
        </p:spPr>
      </p:sp>
      <p:sp>
        <p:nvSpPr>
          <p:cNvPr id="15" name="Text 12"/>
          <p:cNvSpPr txBox="1"/>
          <p:nvPr/>
        </p:nvSpPr>
        <p:spPr>
          <a:xfrm>
            <a:off x="6829254" y="4690872"/>
            <a:ext cx="3270161" cy="457200"/>
          </a:xfrm>
          <a:prstGeom prst="rect">
            <a:avLst/>
          </a:prstGeom>
          <a:noFill/>
          <a:ln/>
        </p:spPr>
        <p:txBody>
          <a:bodyPr wrap="square" lIns="0" tIns="0" rIns="0" bIns="0" rtlCol="0" anchor="t">
            <a:normAutofit/>
          </a:bodyPr>
          <a:lstStyle/>
          <a:p>
            <a:pPr algn="ctr" indent="0" marL="0">
              <a:buNone/>
            </a:pPr>
            <a:r>
              <a:rPr lang="en-US" sz="1300" b="1" dirty="0">
                <a:solidFill>
                  <a:srgbClr val="C44B2F"/>
                </a:solidFill>
                <a:latin typeface="Arial" pitchFamily="34" charset="0"/>
                <a:ea typeface="Arial" pitchFamily="34" charset="-122"/>
                <a:cs typeface="Arial" pitchFamily="34" charset="-120"/>
              </a:rPr>
              <a:t>no shared practice yet</a:t>
            </a:r>
            <a:endParaRPr lang="en-US" sz="1300" dirty="0"/>
          </a:p>
        </p:txBody>
      </p:sp>
      <p:sp>
        <p:nvSpPr>
          <p:cNvPr id="16" name="Shape 13"/>
          <p:cNvSpPr/>
          <p:nvPr/>
        </p:nvSpPr>
        <p:spPr>
          <a:xfrm>
            <a:off x="10957255" y="3364992"/>
            <a:ext cx="274320" cy="274320"/>
          </a:xfrm>
          <a:prstGeom prst="ellipse">
            <a:avLst/>
          </a:prstGeom>
          <a:solidFill>
            <a:srgbClr val="3B6BA8"/>
          </a:solidFill>
          <a:ln w="12700">
            <a:solidFill>
              <a:srgbClr val="3B6BA8"/>
            </a:solidFill>
            <a:prstDash val="solid"/>
          </a:ln>
        </p:spPr>
      </p:sp>
      <p:sp>
        <p:nvSpPr>
          <p:cNvPr id="17" name="Text 14"/>
          <p:cNvSpPr txBox="1"/>
          <p:nvPr/>
        </p:nvSpPr>
        <p:spPr>
          <a:xfrm>
            <a:off x="9104414" y="2633472"/>
            <a:ext cx="2538641" cy="640080"/>
          </a:xfrm>
          <a:prstGeom prst="rect">
            <a:avLst/>
          </a:prstGeom>
          <a:noFill/>
          <a:ln/>
        </p:spPr>
        <p:txBody>
          <a:bodyPr wrap="square" lIns="0" tIns="0" rIns="0" bIns="0" rtlCol="0" anchor="b">
            <a:normAutofit/>
          </a:bodyPr>
          <a:lstStyle/>
          <a:p>
            <a:pPr algn="ctr" indent="0" marL="0">
              <a:buNone/>
            </a:pPr>
            <a:r>
              <a:rPr lang="en-US" sz="1400" dirty="0">
                <a:solidFill>
                  <a:srgbClr val="1F2933"/>
                </a:solidFill>
                <a:latin typeface="Arial" pitchFamily="34" charset="0"/>
                <a:ea typeface="Arial" pitchFamily="34" charset="-122"/>
                <a:cs typeface="Arial" pitchFamily="34" charset="-120"/>
              </a:rPr>
              <a:t>a shared practice for agents</a:t>
            </a:r>
            <a:endParaRPr lang="en-US" sz="1400" dirty="0"/>
          </a:p>
        </p:txBody>
      </p:sp>
      <p:sp>
        <p:nvSpPr>
          <p:cNvPr id="18" name="Text 15"/>
          <p:cNvSpPr txBox="1"/>
          <p:nvPr/>
        </p:nvSpPr>
        <p:spPr>
          <a:xfrm>
            <a:off x="5468493" y="5303520"/>
            <a:ext cx="5991682" cy="457200"/>
          </a:xfrm>
          <a:prstGeom prst="rect">
            <a:avLst/>
          </a:prstGeom>
          <a:noFill/>
          <a:ln/>
        </p:spPr>
        <p:txBody>
          <a:bodyPr wrap="square" lIns="0" tIns="0" rIns="0" bIns="0" rtlCol="0" anchor="b">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how agent-written code became the default before any discipline caught up</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200" b="1" dirty="0">
                <a:solidFill>
                  <a:srgbClr val="1F2933"/>
                </a:solidFill>
                <a:latin typeface="Georgia" pitchFamily="34" charset="0"/>
                <a:ea typeface="Georgia" pitchFamily="34" charset="-122"/>
                <a:cs typeface="Georgia" pitchFamily="34" charset="-120"/>
              </a:rPr>
              <a:t>Without that practice, agent code drifts from its governing documents</a:t>
            </a:r>
            <a:endParaRPr lang="en-US" sz="32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S3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3</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Specs, designs, and tests fall out of sync because nobody walks them between sessions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feature ships whose design contradicts a decision recorded months earlier</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Each new conversation re-improvises the workflow, so reviews that should happen do not</a:t>
            </a:r>
            <a:endParaRPr lang="en-US" sz="1800" dirty="0"/>
          </a:p>
        </p:txBody>
      </p:sp>
      <p:sp>
        <p:nvSpPr>
          <p:cNvPr id="9" name="Shape 6"/>
          <p:cNvSpPr/>
          <p:nvPr/>
        </p:nvSpPr>
        <p:spPr>
          <a:xfrm>
            <a:off x="5285613" y="1965960"/>
            <a:ext cx="1936267" cy="3840480"/>
          </a:xfrm>
          <a:prstGeom prst="roundRect">
            <a:avLst>
              <a:gd name="adj" fmla="val 4722"/>
            </a:avLst>
          </a:prstGeom>
          <a:solidFill>
            <a:srgbClr val="F3F5F8"/>
          </a:solidFill>
          <a:ln w="9525">
            <a:solidFill>
              <a:srgbClr val="D6DCE4"/>
            </a:solidFill>
            <a:prstDash val="solid"/>
          </a:ln>
        </p:spPr>
      </p:sp>
      <p:sp>
        <p:nvSpPr>
          <p:cNvPr id="10" name="Shape 7"/>
          <p:cNvSpPr/>
          <p:nvPr/>
        </p:nvSpPr>
        <p:spPr>
          <a:xfrm>
            <a:off x="5818087" y="2423160"/>
            <a:ext cx="871320" cy="871320"/>
          </a:xfrm>
          <a:prstGeom prst="ellipse">
            <a:avLst/>
          </a:prstGeom>
          <a:solidFill>
            <a:srgbClr val="3B6BA8"/>
          </a:solidFill>
          <a:ln w="12700">
            <a:solidFill>
              <a:srgbClr val="3B6BA8"/>
            </a:solidFill>
            <a:prstDash val="solid"/>
          </a:ln>
        </p:spPr>
      </p:sp>
      <p:sp>
        <p:nvSpPr>
          <p:cNvPr id="11" name="Text 8"/>
          <p:cNvSpPr txBox="1"/>
          <p:nvPr/>
        </p:nvSpPr>
        <p:spPr>
          <a:xfrm>
            <a:off x="5818087"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2" name="Text 9"/>
          <p:cNvSpPr txBox="1"/>
          <p:nvPr/>
        </p:nvSpPr>
        <p:spPr>
          <a:xfrm>
            <a:off x="5358765"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Drift</a:t>
            </a:r>
            <a:endParaRPr lang="en-US" sz="1600" dirty="0"/>
          </a:p>
        </p:txBody>
      </p:sp>
      <p:sp>
        <p:nvSpPr>
          <p:cNvPr id="13" name="Text 10"/>
          <p:cNvSpPr txBox="1"/>
          <p:nvPr/>
        </p:nvSpPr>
        <p:spPr>
          <a:xfrm>
            <a:off x="5422773"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specs and code diverge between sessions</a:t>
            </a:r>
            <a:endParaRPr lang="en-US" sz="1300" dirty="0"/>
          </a:p>
        </p:txBody>
      </p:sp>
      <p:sp>
        <p:nvSpPr>
          <p:cNvPr id="14" name="Shape 11"/>
          <p:cNvSpPr/>
          <p:nvPr/>
        </p:nvSpPr>
        <p:spPr>
          <a:xfrm>
            <a:off x="7496200" y="1965960"/>
            <a:ext cx="1936267" cy="3840480"/>
          </a:xfrm>
          <a:prstGeom prst="roundRect">
            <a:avLst>
              <a:gd name="adj" fmla="val 4722"/>
            </a:avLst>
          </a:prstGeom>
          <a:solidFill>
            <a:srgbClr val="F3F5F8"/>
          </a:solidFill>
          <a:ln w="9525">
            <a:solidFill>
              <a:srgbClr val="D6DCE4"/>
            </a:solidFill>
            <a:prstDash val="solid"/>
          </a:ln>
        </p:spPr>
      </p:sp>
      <p:sp>
        <p:nvSpPr>
          <p:cNvPr id="15" name="Shape 12"/>
          <p:cNvSpPr/>
          <p:nvPr/>
        </p:nvSpPr>
        <p:spPr>
          <a:xfrm>
            <a:off x="8028674" y="2423160"/>
            <a:ext cx="871320" cy="871320"/>
          </a:xfrm>
          <a:prstGeom prst="ellipse">
            <a:avLst/>
          </a:prstGeom>
          <a:solidFill>
            <a:srgbClr val="6842A8"/>
          </a:solidFill>
          <a:ln w="12700">
            <a:solidFill>
              <a:srgbClr val="6842A8"/>
            </a:solidFill>
            <a:prstDash val="solid"/>
          </a:ln>
        </p:spPr>
      </p:sp>
      <p:sp>
        <p:nvSpPr>
          <p:cNvPr id="16" name="Text 13"/>
          <p:cNvSpPr txBox="1"/>
          <p:nvPr/>
        </p:nvSpPr>
        <p:spPr>
          <a:xfrm>
            <a:off x="8028674"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4"/>
          <p:cNvSpPr txBox="1"/>
          <p:nvPr/>
        </p:nvSpPr>
        <p:spPr>
          <a:xfrm>
            <a:off x="7569352"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Contradiction</a:t>
            </a:r>
            <a:endParaRPr lang="en-US" sz="1600" dirty="0"/>
          </a:p>
        </p:txBody>
      </p:sp>
      <p:sp>
        <p:nvSpPr>
          <p:cNvPr id="18" name="Text 15"/>
          <p:cNvSpPr txBox="1"/>
          <p:nvPr/>
        </p:nvSpPr>
        <p:spPr>
          <a:xfrm>
            <a:off x="7633360"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 design ignores an earlier decision</a:t>
            </a:r>
            <a:endParaRPr lang="en-US" sz="1300" dirty="0"/>
          </a:p>
        </p:txBody>
      </p:sp>
      <p:sp>
        <p:nvSpPr>
          <p:cNvPr id="19" name="Shape 16"/>
          <p:cNvSpPr/>
          <p:nvPr/>
        </p:nvSpPr>
        <p:spPr>
          <a:xfrm>
            <a:off x="9706788" y="1965960"/>
            <a:ext cx="1936267" cy="3840480"/>
          </a:xfrm>
          <a:prstGeom prst="roundRect">
            <a:avLst>
              <a:gd name="adj" fmla="val 4722"/>
            </a:avLst>
          </a:prstGeom>
          <a:solidFill>
            <a:srgbClr val="F3F5F8"/>
          </a:solidFill>
          <a:ln w="9525">
            <a:solidFill>
              <a:srgbClr val="D6DCE4"/>
            </a:solidFill>
            <a:prstDash val="solid"/>
          </a:ln>
        </p:spPr>
      </p:sp>
      <p:sp>
        <p:nvSpPr>
          <p:cNvPr id="20" name="Shape 17"/>
          <p:cNvSpPr/>
          <p:nvPr/>
        </p:nvSpPr>
        <p:spPr>
          <a:xfrm>
            <a:off x="10239261" y="2423160"/>
            <a:ext cx="871320" cy="871320"/>
          </a:xfrm>
          <a:prstGeom prst="ellipse">
            <a:avLst/>
          </a:prstGeom>
          <a:solidFill>
            <a:srgbClr val="C44B2F"/>
          </a:solidFill>
          <a:ln w="12700">
            <a:solidFill>
              <a:srgbClr val="C44B2F"/>
            </a:solidFill>
            <a:prstDash val="solid"/>
          </a:ln>
        </p:spPr>
      </p:sp>
      <p:sp>
        <p:nvSpPr>
          <p:cNvPr id="21" name="Text 18"/>
          <p:cNvSpPr txBox="1"/>
          <p:nvPr/>
        </p:nvSpPr>
        <p:spPr>
          <a:xfrm>
            <a:off x="10239261" y="2423160"/>
            <a:ext cx="871320" cy="871320"/>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19"/>
          <p:cNvSpPr txBox="1"/>
          <p:nvPr/>
        </p:nvSpPr>
        <p:spPr>
          <a:xfrm>
            <a:off x="9779940" y="352308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Lost context</a:t>
            </a:r>
            <a:endParaRPr lang="en-US" sz="1600" dirty="0"/>
          </a:p>
        </p:txBody>
      </p:sp>
      <p:sp>
        <p:nvSpPr>
          <p:cNvPr id="23" name="Text 20"/>
          <p:cNvSpPr txBox="1"/>
          <p:nvPr/>
        </p:nvSpPr>
        <p:spPr>
          <a:xfrm>
            <a:off x="9843948" y="4026000"/>
            <a:ext cx="1661947" cy="159756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every session starts from zero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2800" b="1" dirty="0">
                <a:solidFill>
                  <a:srgbClr val="1F2933"/>
                </a:solidFill>
                <a:latin typeface="Georgia" pitchFamily="34" charset="0"/>
                <a:ea typeface="Georgia" pitchFamily="34" charset="-122"/>
                <a:cs typeface="Georgia" pitchFamily="34" charset="-120"/>
              </a:rPr>
              <a:t>HELIX answers with 53 document templates across a seven-activity loop</a:t>
            </a:r>
            <a:endParaRPr lang="en-US" sz="28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S4, S5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328325"/>
                <a:gridCol w="7766091"/>
              </a:tblGrid>
              <a:tr h="474345">
                <a:tc>
                  <a:txBody>
                    <a:bodyPr/>
                    <a:lstStyle/>
                    <a:p>
                      <a:pPr indent="0" marL="0">
                        <a:buNone/>
                      </a:pPr>
                      <a:r>
                        <a:rPr lang="en-US" sz="1500" b="1" dirty="0">
                          <a:solidFill>
                            <a:srgbClr val="FFFFFF"/>
                          </a:solidFill>
                          <a:latin typeface="Arial" pitchFamily="34" charset="0"/>
                          <a:ea typeface="Arial" pitchFamily="34" charset="-122"/>
                          <a:cs typeface="Arial" pitchFamily="34" charset="-120"/>
                        </a:rPr>
                        <a:t>Activity</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What the templates produce</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Discover</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vision, business case, market and competitive analysis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Frame</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requirements, features, user stories, concerns, principles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3F5F8"/>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Design</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architecture, decisions, contracts, solution and technical designs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Test</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test plans and quality expectations, written before code</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Build</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implementation plans against those tests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Deploy</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checklists, runbooks, monitoring, release notes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474345">
                <a:tc>
                  <a:txBody>
                    <a:bodyPr/>
                    <a:lstStyle/>
                    <a:p>
                      <a:pPr indent="0" marL="0">
                        <a:buNone/>
                      </a:pPr>
                      <a:r>
                        <a:rPr lang="en-US" sz="1500" b="1" dirty="0">
                          <a:solidFill>
                            <a:srgbClr val="55606D"/>
                          </a:solidFill>
                          <a:latin typeface="Arial" pitchFamily="34" charset="0"/>
                          <a:ea typeface="Arial" pitchFamily="34" charset="-122"/>
                          <a:cs typeface="Arial" pitchFamily="34" charset="-120"/>
                        </a:rPr>
                        <a:t>Iterate</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metrics, backlog, iteration plans, status reports, deliverables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One skill routes twenty-one modes over those documents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S4, S6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5</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single skill installs on the agent runtime and reads the same documents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routes each request to one mode: frame, align, evolve, review, present, and more</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Alignment is the required mode; it finds drift and hands back a plan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skill body is portable: no runtime commands, so it loads on any host</a:t>
            </a:r>
            <a:endParaRPr lang="en-US" sz="1800" dirty="0"/>
          </a:p>
        </p:txBody>
      </p:sp>
      <p:sp>
        <p:nvSpPr>
          <p:cNvPr id="9" name="Shape 6"/>
          <p:cNvSpPr/>
          <p:nvPr/>
        </p:nvSpPr>
        <p:spPr>
          <a:xfrm>
            <a:off x="5285613" y="1965960"/>
            <a:ext cx="1383621" cy="3840480"/>
          </a:xfrm>
          <a:prstGeom prst="roundRect">
            <a:avLst>
              <a:gd name="adj" fmla="val 6609"/>
            </a:avLst>
          </a:prstGeom>
          <a:solidFill>
            <a:srgbClr val="F3F5F8"/>
          </a:solidFill>
          <a:ln w="9525">
            <a:solidFill>
              <a:srgbClr val="D6DCE4"/>
            </a:solidFill>
            <a:prstDash val="solid"/>
          </a:ln>
        </p:spPr>
      </p:sp>
      <p:sp>
        <p:nvSpPr>
          <p:cNvPr id="10" name="Shape 7"/>
          <p:cNvSpPr/>
          <p:nvPr/>
        </p:nvSpPr>
        <p:spPr>
          <a:xfrm>
            <a:off x="5666109" y="2423160"/>
            <a:ext cx="622629" cy="622629"/>
          </a:xfrm>
          <a:prstGeom prst="ellipse">
            <a:avLst/>
          </a:prstGeom>
          <a:solidFill>
            <a:srgbClr val="3B6BA8"/>
          </a:solidFill>
          <a:ln w="12700">
            <a:solidFill>
              <a:srgbClr val="3B6BA8"/>
            </a:solidFill>
            <a:prstDash val="solid"/>
          </a:ln>
        </p:spPr>
      </p:sp>
      <p:sp>
        <p:nvSpPr>
          <p:cNvPr id="11" name="Text 8"/>
          <p:cNvSpPr txBox="1"/>
          <p:nvPr/>
        </p:nvSpPr>
        <p:spPr>
          <a:xfrm>
            <a:off x="566610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2" name="Text 9"/>
          <p:cNvSpPr txBox="1"/>
          <p:nvPr/>
        </p:nvSpPr>
        <p:spPr>
          <a:xfrm>
            <a:off x="5358765"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Frame</a:t>
            </a:r>
            <a:endParaRPr lang="en-US" sz="1600" dirty="0"/>
          </a:p>
        </p:txBody>
      </p:sp>
      <p:sp>
        <p:nvSpPr>
          <p:cNvPr id="13" name="Text 10"/>
          <p:cNvSpPr txBox="1"/>
          <p:nvPr/>
        </p:nvSpPr>
        <p:spPr>
          <a:xfrm>
            <a:off x="5422773"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vision, requirements, stories</a:t>
            </a:r>
            <a:endParaRPr lang="en-US" sz="1300" dirty="0"/>
          </a:p>
        </p:txBody>
      </p:sp>
      <p:sp>
        <p:nvSpPr>
          <p:cNvPr id="14" name="Shape 11"/>
          <p:cNvSpPr/>
          <p:nvPr/>
        </p:nvSpPr>
        <p:spPr>
          <a:xfrm>
            <a:off x="6943554" y="1965960"/>
            <a:ext cx="1383621" cy="3840480"/>
          </a:xfrm>
          <a:prstGeom prst="roundRect">
            <a:avLst>
              <a:gd name="adj" fmla="val 6609"/>
            </a:avLst>
          </a:prstGeom>
          <a:solidFill>
            <a:srgbClr val="F3F5F8"/>
          </a:solidFill>
          <a:ln w="9525">
            <a:solidFill>
              <a:srgbClr val="D6DCE4"/>
            </a:solidFill>
            <a:prstDash val="solid"/>
          </a:ln>
        </p:spPr>
      </p:sp>
      <p:sp>
        <p:nvSpPr>
          <p:cNvPr id="15" name="Shape 12"/>
          <p:cNvSpPr/>
          <p:nvPr/>
        </p:nvSpPr>
        <p:spPr>
          <a:xfrm>
            <a:off x="7324049" y="2423160"/>
            <a:ext cx="622629" cy="622629"/>
          </a:xfrm>
          <a:prstGeom prst="ellipse">
            <a:avLst/>
          </a:prstGeom>
          <a:solidFill>
            <a:srgbClr val="6842A8"/>
          </a:solidFill>
          <a:ln w="12700">
            <a:solidFill>
              <a:srgbClr val="6842A8"/>
            </a:solidFill>
            <a:prstDash val="solid"/>
          </a:ln>
        </p:spPr>
      </p:sp>
      <p:sp>
        <p:nvSpPr>
          <p:cNvPr id="16" name="Text 13"/>
          <p:cNvSpPr txBox="1"/>
          <p:nvPr/>
        </p:nvSpPr>
        <p:spPr>
          <a:xfrm>
            <a:off x="732404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4"/>
          <p:cNvSpPr txBox="1"/>
          <p:nvPr/>
        </p:nvSpPr>
        <p:spPr>
          <a:xfrm>
            <a:off x="701670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Align</a:t>
            </a:r>
            <a:endParaRPr lang="en-US" sz="1600" dirty="0"/>
          </a:p>
        </p:txBody>
      </p:sp>
      <p:sp>
        <p:nvSpPr>
          <p:cNvPr id="18" name="Text 15"/>
          <p:cNvSpPr txBox="1"/>
          <p:nvPr/>
        </p:nvSpPr>
        <p:spPr>
          <a:xfrm>
            <a:off x="708071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drift, gaps, contradictions</a:t>
            </a:r>
            <a:endParaRPr lang="en-US" sz="1300" dirty="0"/>
          </a:p>
        </p:txBody>
      </p:sp>
      <p:sp>
        <p:nvSpPr>
          <p:cNvPr id="19" name="Shape 16"/>
          <p:cNvSpPr/>
          <p:nvPr/>
        </p:nvSpPr>
        <p:spPr>
          <a:xfrm>
            <a:off x="8601494" y="1965960"/>
            <a:ext cx="1383621" cy="3840480"/>
          </a:xfrm>
          <a:prstGeom prst="roundRect">
            <a:avLst>
              <a:gd name="adj" fmla="val 6609"/>
            </a:avLst>
          </a:prstGeom>
          <a:solidFill>
            <a:srgbClr val="F3F5F8"/>
          </a:solidFill>
          <a:ln w="9525">
            <a:solidFill>
              <a:srgbClr val="D6DCE4"/>
            </a:solidFill>
            <a:prstDash val="solid"/>
          </a:ln>
        </p:spPr>
      </p:sp>
      <p:sp>
        <p:nvSpPr>
          <p:cNvPr id="20" name="Shape 17"/>
          <p:cNvSpPr/>
          <p:nvPr/>
        </p:nvSpPr>
        <p:spPr>
          <a:xfrm>
            <a:off x="8981990" y="2423160"/>
            <a:ext cx="622629" cy="622629"/>
          </a:xfrm>
          <a:prstGeom prst="ellipse">
            <a:avLst/>
          </a:prstGeom>
          <a:solidFill>
            <a:srgbClr val="C44B2F"/>
          </a:solidFill>
          <a:ln w="12700">
            <a:solidFill>
              <a:srgbClr val="C44B2F"/>
            </a:solidFill>
            <a:prstDash val="solid"/>
          </a:ln>
        </p:spPr>
      </p:sp>
      <p:sp>
        <p:nvSpPr>
          <p:cNvPr id="21" name="Text 18"/>
          <p:cNvSpPr txBox="1"/>
          <p:nvPr/>
        </p:nvSpPr>
        <p:spPr>
          <a:xfrm>
            <a:off x="898199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19"/>
          <p:cNvSpPr txBox="1"/>
          <p:nvPr/>
        </p:nvSpPr>
        <p:spPr>
          <a:xfrm>
            <a:off x="867464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Evolve</a:t>
            </a:r>
            <a:endParaRPr lang="en-US" sz="1600" dirty="0"/>
          </a:p>
        </p:txBody>
      </p:sp>
      <p:sp>
        <p:nvSpPr>
          <p:cNvPr id="23" name="Text 20"/>
          <p:cNvSpPr txBox="1"/>
          <p:nvPr/>
        </p:nvSpPr>
        <p:spPr>
          <a:xfrm>
            <a:off x="873865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thread one change through</a:t>
            </a:r>
            <a:endParaRPr lang="en-US" sz="1300" dirty="0"/>
          </a:p>
        </p:txBody>
      </p:sp>
      <p:sp>
        <p:nvSpPr>
          <p:cNvPr id="24" name="Shape 21"/>
          <p:cNvSpPr/>
          <p:nvPr/>
        </p:nvSpPr>
        <p:spPr>
          <a:xfrm>
            <a:off x="10259435" y="1965960"/>
            <a:ext cx="1383621" cy="3840480"/>
          </a:xfrm>
          <a:prstGeom prst="roundRect">
            <a:avLst>
              <a:gd name="adj" fmla="val 6609"/>
            </a:avLst>
          </a:prstGeom>
          <a:solidFill>
            <a:srgbClr val="F3F5F8"/>
          </a:solidFill>
          <a:ln w="9525">
            <a:solidFill>
              <a:srgbClr val="D6DCE4"/>
            </a:solidFill>
            <a:prstDash val="solid"/>
          </a:ln>
        </p:spPr>
      </p:sp>
      <p:sp>
        <p:nvSpPr>
          <p:cNvPr id="25" name="Shape 22"/>
          <p:cNvSpPr/>
          <p:nvPr/>
        </p:nvSpPr>
        <p:spPr>
          <a:xfrm>
            <a:off x="10639930" y="2423160"/>
            <a:ext cx="622629" cy="622629"/>
          </a:xfrm>
          <a:prstGeom prst="ellipse">
            <a:avLst/>
          </a:prstGeom>
          <a:solidFill>
            <a:srgbClr val="3B6BA8"/>
          </a:solidFill>
          <a:ln w="12700">
            <a:solidFill>
              <a:srgbClr val="3B6BA8"/>
            </a:solidFill>
            <a:prstDash val="solid"/>
          </a:ln>
        </p:spPr>
      </p:sp>
      <p:sp>
        <p:nvSpPr>
          <p:cNvPr id="26" name="Text 23"/>
          <p:cNvSpPr txBox="1"/>
          <p:nvPr/>
        </p:nvSpPr>
        <p:spPr>
          <a:xfrm>
            <a:off x="1063993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27" name="Text 24"/>
          <p:cNvSpPr txBox="1"/>
          <p:nvPr/>
        </p:nvSpPr>
        <p:spPr>
          <a:xfrm>
            <a:off x="10332587"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Present</a:t>
            </a:r>
            <a:endParaRPr lang="en-US" sz="1600" dirty="0"/>
          </a:p>
        </p:txBody>
      </p:sp>
      <p:sp>
        <p:nvSpPr>
          <p:cNvPr id="28" name="Text 25"/>
          <p:cNvSpPr txBox="1"/>
          <p:nvPr/>
        </p:nvSpPr>
        <p:spPr>
          <a:xfrm>
            <a:off x="10396595"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decks, briefs, reports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Each document layer governs the next, from vision down to code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S19, S20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6</a:t>
            </a:r>
            <a:endParaRPr lang="en-US" sz="1000" dirty="0"/>
          </a:p>
        </p:txBody>
      </p:sp>
      <p:sp>
        <p:nvSpPr>
          <p:cNvPr id="8" name="Shape 5"/>
          <p:cNvSpPr/>
          <p:nvPr/>
        </p:nvSpPr>
        <p:spPr>
          <a:xfrm>
            <a:off x="548640" y="2788920"/>
            <a:ext cx="2160361" cy="731520"/>
          </a:xfrm>
          <a:prstGeom prst="chevron">
            <a:avLst/>
          </a:prstGeom>
          <a:solidFill>
            <a:srgbClr val="3B6BA8"/>
          </a:solidFill>
          <a:ln w="19050">
            <a:solidFill>
              <a:srgbClr val="FFFFFF"/>
            </a:solidFill>
            <a:prstDash val="solid"/>
          </a:ln>
        </p:spPr>
      </p:sp>
      <p:sp>
        <p:nvSpPr>
          <p:cNvPr id="9" name="Text 6"/>
          <p:cNvSpPr txBox="1"/>
          <p:nvPr/>
        </p:nvSpPr>
        <p:spPr>
          <a:xfrm>
            <a:off x="950976" y="2880360"/>
            <a:ext cx="1355689" cy="54864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Vision</a:t>
            </a:r>
            <a:endParaRPr lang="en-US" sz="1600" dirty="0"/>
          </a:p>
        </p:txBody>
      </p:sp>
      <p:sp>
        <p:nvSpPr>
          <p:cNvPr id="10" name="Text 7"/>
          <p:cNvSpPr txBox="1"/>
          <p:nvPr/>
        </p:nvSpPr>
        <p:spPr>
          <a:xfrm>
            <a:off x="640080" y="3703320"/>
            <a:ext cx="1977481"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direction and who it is for</a:t>
            </a:r>
            <a:endParaRPr lang="en-US" sz="1400" dirty="0"/>
          </a:p>
        </p:txBody>
      </p:sp>
      <p:sp>
        <p:nvSpPr>
          <p:cNvPr id="11" name="Shape 8"/>
          <p:cNvSpPr/>
          <p:nvPr/>
        </p:nvSpPr>
        <p:spPr>
          <a:xfrm>
            <a:off x="2782153" y="2788920"/>
            <a:ext cx="2160361" cy="731520"/>
          </a:xfrm>
          <a:prstGeom prst="chevron">
            <a:avLst/>
          </a:prstGeom>
          <a:solidFill>
            <a:srgbClr val="3B6BA8"/>
          </a:solidFill>
          <a:ln w="19050">
            <a:solidFill>
              <a:srgbClr val="FFFFFF"/>
            </a:solidFill>
            <a:prstDash val="solid"/>
          </a:ln>
        </p:spPr>
      </p:sp>
      <p:sp>
        <p:nvSpPr>
          <p:cNvPr id="12" name="Text 9"/>
          <p:cNvSpPr txBox="1"/>
          <p:nvPr/>
        </p:nvSpPr>
        <p:spPr>
          <a:xfrm>
            <a:off x="3184489" y="2880360"/>
            <a:ext cx="1355689" cy="54864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Requirements</a:t>
            </a:r>
            <a:endParaRPr lang="en-US" sz="1600" dirty="0"/>
          </a:p>
        </p:txBody>
      </p:sp>
      <p:sp>
        <p:nvSpPr>
          <p:cNvPr id="13" name="Text 10"/>
          <p:cNvSpPr txBox="1"/>
          <p:nvPr/>
        </p:nvSpPr>
        <p:spPr>
          <a:xfrm>
            <a:off x="2873593" y="3703320"/>
            <a:ext cx="1977481"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scope, outcomes, non-goals</a:t>
            </a:r>
            <a:endParaRPr lang="en-US" sz="1400" dirty="0"/>
          </a:p>
        </p:txBody>
      </p:sp>
      <p:sp>
        <p:nvSpPr>
          <p:cNvPr id="14" name="Shape 11"/>
          <p:cNvSpPr/>
          <p:nvPr/>
        </p:nvSpPr>
        <p:spPr>
          <a:xfrm>
            <a:off x="5015667" y="2788920"/>
            <a:ext cx="2160361" cy="731520"/>
          </a:xfrm>
          <a:prstGeom prst="chevron">
            <a:avLst/>
          </a:prstGeom>
          <a:solidFill>
            <a:srgbClr val="3B6BA8"/>
          </a:solidFill>
          <a:ln w="19050">
            <a:solidFill>
              <a:srgbClr val="FFFFFF"/>
            </a:solidFill>
            <a:prstDash val="solid"/>
          </a:ln>
        </p:spPr>
      </p:sp>
      <p:sp>
        <p:nvSpPr>
          <p:cNvPr id="15" name="Text 12"/>
          <p:cNvSpPr txBox="1"/>
          <p:nvPr/>
        </p:nvSpPr>
        <p:spPr>
          <a:xfrm>
            <a:off x="5418003" y="2880360"/>
            <a:ext cx="1355689" cy="54864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Designs</a:t>
            </a:r>
            <a:endParaRPr lang="en-US" sz="1600" dirty="0"/>
          </a:p>
        </p:txBody>
      </p:sp>
      <p:sp>
        <p:nvSpPr>
          <p:cNvPr id="16" name="Text 13"/>
          <p:cNvSpPr txBox="1"/>
          <p:nvPr/>
        </p:nvSpPr>
        <p:spPr>
          <a:xfrm>
            <a:off x="5107107" y="3703320"/>
            <a:ext cx="1977481"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decisions, contracts, components</a:t>
            </a:r>
            <a:endParaRPr lang="en-US" sz="1400" dirty="0"/>
          </a:p>
        </p:txBody>
      </p:sp>
      <p:sp>
        <p:nvSpPr>
          <p:cNvPr id="17" name="Shape 14"/>
          <p:cNvSpPr/>
          <p:nvPr/>
        </p:nvSpPr>
        <p:spPr>
          <a:xfrm>
            <a:off x="7249180" y="2788920"/>
            <a:ext cx="2160361" cy="731520"/>
          </a:xfrm>
          <a:prstGeom prst="chevron">
            <a:avLst/>
          </a:prstGeom>
          <a:solidFill>
            <a:srgbClr val="3B6BA8"/>
          </a:solidFill>
          <a:ln w="19050">
            <a:solidFill>
              <a:srgbClr val="FFFFFF"/>
            </a:solidFill>
            <a:prstDash val="solid"/>
          </a:ln>
        </p:spPr>
      </p:sp>
      <p:sp>
        <p:nvSpPr>
          <p:cNvPr id="18" name="Text 15"/>
          <p:cNvSpPr txBox="1"/>
          <p:nvPr/>
        </p:nvSpPr>
        <p:spPr>
          <a:xfrm>
            <a:off x="7651516" y="2880360"/>
            <a:ext cx="1355689" cy="54864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Tests</a:t>
            </a:r>
            <a:endParaRPr lang="en-US" sz="1600" dirty="0"/>
          </a:p>
        </p:txBody>
      </p:sp>
      <p:sp>
        <p:nvSpPr>
          <p:cNvPr id="19" name="Text 16"/>
          <p:cNvSpPr txBox="1"/>
          <p:nvPr/>
        </p:nvSpPr>
        <p:spPr>
          <a:xfrm>
            <a:off x="7340620" y="3703320"/>
            <a:ext cx="1977481"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acceptance before any code</a:t>
            </a:r>
            <a:endParaRPr lang="en-US" sz="1400" dirty="0"/>
          </a:p>
        </p:txBody>
      </p:sp>
      <p:sp>
        <p:nvSpPr>
          <p:cNvPr id="20" name="Shape 17"/>
          <p:cNvSpPr/>
          <p:nvPr/>
        </p:nvSpPr>
        <p:spPr>
          <a:xfrm>
            <a:off x="9482694" y="2788920"/>
            <a:ext cx="2160361" cy="731520"/>
          </a:xfrm>
          <a:prstGeom prst="chevron">
            <a:avLst/>
          </a:prstGeom>
          <a:solidFill>
            <a:srgbClr val="C44B2F"/>
          </a:solidFill>
          <a:ln w="19050">
            <a:solidFill>
              <a:srgbClr val="FFFFFF"/>
            </a:solidFill>
            <a:prstDash val="solid"/>
          </a:ln>
        </p:spPr>
      </p:sp>
      <p:sp>
        <p:nvSpPr>
          <p:cNvPr id="21" name="Text 18"/>
          <p:cNvSpPr txBox="1"/>
          <p:nvPr/>
        </p:nvSpPr>
        <p:spPr>
          <a:xfrm>
            <a:off x="9885030" y="2880360"/>
            <a:ext cx="1355689" cy="548640"/>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rial" pitchFamily="34" charset="0"/>
                <a:ea typeface="Arial" pitchFamily="34" charset="-122"/>
                <a:cs typeface="Arial" pitchFamily="34" charset="-120"/>
              </a:rPr>
              <a:t>Code</a:t>
            </a:r>
            <a:endParaRPr lang="en-US" sz="1600" dirty="0"/>
          </a:p>
        </p:txBody>
      </p:sp>
      <p:sp>
        <p:nvSpPr>
          <p:cNvPr id="22" name="Text 19"/>
          <p:cNvSpPr txBox="1"/>
          <p:nvPr/>
        </p:nvSpPr>
        <p:spPr>
          <a:xfrm>
            <a:off x="9574134" y="3703320"/>
            <a:ext cx="1977481" cy="914400"/>
          </a:xfrm>
          <a:prstGeom prst="rect">
            <a:avLst/>
          </a:prstGeom>
          <a:noFill/>
          <a:ln/>
        </p:spPr>
        <p:txBody>
          <a:bodyPr wrap="square" lIns="0" tIns="0" rIns="0" bIns="0" rtlCol="0" anchor="t">
            <a:normAutofit/>
          </a:bodyPr>
          <a:lstStyle/>
          <a:p>
            <a:pPr algn="ctr" indent="0" marL="0">
              <a:buNone/>
            </a:pPr>
            <a:r>
              <a:rPr lang="en-US" sz="1400" dirty="0">
                <a:solidFill>
                  <a:srgbClr val="55606D"/>
                </a:solidFill>
                <a:latin typeface="Arial" pitchFamily="34" charset="0"/>
                <a:ea typeface="Arial" pitchFamily="34" charset="-122"/>
                <a:cs typeface="Arial" pitchFamily="34" charset="-120"/>
              </a:rPr>
              <a:t>only what the layers above authorize</a:t>
            </a:r>
            <a:endParaRPr lang="en-US" sz="1400" dirty="0"/>
          </a:p>
        </p:txBody>
      </p:sp>
      <p:sp>
        <p:nvSpPr>
          <p:cNvPr id="23" name="Text 20"/>
          <p:cNvSpPr txBox="1"/>
          <p:nvPr/>
        </p:nvSpPr>
        <p:spPr>
          <a:xfrm>
            <a:off x="8751174" y="4709160"/>
            <a:ext cx="2891881" cy="548640"/>
          </a:xfrm>
          <a:prstGeom prst="rect">
            <a:avLst/>
          </a:prstGeom>
          <a:noFill/>
          <a:ln/>
        </p:spPr>
        <p:txBody>
          <a:bodyPr wrap="square" lIns="0" tIns="0" rIns="0" bIns="0" rtlCol="0" anchor="t">
            <a:normAutofit/>
          </a:bodyPr>
          <a:lstStyle/>
          <a:p>
            <a:pPr algn="ctr" indent="0" marL="0">
              <a:buNone/>
            </a:pPr>
            <a:r>
              <a:rPr lang="en-US" sz="1200" b="1" dirty="0">
                <a:solidFill>
                  <a:srgbClr val="C44B2F"/>
                </a:solidFill>
                <a:latin typeface="Arial" pitchFamily="34" charset="0"/>
                <a:ea typeface="Arial" pitchFamily="34" charset="-122"/>
                <a:cs typeface="Arial" pitchFamily="34" charset="-120"/>
              </a:rPr>
              <a:t>a change enters at the top layer it touches and flows down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Concerns and gates carry that control across every layer</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S9, S11, S19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7</a:t>
            </a:r>
            <a:endParaRPr lang="en-US" sz="1000" dirty="0"/>
          </a:p>
        </p:txBody>
      </p:sp>
      <p:sp>
        <p:nvSpPr>
          <p:cNvPr id="8" name="Shape 5"/>
          <p:cNvSpPr/>
          <p:nvPr/>
        </p:nvSpPr>
        <p:spPr>
          <a:xfrm>
            <a:off x="548640" y="1965960"/>
            <a:ext cx="5410048" cy="3108960"/>
          </a:xfrm>
          <a:prstGeom prst="roundRect">
            <a:avLst>
              <a:gd name="adj" fmla="val 2941"/>
            </a:avLst>
          </a:prstGeom>
          <a:solidFill>
            <a:srgbClr val="F3F5F8"/>
          </a:solidFill>
          <a:ln w="9525">
            <a:solidFill>
              <a:srgbClr val="D6DCE4"/>
            </a:solidFill>
            <a:prstDash val="solid"/>
          </a:ln>
        </p:spPr>
      </p:sp>
      <p:sp>
        <p:nvSpPr>
          <p:cNvPr id="9" name="Text 6"/>
          <p:cNvSpPr txBox="1"/>
          <p:nvPr/>
        </p:nvSpPr>
        <p:spPr>
          <a:xfrm>
            <a:off x="822960" y="2148840"/>
            <a:ext cx="4861408" cy="457200"/>
          </a:xfrm>
          <a:prstGeom prst="rect">
            <a:avLst/>
          </a:prstGeom>
          <a:noFill/>
          <a:ln/>
        </p:spPr>
        <p:txBody>
          <a:bodyPr wrap="square" lIns="0" tIns="0" rIns="0" bIns="0" rtlCol="0" anchor="t">
            <a:normAutofit/>
          </a:bodyPr>
          <a:lstStyle/>
          <a:p>
            <a:pPr algn="l" indent="0" marL="0">
              <a:buNone/>
            </a:pPr>
            <a:r>
              <a:rPr lang="en-US" sz="2000" b="1" dirty="0">
                <a:solidFill>
                  <a:srgbClr val="55606D"/>
                </a:solidFill>
                <a:latin typeface="Georgia" pitchFamily="34" charset="0"/>
                <a:ea typeface="Georgia" pitchFamily="34" charset="-122"/>
                <a:cs typeface="Georgia" pitchFamily="34" charset="-120"/>
              </a:rPr>
              <a:t>Without layered control</a:t>
            </a:r>
            <a:endParaRPr lang="en-US" sz="2000" dirty="0"/>
          </a:p>
        </p:txBody>
      </p:sp>
      <p:sp>
        <p:nvSpPr>
          <p:cNvPr id="10" name="Text 7"/>
          <p:cNvSpPr txBox="1"/>
          <p:nvPr/>
        </p:nvSpPr>
        <p:spPr>
          <a:xfrm>
            <a:off x="822960" y="269748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Each agent re-decides framework, auth, and test approach per task</a:t>
            </a:r>
            <a:endParaRPr lang="en-US" sz="1500" dirty="0"/>
          </a:p>
        </p:txBody>
      </p:sp>
      <p:sp>
        <p:nvSpPr>
          <p:cNvPr id="11" name="Text 8"/>
          <p:cNvSpPr txBox="1"/>
          <p:nvPr/>
        </p:nvSpPr>
        <p:spPr>
          <a:xfrm>
            <a:off x="822960" y="342900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Drift shows up in review or in production</a:t>
            </a:r>
            <a:endParaRPr lang="en-US" sz="1500" dirty="0"/>
          </a:p>
        </p:txBody>
      </p:sp>
      <p:sp>
        <p:nvSpPr>
          <p:cNvPr id="12" name="Text 9"/>
          <p:cNvSpPr txBox="1"/>
          <p:nvPr/>
        </p:nvSpPr>
        <p:spPr>
          <a:xfrm>
            <a:off x="822960" y="416052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 claim of done goes unchecked</a:t>
            </a:r>
            <a:endParaRPr lang="en-US" sz="1500" dirty="0"/>
          </a:p>
        </p:txBody>
      </p:sp>
      <p:sp>
        <p:nvSpPr>
          <p:cNvPr id="13" name="Shape 10"/>
          <p:cNvSpPr/>
          <p:nvPr/>
        </p:nvSpPr>
        <p:spPr>
          <a:xfrm>
            <a:off x="6233008" y="1965960"/>
            <a:ext cx="5410048" cy="3108960"/>
          </a:xfrm>
          <a:prstGeom prst="roundRect">
            <a:avLst>
              <a:gd name="adj" fmla="val 2941"/>
            </a:avLst>
          </a:prstGeom>
          <a:solidFill>
            <a:srgbClr val="FFFFFF"/>
          </a:solidFill>
          <a:ln w="9525">
            <a:solidFill>
              <a:srgbClr val="D6DCE4"/>
            </a:solidFill>
            <a:prstDash val="solid"/>
          </a:ln>
        </p:spPr>
      </p:sp>
      <p:sp>
        <p:nvSpPr>
          <p:cNvPr id="14" name="Text 11"/>
          <p:cNvSpPr txBox="1"/>
          <p:nvPr/>
        </p:nvSpPr>
        <p:spPr>
          <a:xfrm>
            <a:off x="6507328" y="2148840"/>
            <a:ext cx="4861408" cy="457200"/>
          </a:xfrm>
          <a:prstGeom prst="rect">
            <a:avLst/>
          </a:prstGeom>
          <a:noFill/>
          <a:ln/>
        </p:spPr>
        <p:txBody>
          <a:bodyPr wrap="square" lIns="0" tIns="0" rIns="0" bIns="0" rtlCol="0" anchor="t">
            <a:normAutofit/>
          </a:bodyPr>
          <a:lstStyle/>
          <a:p>
            <a:pPr algn="l" indent="0" marL="0">
              <a:buNone/>
            </a:pPr>
            <a:r>
              <a:rPr lang="en-US" sz="2000" b="1" dirty="0">
                <a:solidFill>
                  <a:srgbClr val="3B6BA8"/>
                </a:solidFill>
                <a:latin typeface="Georgia" pitchFamily="34" charset="0"/>
                <a:ea typeface="Georgia" pitchFamily="34" charset="-122"/>
                <a:cs typeface="Georgia" pitchFamily="34" charset="-120"/>
              </a:rPr>
              <a:t>With layered control</a:t>
            </a:r>
            <a:endParaRPr lang="en-US" sz="2000" dirty="0"/>
          </a:p>
        </p:txBody>
      </p:sp>
      <p:sp>
        <p:nvSpPr>
          <p:cNvPr id="15" name="Shape 12"/>
          <p:cNvSpPr/>
          <p:nvPr/>
        </p:nvSpPr>
        <p:spPr>
          <a:xfrm>
            <a:off x="6507328" y="2743200"/>
            <a:ext cx="292608" cy="292608"/>
          </a:xfrm>
          <a:prstGeom prst="ellipse">
            <a:avLst/>
          </a:prstGeom>
          <a:solidFill>
            <a:srgbClr val="3B6BA8"/>
          </a:solidFill>
          <a:ln w="12700">
            <a:solidFill>
              <a:srgbClr val="3B6BA8"/>
            </a:solidFill>
            <a:prstDash val="solid"/>
          </a:ln>
        </p:spPr>
      </p:sp>
      <p:sp>
        <p:nvSpPr>
          <p:cNvPr id="16" name="Text 13"/>
          <p:cNvSpPr txBox="1"/>
          <p:nvPr/>
        </p:nvSpPr>
        <p:spPr>
          <a:xfrm>
            <a:off x="6507328" y="27432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17" name="Text 14"/>
          <p:cNvSpPr txBox="1"/>
          <p:nvPr/>
        </p:nvSpPr>
        <p:spPr>
          <a:xfrm>
            <a:off x="6964528" y="269748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The team selects a concern once and its practices propagate down</a:t>
            </a:r>
            <a:endParaRPr lang="en-US" sz="1500" dirty="0"/>
          </a:p>
        </p:txBody>
      </p:sp>
      <p:sp>
        <p:nvSpPr>
          <p:cNvPr id="18" name="Shape 15"/>
          <p:cNvSpPr/>
          <p:nvPr/>
        </p:nvSpPr>
        <p:spPr>
          <a:xfrm>
            <a:off x="6507328" y="3474720"/>
            <a:ext cx="292608" cy="292608"/>
          </a:xfrm>
          <a:prstGeom prst="ellipse">
            <a:avLst/>
          </a:prstGeom>
          <a:solidFill>
            <a:srgbClr val="3B6BA8"/>
          </a:solidFill>
          <a:ln w="12700">
            <a:solidFill>
              <a:srgbClr val="3B6BA8"/>
            </a:solidFill>
            <a:prstDash val="solid"/>
          </a:ln>
        </p:spPr>
      </p:sp>
      <p:sp>
        <p:nvSpPr>
          <p:cNvPr id="19" name="Text 16"/>
          <p:cNvSpPr txBox="1"/>
          <p:nvPr/>
        </p:nvSpPr>
        <p:spPr>
          <a:xfrm>
            <a:off x="6507328" y="347472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0" name="Text 17"/>
          <p:cNvSpPr txBox="1"/>
          <p:nvPr/>
        </p:nvSpPr>
        <p:spPr>
          <a:xfrm>
            <a:off x="6964528" y="342900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Gates stop work moving down a layer</a:t>
            </a:r>
            <a:endParaRPr lang="en-US" sz="1500" dirty="0"/>
          </a:p>
        </p:txBody>
      </p:sp>
      <p:sp>
        <p:nvSpPr>
          <p:cNvPr id="21" name="Shape 18"/>
          <p:cNvSpPr/>
          <p:nvPr/>
        </p:nvSpPr>
        <p:spPr>
          <a:xfrm>
            <a:off x="6507328" y="4206240"/>
            <a:ext cx="292608" cy="292608"/>
          </a:xfrm>
          <a:prstGeom prst="ellipse">
            <a:avLst/>
          </a:prstGeom>
          <a:solidFill>
            <a:srgbClr val="3B6BA8"/>
          </a:solidFill>
          <a:ln w="12700">
            <a:solidFill>
              <a:srgbClr val="3B6BA8"/>
            </a:solidFill>
            <a:prstDash val="solid"/>
          </a:ln>
        </p:spPr>
      </p:sp>
      <p:sp>
        <p:nvSpPr>
          <p:cNvPr id="22" name="Text 19"/>
          <p:cNvSpPr txBox="1"/>
          <p:nvPr/>
        </p:nvSpPr>
        <p:spPr>
          <a:xfrm>
            <a:off x="6507328" y="42062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3" name="Text 20"/>
          <p:cNvSpPr txBox="1"/>
          <p:nvPr/>
        </p:nvSpPr>
        <p:spPr>
          <a:xfrm>
            <a:off x="6964528" y="416052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Every claim cites evidence a validator can check</a:t>
            </a:r>
            <a:endParaRPr lang="en-US" sz="1500" dirty="0"/>
          </a:p>
        </p:txBody>
      </p:sp>
      <p:sp>
        <p:nvSpPr>
          <p:cNvPr id="24" name="Text 21"/>
          <p:cNvSpPr txBox="1"/>
          <p:nvPr/>
        </p:nvSpPr>
        <p:spPr>
          <a:xfrm>
            <a:off x="548640" y="5257800"/>
            <a:ext cx="11094415" cy="548640"/>
          </a:xfrm>
          <a:prstGeom prst="rect">
            <a:avLst/>
          </a:prstGeom>
          <a:noFill/>
          <a:ln/>
        </p:spPr>
        <p:txBody>
          <a:bodyPr wrap="square" lIns="0" tIns="0" rIns="0" bIns="0" rtlCol="0" anchor="ctr">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Verdict: the rules live in the layers, not in a prompt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200" b="1" dirty="0">
                <a:solidFill>
                  <a:srgbClr val="1F2933"/>
                </a:solidFill>
                <a:latin typeface="Georgia" pitchFamily="34" charset="0"/>
                <a:ea typeface="Georgia" pitchFamily="34" charset="-122"/>
                <a:cs typeface="Georgia" pitchFamily="34" charset="-120"/>
              </a:rPr>
              <a:t>Every layer also yields documents people outside engineering read</a:t>
            </a:r>
            <a:endParaRPr lang="en-US" sz="32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S16, S17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328325"/>
                <a:gridCol w="3883045"/>
                <a:gridCol w="3883045"/>
              </a:tblGrid>
              <a:tr h="594360">
                <a:tc>
                  <a:txBody>
                    <a:bodyPr/>
                    <a:lstStyle/>
                    <a:p>
                      <a:pPr indent="0" marL="0">
                        <a:buNone/>
                      </a:pPr>
                      <a:r>
                        <a:rPr lang="en-US" sz="1500" b="1" dirty="0">
                          <a:solidFill>
                            <a:srgbClr val="FFFFFF"/>
                          </a:solidFill>
                          <a:latin typeface="Arial" pitchFamily="34" charset="0"/>
                          <a:ea typeface="Arial" pitchFamily="34" charset="-122"/>
                          <a:cs typeface="Arial" pitchFamily="34" charset="-120"/>
                        </a:rPr>
                        <a:t>Output</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Who reads it</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Comes from</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94360">
                <a:tc>
                  <a:txBody>
                    <a:bodyPr/>
                    <a:lstStyle/>
                    <a:p>
                      <a:pPr indent="0" marL="0">
                        <a:buNone/>
                      </a:pPr>
                      <a:r>
                        <a:rPr lang="en-US" sz="1500" b="1" dirty="0">
                          <a:solidFill>
                            <a:srgbClr val="55606D"/>
                          </a:solidFill>
                          <a:latin typeface="Arial" pitchFamily="34" charset="0"/>
                          <a:ea typeface="Arial" pitchFamily="34" charset="-122"/>
                          <a:cs typeface="Arial" pitchFamily="34" charset="-120"/>
                        </a:rPr>
                        <a:t>Status report</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sponsors and clients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the iteration plan, evidence per claim</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658368">
                <a:tc>
                  <a:txBody>
                    <a:bodyPr/>
                    <a:lstStyle/>
                    <a:p>
                      <a:pPr indent="0" marL="0">
                        <a:buNone/>
                      </a:pPr>
                      <a:r>
                        <a:rPr lang="en-US" sz="1500" b="1" dirty="0">
                          <a:solidFill>
                            <a:srgbClr val="55606D"/>
                          </a:solidFill>
                          <a:latin typeface="Arial" pitchFamily="34" charset="0"/>
                          <a:ea typeface="Arial" pitchFamily="34" charset="-122"/>
                          <a:cs typeface="Arial" pitchFamily="34" charset="-120"/>
                        </a:rPr>
                        <a:t>Deck or brief</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executives and customers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3F5F8"/>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any governed document set, every number sourced</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3F5F8"/>
                    </a:solidFill>
                  </a:tcPr>
                </a:tc>
              </a:tr>
              <a:tr h="594360">
                <a:tc>
                  <a:txBody>
                    <a:bodyPr/>
                    <a:lstStyle/>
                    <a:p>
                      <a:pPr indent="0" marL="0">
                        <a:buNone/>
                      </a:pPr>
                      <a:r>
                        <a:rPr lang="en-US" sz="1500" b="1" dirty="0">
                          <a:solidFill>
                            <a:srgbClr val="55606D"/>
                          </a:solidFill>
                          <a:latin typeface="Arial" pitchFamily="34" charset="0"/>
                          <a:ea typeface="Arial" pitchFamily="34" charset="-122"/>
                          <a:cs typeface="Arial" pitchFamily="34" charset="-120"/>
                        </a:rPr>
                        <a:t>Release notes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users and support</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500" dirty="0">
                          <a:solidFill>
                            <a:srgbClr val="1F2933"/>
                          </a:solidFill>
                          <a:latin typeface="Arial" pitchFamily="34" charset="0"/>
                          <a:ea typeface="Arial" pitchFamily="34" charset="-122"/>
                          <a:cs typeface="Arial" pitchFamily="34" charset="-120"/>
                        </a:rPr>
                        <a:t>the deploy documents</a:t>
                      </a:r>
                      <a:endParaRPr lang="en-US" sz="15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9</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2800" b="1" dirty="0">
                <a:solidFill>
                  <a:srgbClr val="1F2933"/>
                </a:solidFill>
                <a:latin typeface="Georgia" pitchFamily="34" charset="0"/>
                <a:ea typeface="Georgia" pitchFamily="34" charset="-122"/>
                <a:cs typeface="Georgia" pitchFamily="34" charset="-120"/>
              </a:rPr>
              <a:t>One alignment gate caught three drifted documents before anyone coded</a:t>
            </a:r>
            <a:endParaRPr lang="en-US" sz="28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9</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team asked its agent to add OAuth login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alignment check found 3 affected feature specs and 2 affected designs</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flagged 1 recorded decision that conflicted with the OAuth pattern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listed 4 missing user stories and 1 test plan to revise</a:t>
            </a:r>
            <a:endParaRPr lang="en-US" sz="1800" dirty="0"/>
          </a:p>
        </p:txBody>
      </p:sp>
      <p:sp>
        <p:nvSpPr>
          <p:cNvPr id="9" name="Shape 6"/>
          <p:cNvSpPr/>
          <p:nvPr/>
        </p:nvSpPr>
        <p:spPr>
          <a:xfrm>
            <a:off x="5285613" y="1965960"/>
            <a:ext cx="1383621" cy="3840480"/>
          </a:xfrm>
          <a:prstGeom prst="roundRect">
            <a:avLst>
              <a:gd name="adj" fmla="val 6609"/>
            </a:avLst>
          </a:prstGeom>
          <a:solidFill>
            <a:srgbClr val="F3F5F8"/>
          </a:solidFill>
          <a:ln w="9525">
            <a:solidFill>
              <a:srgbClr val="D6DCE4"/>
            </a:solidFill>
            <a:prstDash val="solid"/>
          </a:ln>
        </p:spPr>
      </p:sp>
      <p:sp>
        <p:nvSpPr>
          <p:cNvPr id="10" name="Shape 7"/>
          <p:cNvSpPr/>
          <p:nvPr/>
        </p:nvSpPr>
        <p:spPr>
          <a:xfrm>
            <a:off x="5666109" y="2423160"/>
            <a:ext cx="622629" cy="622629"/>
          </a:xfrm>
          <a:prstGeom prst="ellipse">
            <a:avLst/>
          </a:prstGeom>
          <a:solidFill>
            <a:srgbClr val="3B6BA8"/>
          </a:solidFill>
          <a:ln w="12700">
            <a:solidFill>
              <a:srgbClr val="3B6BA8"/>
            </a:solidFill>
            <a:prstDash val="solid"/>
          </a:ln>
        </p:spPr>
      </p:sp>
      <p:sp>
        <p:nvSpPr>
          <p:cNvPr id="11" name="Text 8"/>
          <p:cNvSpPr txBox="1"/>
          <p:nvPr/>
        </p:nvSpPr>
        <p:spPr>
          <a:xfrm>
            <a:off x="566610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2" name="Text 9"/>
          <p:cNvSpPr txBox="1"/>
          <p:nvPr/>
        </p:nvSpPr>
        <p:spPr>
          <a:xfrm>
            <a:off x="5358765"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3 specs</a:t>
            </a:r>
            <a:endParaRPr lang="en-US" sz="1600" dirty="0"/>
          </a:p>
        </p:txBody>
      </p:sp>
      <p:sp>
        <p:nvSpPr>
          <p:cNvPr id="13" name="Text 10"/>
          <p:cNvSpPr txBox="1"/>
          <p:nvPr/>
        </p:nvSpPr>
        <p:spPr>
          <a:xfrm>
            <a:off x="5422773"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affected by the change</a:t>
            </a:r>
            <a:endParaRPr lang="en-US" sz="1300" dirty="0"/>
          </a:p>
        </p:txBody>
      </p:sp>
      <p:sp>
        <p:nvSpPr>
          <p:cNvPr id="14" name="Shape 11"/>
          <p:cNvSpPr/>
          <p:nvPr/>
        </p:nvSpPr>
        <p:spPr>
          <a:xfrm>
            <a:off x="6943554" y="1965960"/>
            <a:ext cx="1383621" cy="3840480"/>
          </a:xfrm>
          <a:prstGeom prst="roundRect">
            <a:avLst>
              <a:gd name="adj" fmla="val 6609"/>
            </a:avLst>
          </a:prstGeom>
          <a:solidFill>
            <a:srgbClr val="F3F5F8"/>
          </a:solidFill>
          <a:ln w="9525">
            <a:solidFill>
              <a:srgbClr val="D6DCE4"/>
            </a:solidFill>
            <a:prstDash val="solid"/>
          </a:ln>
        </p:spPr>
      </p:sp>
      <p:sp>
        <p:nvSpPr>
          <p:cNvPr id="15" name="Shape 12"/>
          <p:cNvSpPr/>
          <p:nvPr/>
        </p:nvSpPr>
        <p:spPr>
          <a:xfrm>
            <a:off x="7324049" y="2423160"/>
            <a:ext cx="622629" cy="622629"/>
          </a:xfrm>
          <a:prstGeom prst="ellipse">
            <a:avLst/>
          </a:prstGeom>
          <a:solidFill>
            <a:srgbClr val="6842A8"/>
          </a:solidFill>
          <a:ln w="12700">
            <a:solidFill>
              <a:srgbClr val="6842A8"/>
            </a:solidFill>
            <a:prstDash val="solid"/>
          </a:ln>
        </p:spPr>
      </p:sp>
      <p:sp>
        <p:nvSpPr>
          <p:cNvPr id="16" name="Text 13"/>
          <p:cNvSpPr txBox="1"/>
          <p:nvPr/>
        </p:nvSpPr>
        <p:spPr>
          <a:xfrm>
            <a:off x="7324049"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4"/>
          <p:cNvSpPr txBox="1"/>
          <p:nvPr/>
        </p:nvSpPr>
        <p:spPr>
          <a:xfrm>
            <a:off x="701670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1 decision</a:t>
            </a:r>
            <a:endParaRPr lang="en-US" sz="1600" dirty="0"/>
          </a:p>
        </p:txBody>
      </p:sp>
      <p:sp>
        <p:nvSpPr>
          <p:cNvPr id="18" name="Text 15"/>
          <p:cNvSpPr txBox="1"/>
          <p:nvPr/>
        </p:nvSpPr>
        <p:spPr>
          <a:xfrm>
            <a:off x="708071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in conflict with OAuth</a:t>
            </a:r>
            <a:endParaRPr lang="en-US" sz="1300" dirty="0"/>
          </a:p>
        </p:txBody>
      </p:sp>
      <p:sp>
        <p:nvSpPr>
          <p:cNvPr id="19" name="Shape 16"/>
          <p:cNvSpPr/>
          <p:nvPr/>
        </p:nvSpPr>
        <p:spPr>
          <a:xfrm>
            <a:off x="8601494" y="1965960"/>
            <a:ext cx="1383621" cy="3840480"/>
          </a:xfrm>
          <a:prstGeom prst="roundRect">
            <a:avLst>
              <a:gd name="adj" fmla="val 6609"/>
            </a:avLst>
          </a:prstGeom>
          <a:solidFill>
            <a:srgbClr val="F3F5F8"/>
          </a:solidFill>
          <a:ln w="9525">
            <a:solidFill>
              <a:srgbClr val="D6DCE4"/>
            </a:solidFill>
            <a:prstDash val="solid"/>
          </a:ln>
        </p:spPr>
      </p:sp>
      <p:sp>
        <p:nvSpPr>
          <p:cNvPr id="20" name="Shape 17"/>
          <p:cNvSpPr/>
          <p:nvPr/>
        </p:nvSpPr>
        <p:spPr>
          <a:xfrm>
            <a:off x="8981990" y="2423160"/>
            <a:ext cx="622629" cy="622629"/>
          </a:xfrm>
          <a:prstGeom prst="ellipse">
            <a:avLst/>
          </a:prstGeom>
          <a:solidFill>
            <a:srgbClr val="C44B2F"/>
          </a:solidFill>
          <a:ln w="12700">
            <a:solidFill>
              <a:srgbClr val="C44B2F"/>
            </a:solidFill>
            <a:prstDash val="solid"/>
          </a:ln>
        </p:spPr>
      </p:sp>
      <p:sp>
        <p:nvSpPr>
          <p:cNvPr id="21" name="Text 18"/>
          <p:cNvSpPr txBox="1"/>
          <p:nvPr/>
        </p:nvSpPr>
        <p:spPr>
          <a:xfrm>
            <a:off x="898199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19"/>
          <p:cNvSpPr txBox="1"/>
          <p:nvPr/>
        </p:nvSpPr>
        <p:spPr>
          <a:xfrm>
            <a:off x="8674646" y="3274389"/>
            <a:ext cx="1237317"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4 stories</a:t>
            </a:r>
            <a:endParaRPr lang="en-US" sz="1600" dirty="0"/>
          </a:p>
        </p:txBody>
      </p:sp>
      <p:sp>
        <p:nvSpPr>
          <p:cNvPr id="23" name="Text 20"/>
          <p:cNvSpPr txBox="1"/>
          <p:nvPr/>
        </p:nvSpPr>
        <p:spPr>
          <a:xfrm>
            <a:off x="8738654"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missing and now listed</a:t>
            </a:r>
            <a:endParaRPr lang="en-US" sz="1300" dirty="0"/>
          </a:p>
        </p:txBody>
      </p:sp>
      <p:sp>
        <p:nvSpPr>
          <p:cNvPr id="24" name="Shape 21"/>
          <p:cNvSpPr/>
          <p:nvPr/>
        </p:nvSpPr>
        <p:spPr>
          <a:xfrm>
            <a:off x="10259435" y="1965960"/>
            <a:ext cx="1383621" cy="3840480"/>
          </a:xfrm>
          <a:prstGeom prst="roundRect">
            <a:avLst>
              <a:gd name="adj" fmla="val 6609"/>
            </a:avLst>
          </a:prstGeom>
          <a:solidFill>
            <a:srgbClr val="F3F5F8"/>
          </a:solidFill>
          <a:ln w="9525">
            <a:solidFill>
              <a:srgbClr val="D6DCE4"/>
            </a:solidFill>
            <a:prstDash val="solid"/>
          </a:ln>
        </p:spPr>
      </p:sp>
      <p:sp>
        <p:nvSpPr>
          <p:cNvPr id="25" name="Shape 22"/>
          <p:cNvSpPr/>
          <p:nvPr/>
        </p:nvSpPr>
        <p:spPr>
          <a:xfrm>
            <a:off x="10639930" y="2423160"/>
            <a:ext cx="622629" cy="622629"/>
          </a:xfrm>
          <a:prstGeom prst="ellipse">
            <a:avLst/>
          </a:prstGeom>
          <a:solidFill>
            <a:srgbClr val="3B6BA8"/>
          </a:solidFill>
          <a:ln w="12700">
            <a:solidFill>
              <a:srgbClr val="3B6BA8"/>
            </a:solidFill>
            <a:prstDash val="solid"/>
          </a:ln>
        </p:spPr>
      </p:sp>
      <p:sp>
        <p:nvSpPr>
          <p:cNvPr id="26" name="Text 23"/>
          <p:cNvSpPr txBox="1"/>
          <p:nvPr/>
        </p:nvSpPr>
        <p:spPr>
          <a:xfrm>
            <a:off x="10639930" y="2423160"/>
            <a:ext cx="622629" cy="622629"/>
          </a:xfrm>
          <a:prstGeom prst="rect">
            <a:avLst/>
          </a:prstGeom>
          <a:noFill/>
          <a:ln/>
        </p:spPr>
        <p:txBody>
          <a:bodyPr wrap="square" lIns="0" tIns="0" rIns="0" bIns="0" rtlCol="0" anchor="ctr"/>
          <a:lstStyle/>
          <a:p>
            <a:pPr algn="ctr" indent="0" marL="0">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27" name="Text 24"/>
          <p:cNvSpPr txBox="1"/>
          <p:nvPr/>
        </p:nvSpPr>
        <p:spPr>
          <a:xfrm>
            <a:off x="10332587" y="3274389"/>
            <a:ext cx="1237317" cy="457200"/>
          </a:xfrm>
          <a:prstGeom prst="rect">
            <a:avLst/>
          </a:prstGeom>
          <a:noFill/>
          <a:ln/>
        </p:spPr>
        <p:txBody>
          <a:bodyPr wrap="square" lIns="0" tIns="0" rIns="0" bIns="0" rtlCol="0" anchor="t">
            <a:normAutofit/>
          </a:bodyPr>
          <a:lstStyle/>
          <a:p>
            <a:pPr algn="ctr" indent="0" marL="0">
              <a:buNone/>
            </a:pPr>
            <a:r>
              <a:rPr lang="en-US" sz="1400" b="1" dirty="0">
                <a:solidFill>
                  <a:srgbClr val="1F2933"/>
                </a:solidFill>
                <a:latin typeface="Arial" pitchFamily="34" charset="0"/>
                <a:ea typeface="Arial" pitchFamily="34" charset="-122"/>
                <a:cs typeface="Arial" pitchFamily="34" charset="-120"/>
              </a:rPr>
              <a:t>1 test plan</a:t>
            </a:r>
            <a:endParaRPr lang="en-US" sz="1400" dirty="0"/>
          </a:p>
        </p:txBody>
      </p:sp>
      <p:sp>
        <p:nvSpPr>
          <p:cNvPr id="28" name="Text 25"/>
          <p:cNvSpPr txBox="1"/>
          <p:nvPr/>
        </p:nvSpPr>
        <p:spPr>
          <a:xfrm>
            <a:off x="10396595" y="3777309"/>
            <a:ext cx="1109301" cy="1846251"/>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to revise first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10</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At every gate a person decides and an agent drafts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S21, S22, S15, S13, S14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10</a:t>
            </a:r>
            <a:endParaRPr lang="en-US" sz="1000" dirty="0"/>
          </a:p>
        </p:txBody>
      </p:sp>
      <p:sp>
        <p:nvSpPr>
          <p:cNvPr id="8" name="Shape 5"/>
          <p:cNvSpPr/>
          <p:nvPr/>
        </p:nvSpPr>
        <p:spPr>
          <a:xfrm>
            <a:off x="548640" y="1965960"/>
            <a:ext cx="5410048" cy="3108960"/>
          </a:xfrm>
          <a:prstGeom prst="roundRect">
            <a:avLst>
              <a:gd name="adj" fmla="val 2941"/>
            </a:avLst>
          </a:prstGeom>
          <a:solidFill>
            <a:srgbClr val="FFFFFF"/>
          </a:solidFill>
          <a:ln w="9525">
            <a:solidFill>
              <a:srgbClr val="D6DCE4"/>
            </a:solidFill>
            <a:prstDash val="solid"/>
          </a:ln>
        </p:spPr>
      </p:sp>
      <p:sp>
        <p:nvSpPr>
          <p:cNvPr id="9" name="Text 6"/>
          <p:cNvSpPr txBox="1"/>
          <p:nvPr/>
        </p:nvSpPr>
        <p:spPr>
          <a:xfrm>
            <a:off x="822960" y="2148840"/>
            <a:ext cx="4861408" cy="457200"/>
          </a:xfrm>
          <a:prstGeom prst="rect">
            <a:avLst/>
          </a:prstGeom>
          <a:noFill/>
          <a:ln/>
        </p:spPr>
        <p:txBody>
          <a:bodyPr wrap="square" lIns="0" tIns="0" rIns="0" bIns="0" rtlCol="0" anchor="t">
            <a:normAutofit/>
          </a:bodyPr>
          <a:lstStyle/>
          <a:p>
            <a:pPr algn="l" indent="0" marL="0">
              <a:buNone/>
            </a:pPr>
            <a:r>
              <a:rPr lang="en-US" sz="2000" b="1" dirty="0">
                <a:solidFill>
                  <a:srgbClr val="3B6BA8"/>
                </a:solidFill>
                <a:latin typeface="Georgia" pitchFamily="34" charset="0"/>
                <a:ea typeface="Georgia" pitchFamily="34" charset="-122"/>
                <a:cs typeface="Georgia" pitchFamily="34" charset="-120"/>
              </a:rPr>
              <a:t>People hold</a:t>
            </a:r>
            <a:endParaRPr lang="en-US" sz="2000" dirty="0"/>
          </a:p>
        </p:txBody>
      </p:sp>
      <p:sp>
        <p:nvSpPr>
          <p:cNvPr id="10" name="Shape 7"/>
          <p:cNvSpPr/>
          <p:nvPr/>
        </p:nvSpPr>
        <p:spPr>
          <a:xfrm>
            <a:off x="822960" y="2743200"/>
            <a:ext cx="292608" cy="292608"/>
          </a:xfrm>
          <a:prstGeom prst="ellipse">
            <a:avLst/>
          </a:prstGeom>
          <a:solidFill>
            <a:srgbClr val="3B6BA8"/>
          </a:solidFill>
          <a:ln w="12700">
            <a:solidFill>
              <a:srgbClr val="3B6BA8"/>
            </a:solidFill>
            <a:prstDash val="solid"/>
          </a:ln>
        </p:spPr>
      </p:sp>
      <p:sp>
        <p:nvSpPr>
          <p:cNvPr id="11" name="Text 8"/>
          <p:cNvSpPr txBox="1"/>
          <p:nvPr/>
        </p:nvSpPr>
        <p:spPr>
          <a:xfrm>
            <a:off x="822960" y="27432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12" name="Text 9"/>
          <p:cNvSpPr txBox="1"/>
          <p:nvPr/>
        </p:nvSpPr>
        <p:spPr>
          <a:xfrm>
            <a:off x="1280160" y="269748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What to build and which decision stands</a:t>
            </a:r>
            <a:endParaRPr lang="en-US" sz="1500" dirty="0"/>
          </a:p>
        </p:txBody>
      </p:sp>
      <p:sp>
        <p:nvSpPr>
          <p:cNvPr id="13" name="Shape 10"/>
          <p:cNvSpPr/>
          <p:nvPr/>
        </p:nvSpPr>
        <p:spPr>
          <a:xfrm>
            <a:off x="822960" y="3291840"/>
            <a:ext cx="292608" cy="292608"/>
          </a:xfrm>
          <a:prstGeom prst="ellipse">
            <a:avLst/>
          </a:prstGeom>
          <a:solidFill>
            <a:srgbClr val="3B6BA8"/>
          </a:solidFill>
          <a:ln w="12700">
            <a:solidFill>
              <a:srgbClr val="3B6BA8"/>
            </a:solidFill>
            <a:prstDash val="solid"/>
          </a:ln>
        </p:spPr>
      </p:sp>
      <p:sp>
        <p:nvSpPr>
          <p:cNvPr id="14" name="Text 11"/>
          <p:cNvSpPr txBox="1"/>
          <p:nvPr/>
        </p:nvSpPr>
        <p:spPr>
          <a:xfrm>
            <a:off x="822960" y="329184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15" name="Text 12"/>
          <p:cNvSpPr txBox="1"/>
          <p:nvPr/>
        </p:nvSpPr>
        <p:spPr>
          <a:xfrm>
            <a:off x="1280160" y="324612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Approval that turns a draft into authority</a:t>
            </a:r>
            <a:endParaRPr lang="en-US" sz="1500" dirty="0"/>
          </a:p>
        </p:txBody>
      </p:sp>
      <p:sp>
        <p:nvSpPr>
          <p:cNvPr id="16" name="Shape 13"/>
          <p:cNvSpPr/>
          <p:nvPr/>
        </p:nvSpPr>
        <p:spPr>
          <a:xfrm>
            <a:off x="822960" y="3840480"/>
            <a:ext cx="292608" cy="292608"/>
          </a:xfrm>
          <a:prstGeom prst="ellipse">
            <a:avLst/>
          </a:prstGeom>
          <a:solidFill>
            <a:srgbClr val="3B6BA8"/>
          </a:solidFill>
          <a:ln w="12700">
            <a:solidFill>
              <a:srgbClr val="3B6BA8"/>
            </a:solidFill>
            <a:prstDash val="solid"/>
          </a:ln>
        </p:spPr>
      </p:sp>
      <p:sp>
        <p:nvSpPr>
          <p:cNvPr id="17" name="Text 14"/>
          <p:cNvSpPr txBox="1"/>
          <p:nvPr/>
        </p:nvSpPr>
        <p:spPr>
          <a:xfrm>
            <a:off x="822960" y="3840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18" name="Text 15"/>
          <p:cNvSpPr txBox="1"/>
          <p:nvPr/>
        </p:nvSpPr>
        <p:spPr>
          <a:xfrm>
            <a:off x="1280160" y="379476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When the work is complete</a:t>
            </a:r>
            <a:endParaRPr lang="en-US" sz="1500" dirty="0"/>
          </a:p>
        </p:txBody>
      </p:sp>
      <p:sp>
        <p:nvSpPr>
          <p:cNvPr id="19" name="Shape 16"/>
          <p:cNvSpPr/>
          <p:nvPr/>
        </p:nvSpPr>
        <p:spPr>
          <a:xfrm>
            <a:off x="822960" y="4389120"/>
            <a:ext cx="292608" cy="292608"/>
          </a:xfrm>
          <a:prstGeom prst="ellipse">
            <a:avLst/>
          </a:prstGeom>
          <a:solidFill>
            <a:srgbClr val="3B6BA8"/>
          </a:solidFill>
          <a:ln w="12700">
            <a:solidFill>
              <a:srgbClr val="3B6BA8"/>
            </a:solidFill>
            <a:prstDash val="solid"/>
          </a:ln>
        </p:spPr>
      </p:sp>
      <p:sp>
        <p:nvSpPr>
          <p:cNvPr id="20" name="Text 17"/>
          <p:cNvSpPr txBox="1"/>
          <p:nvPr/>
        </p:nvSpPr>
        <p:spPr>
          <a:xfrm>
            <a:off x="822960" y="438912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t>
            </a:r>
            <a:endParaRPr lang="en-US" sz="1200" dirty="0"/>
          </a:p>
        </p:txBody>
      </p:sp>
      <p:sp>
        <p:nvSpPr>
          <p:cNvPr id="21" name="Text 18"/>
          <p:cNvSpPr txBox="1"/>
          <p:nvPr/>
        </p:nvSpPr>
        <p:spPr>
          <a:xfrm>
            <a:off x="1280160" y="434340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How much runs unasked, a three-position dial</a:t>
            </a:r>
            <a:endParaRPr lang="en-US" sz="1500" dirty="0"/>
          </a:p>
        </p:txBody>
      </p:sp>
      <p:sp>
        <p:nvSpPr>
          <p:cNvPr id="22" name="Shape 19"/>
          <p:cNvSpPr/>
          <p:nvPr/>
        </p:nvSpPr>
        <p:spPr>
          <a:xfrm>
            <a:off x="6233008" y="1965960"/>
            <a:ext cx="5410048" cy="3108960"/>
          </a:xfrm>
          <a:prstGeom prst="roundRect">
            <a:avLst>
              <a:gd name="adj" fmla="val 2941"/>
            </a:avLst>
          </a:prstGeom>
          <a:solidFill>
            <a:srgbClr val="F3F5F8"/>
          </a:solidFill>
          <a:ln w="9525">
            <a:solidFill>
              <a:srgbClr val="D6DCE4"/>
            </a:solidFill>
            <a:prstDash val="solid"/>
          </a:ln>
        </p:spPr>
      </p:sp>
      <p:sp>
        <p:nvSpPr>
          <p:cNvPr id="23" name="Text 20"/>
          <p:cNvSpPr txBox="1"/>
          <p:nvPr/>
        </p:nvSpPr>
        <p:spPr>
          <a:xfrm>
            <a:off x="6507328" y="2148840"/>
            <a:ext cx="4861408" cy="457200"/>
          </a:xfrm>
          <a:prstGeom prst="rect">
            <a:avLst/>
          </a:prstGeom>
          <a:noFill/>
          <a:ln/>
        </p:spPr>
        <p:txBody>
          <a:bodyPr wrap="square" lIns="0" tIns="0" rIns="0" bIns="0" rtlCol="0" anchor="t">
            <a:normAutofit/>
          </a:bodyPr>
          <a:lstStyle/>
          <a:p>
            <a:pPr algn="l" indent="0" marL="0">
              <a:buNone/>
            </a:pPr>
            <a:r>
              <a:rPr lang="en-US" sz="2000" b="1" dirty="0">
                <a:solidFill>
                  <a:srgbClr val="55606D"/>
                </a:solidFill>
                <a:latin typeface="Georgia" pitchFamily="34" charset="0"/>
                <a:ea typeface="Georgia" pitchFamily="34" charset="-122"/>
                <a:cs typeface="Georgia" pitchFamily="34" charset="-120"/>
              </a:rPr>
              <a:t>Agents hold</a:t>
            </a:r>
            <a:endParaRPr lang="en-US" sz="2000" dirty="0"/>
          </a:p>
        </p:txBody>
      </p:sp>
      <p:sp>
        <p:nvSpPr>
          <p:cNvPr id="24" name="Text 21"/>
          <p:cNvSpPr txBox="1"/>
          <p:nvPr/>
        </p:nvSpPr>
        <p:spPr>
          <a:xfrm>
            <a:off x="6507328" y="269748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Drafting every document in its template</a:t>
            </a:r>
            <a:endParaRPr lang="en-US" sz="1500" dirty="0"/>
          </a:p>
        </p:txBody>
      </p:sp>
      <p:sp>
        <p:nvSpPr>
          <p:cNvPr id="25" name="Text 22"/>
          <p:cNvSpPr txBox="1"/>
          <p:nvPr/>
        </p:nvSpPr>
        <p:spPr>
          <a:xfrm>
            <a:off x="6507328" y="324612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Checking each draft against the layer above</a:t>
            </a:r>
            <a:endParaRPr lang="en-US" sz="1500" dirty="0"/>
          </a:p>
        </p:txBody>
      </p:sp>
      <p:sp>
        <p:nvSpPr>
          <p:cNvPr id="26" name="Text 23"/>
          <p:cNvSpPr txBox="1"/>
          <p:nvPr/>
        </p:nvSpPr>
        <p:spPr>
          <a:xfrm>
            <a:off x="6507328" y="379476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Surfacing drift, contradictions, and gaps</a:t>
            </a:r>
            <a:endParaRPr lang="en-US" sz="1500" dirty="0"/>
          </a:p>
        </p:txBody>
      </p:sp>
      <p:sp>
        <p:nvSpPr>
          <p:cNvPr id="27" name="Text 24"/>
          <p:cNvSpPr txBox="1"/>
          <p:nvPr/>
        </p:nvSpPr>
        <p:spPr>
          <a:xfrm>
            <a:off x="6507328" y="434340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Stopping at the triggers and handing judgment back</a:t>
            </a:r>
            <a:endParaRPr lang="en-US" sz="1500" dirty="0"/>
          </a:p>
        </p:txBody>
      </p:sp>
      <p:sp>
        <p:nvSpPr>
          <p:cNvPr id="28" name="Text 25"/>
          <p:cNvSpPr txBox="1"/>
          <p:nvPr/>
        </p:nvSpPr>
        <p:spPr>
          <a:xfrm>
            <a:off x="548640" y="5257800"/>
            <a:ext cx="11094415" cy="548640"/>
          </a:xfrm>
          <a:prstGeom prst="rect">
            <a:avLst/>
          </a:prstGeom>
          <a:noFill/>
          <a:ln/>
        </p:spPr>
        <p:txBody>
          <a:bodyPr wrap="square" lIns="0" tIns="0" rIns="0" bIns="0" rtlCol="0" anchor="ctr">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Verdict: the hand-offs have owners and rules, never an implied one</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1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E07A5F"/>
          </a:solidFill>
          <a:ln w="12700">
            <a:solidFill>
              <a:srgbClr val="E07A5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11</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EEF2F7"/>
                </a:solidFill>
                <a:latin typeface="Georgia" pitchFamily="34" charset="0"/>
                <a:ea typeface="Georgia" pitchFamily="34" charset="-122"/>
                <a:cs typeface="Georgia" pitchFamily="34" charset="-120"/>
              </a:rPr>
              <a:t>Pilot HELIX for one quarter and count what each gate catches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B9C2CF"/>
                </a:solidFill>
                <a:latin typeface="Arial" pitchFamily="34" charset="0"/>
                <a:ea typeface="Arial" pitchFamily="34" charset="-122"/>
                <a:cs typeface="Arial" pitchFamily="34" charset="-120"/>
              </a:rPr>
              <a:t>Sources: S7, S18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B9C2CF"/>
                </a:solidFill>
                <a:latin typeface="Arial" pitchFamily="34" charset="0"/>
                <a:ea typeface="Arial" pitchFamily="34" charset="-122"/>
                <a:cs typeface="Arial" pitchFamily="34" charset="-120"/>
              </a:rPr>
              <a:t>11</a:t>
            </a:r>
            <a:endParaRPr lang="en-US" sz="1000" dirty="0"/>
          </a:p>
        </p:txBody>
      </p:sp>
      <p:sp>
        <p:nvSpPr>
          <p:cNvPr id="8" name="Shape 5"/>
          <p:cNvSpPr/>
          <p:nvPr/>
        </p:nvSpPr>
        <p:spPr>
          <a:xfrm>
            <a:off x="548640" y="1965960"/>
            <a:ext cx="11094415" cy="777240"/>
          </a:xfrm>
          <a:prstGeom prst="roundRect">
            <a:avLst>
              <a:gd name="adj" fmla="val 11765"/>
            </a:avLst>
          </a:prstGeom>
          <a:solidFill>
            <a:srgbClr val="E07A5F"/>
          </a:solidFill>
          <a:ln w="9525">
            <a:solidFill>
              <a:srgbClr val="E07A5F"/>
            </a:solidFill>
            <a:prstDash val="solid"/>
          </a:ln>
        </p:spPr>
      </p:sp>
      <p:sp>
        <p:nvSpPr>
          <p:cNvPr id="9" name="Text 6"/>
          <p:cNvSpPr txBox="1"/>
          <p:nvPr/>
        </p:nvSpPr>
        <p:spPr>
          <a:xfrm>
            <a:off x="822960" y="1965960"/>
            <a:ext cx="10545775" cy="777240"/>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rial" pitchFamily="34" charset="0"/>
                <a:ea typeface="Arial" pitchFamily="34" charset="-122"/>
                <a:cs typeface="Arial" pitchFamily="34" charset="-120"/>
              </a:rPr>
              <a:t>Pilot HELIX for one quarter and count what each gate catches</a:t>
            </a:r>
            <a:endParaRPr lang="en-US" sz="1800" dirty="0"/>
          </a:p>
        </p:txBody>
      </p:sp>
      <p:sp>
        <p:nvSpPr>
          <p:cNvPr id="10" name="Text 7"/>
          <p:cNvSpPr txBox="1"/>
          <p:nvPr/>
        </p:nvSpPr>
        <p:spPr>
          <a:xfrm>
            <a:off x="1188720" y="3017520"/>
            <a:ext cx="6664757"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Step</a:t>
            </a:r>
            <a:endParaRPr lang="en-US" sz="1200" dirty="0"/>
          </a:p>
        </p:txBody>
      </p:sp>
      <p:sp>
        <p:nvSpPr>
          <p:cNvPr id="11" name="Text 8"/>
          <p:cNvSpPr txBox="1"/>
          <p:nvPr/>
        </p:nvSpPr>
        <p:spPr>
          <a:xfrm>
            <a:off x="8127797"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Owner</a:t>
            </a:r>
            <a:endParaRPr lang="en-US" sz="1200" dirty="0"/>
          </a:p>
        </p:txBody>
      </p:sp>
      <p:sp>
        <p:nvSpPr>
          <p:cNvPr id="12" name="Text 9"/>
          <p:cNvSpPr txBox="1"/>
          <p:nvPr/>
        </p:nvSpPr>
        <p:spPr>
          <a:xfrm>
            <a:off x="10022586"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Date</a:t>
            </a:r>
            <a:endParaRPr lang="en-US" sz="1200" dirty="0"/>
          </a:p>
        </p:txBody>
      </p:sp>
      <p:sp>
        <p:nvSpPr>
          <p:cNvPr id="13" name="Shape 10"/>
          <p:cNvSpPr/>
          <p:nvPr/>
        </p:nvSpPr>
        <p:spPr>
          <a:xfrm>
            <a:off x="548640" y="3474720"/>
            <a:ext cx="411480" cy="411480"/>
          </a:xfrm>
          <a:prstGeom prst="ellipse">
            <a:avLst/>
          </a:prstGeom>
          <a:solidFill>
            <a:srgbClr val="E07A5F"/>
          </a:solidFill>
          <a:ln w="12700">
            <a:solidFill>
              <a:srgbClr val="E07A5F"/>
            </a:solidFill>
            <a:prstDash val="solid"/>
          </a:ln>
        </p:spPr>
      </p:sp>
      <p:sp>
        <p:nvSpPr>
          <p:cNvPr id="14" name="Text 11"/>
          <p:cNvSpPr txBox="1"/>
          <p:nvPr/>
        </p:nvSpPr>
        <p:spPr>
          <a:xfrm>
            <a:off x="548640" y="3474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5" name="Text 12"/>
          <p:cNvSpPr txBox="1"/>
          <p:nvPr/>
        </p:nvSpPr>
        <p:spPr>
          <a:xfrm>
            <a:off x="1188720" y="338328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Pick one active project with an agent already in the loop, by the end of this week</a:t>
            </a:r>
            <a:endParaRPr lang="en-US" sz="1500" dirty="0"/>
          </a:p>
        </p:txBody>
      </p:sp>
      <p:sp>
        <p:nvSpPr>
          <p:cNvPr id="16" name="Shape 13"/>
          <p:cNvSpPr/>
          <p:nvPr/>
        </p:nvSpPr>
        <p:spPr>
          <a:xfrm>
            <a:off x="8127797" y="3749040"/>
            <a:ext cx="1620469" cy="0"/>
          </a:xfrm>
          <a:prstGeom prst="line">
            <a:avLst/>
          </a:prstGeom>
          <a:noFill/>
          <a:ln w="9525">
            <a:solidFill>
              <a:srgbClr val="B9C2CF"/>
            </a:solidFill>
            <a:prstDash val="solid"/>
            <a:headEnd type="none"/>
            <a:tailEnd type="none"/>
          </a:ln>
        </p:spPr>
      </p:sp>
      <p:sp>
        <p:nvSpPr>
          <p:cNvPr id="17" name="Shape 14"/>
          <p:cNvSpPr/>
          <p:nvPr/>
        </p:nvSpPr>
        <p:spPr>
          <a:xfrm>
            <a:off x="10022586" y="3749040"/>
            <a:ext cx="1620469" cy="0"/>
          </a:xfrm>
          <a:prstGeom prst="line">
            <a:avLst/>
          </a:prstGeom>
          <a:noFill/>
          <a:ln w="9525">
            <a:solidFill>
              <a:srgbClr val="B9C2CF"/>
            </a:solidFill>
            <a:prstDash val="solid"/>
            <a:headEnd type="none"/>
            <a:tailEnd type="none"/>
          </a:ln>
        </p:spPr>
      </p:sp>
      <p:sp>
        <p:nvSpPr>
          <p:cNvPr id="18" name="Shape 15"/>
          <p:cNvSpPr/>
          <p:nvPr/>
        </p:nvSpPr>
        <p:spPr>
          <a:xfrm>
            <a:off x="548640" y="4069080"/>
            <a:ext cx="411480" cy="411480"/>
          </a:xfrm>
          <a:prstGeom prst="ellipse">
            <a:avLst/>
          </a:prstGeom>
          <a:solidFill>
            <a:srgbClr val="E07A5F"/>
          </a:solidFill>
          <a:ln w="12700">
            <a:solidFill>
              <a:srgbClr val="E07A5F"/>
            </a:solidFill>
            <a:prstDash val="solid"/>
          </a:ln>
        </p:spPr>
      </p:sp>
      <p:sp>
        <p:nvSpPr>
          <p:cNvPr id="19" name="Text 16"/>
          <p:cNvSpPr txBox="1"/>
          <p:nvPr/>
        </p:nvSpPr>
        <p:spPr>
          <a:xfrm>
            <a:off x="548640" y="40690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20" name="Text 17"/>
          <p:cNvSpPr txBox="1"/>
          <p:nvPr/>
        </p:nvSpPr>
        <p:spPr>
          <a:xfrm>
            <a:off x="1188720" y="397764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Adopt the templates and run one alignment check on its documents in the first sprint</a:t>
            </a:r>
            <a:endParaRPr lang="en-US" sz="1500" dirty="0"/>
          </a:p>
        </p:txBody>
      </p:sp>
      <p:sp>
        <p:nvSpPr>
          <p:cNvPr id="21" name="Shape 18"/>
          <p:cNvSpPr/>
          <p:nvPr/>
        </p:nvSpPr>
        <p:spPr>
          <a:xfrm>
            <a:off x="8127797" y="4343400"/>
            <a:ext cx="1620469" cy="0"/>
          </a:xfrm>
          <a:prstGeom prst="line">
            <a:avLst/>
          </a:prstGeom>
          <a:noFill/>
          <a:ln w="9525">
            <a:solidFill>
              <a:srgbClr val="B9C2CF"/>
            </a:solidFill>
            <a:prstDash val="solid"/>
            <a:headEnd type="none"/>
            <a:tailEnd type="none"/>
          </a:ln>
        </p:spPr>
      </p:sp>
      <p:sp>
        <p:nvSpPr>
          <p:cNvPr id="22" name="Shape 19"/>
          <p:cNvSpPr/>
          <p:nvPr/>
        </p:nvSpPr>
        <p:spPr>
          <a:xfrm>
            <a:off x="10022586" y="4343400"/>
            <a:ext cx="1620469" cy="0"/>
          </a:xfrm>
          <a:prstGeom prst="line">
            <a:avLst/>
          </a:prstGeom>
          <a:noFill/>
          <a:ln w="9525">
            <a:solidFill>
              <a:srgbClr val="B9C2CF"/>
            </a:solidFill>
            <a:prstDash val="solid"/>
            <a:headEnd type="none"/>
            <a:tailEnd type="none"/>
          </a:ln>
        </p:spPr>
      </p:sp>
      <p:sp>
        <p:nvSpPr>
          <p:cNvPr id="23" name="Shape 20"/>
          <p:cNvSpPr/>
          <p:nvPr/>
        </p:nvSpPr>
        <p:spPr>
          <a:xfrm>
            <a:off x="548640" y="4663440"/>
            <a:ext cx="411480" cy="411480"/>
          </a:xfrm>
          <a:prstGeom prst="ellipse">
            <a:avLst/>
          </a:prstGeom>
          <a:solidFill>
            <a:srgbClr val="E07A5F"/>
          </a:solidFill>
          <a:ln w="12700">
            <a:solidFill>
              <a:srgbClr val="E07A5F"/>
            </a:solidFill>
            <a:prstDash val="solid"/>
          </a:ln>
        </p:spPr>
      </p:sp>
      <p:sp>
        <p:nvSpPr>
          <p:cNvPr id="24" name="Text 21"/>
          <p:cNvSpPr txBox="1"/>
          <p:nvPr/>
        </p:nvSpPr>
        <p:spPr>
          <a:xfrm>
            <a:off x="548640" y="4663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5" name="Text 22"/>
          <p:cNvSpPr txBox="1"/>
          <p:nvPr/>
        </p:nvSpPr>
        <p:spPr>
          <a:xfrm>
            <a:off x="1188720" y="457200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Review the findings together after four weeks against the bar of under 3 findings per check</a:t>
            </a:r>
            <a:endParaRPr lang="en-US" sz="1500" dirty="0"/>
          </a:p>
        </p:txBody>
      </p:sp>
      <p:sp>
        <p:nvSpPr>
          <p:cNvPr id="26" name="Shape 23"/>
          <p:cNvSpPr/>
          <p:nvPr/>
        </p:nvSpPr>
        <p:spPr>
          <a:xfrm>
            <a:off x="8127797" y="4937760"/>
            <a:ext cx="1620469" cy="0"/>
          </a:xfrm>
          <a:prstGeom prst="line">
            <a:avLst/>
          </a:prstGeom>
          <a:noFill/>
          <a:ln w="9525">
            <a:solidFill>
              <a:srgbClr val="B9C2CF"/>
            </a:solidFill>
            <a:prstDash val="solid"/>
            <a:headEnd type="none"/>
            <a:tailEnd type="none"/>
          </a:ln>
        </p:spPr>
      </p:sp>
      <p:sp>
        <p:nvSpPr>
          <p:cNvPr id="27" name="Shape 24"/>
          <p:cNvSpPr/>
          <p:nvPr/>
        </p:nvSpPr>
        <p:spPr>
          <a:xfrm>
            <a:off x="10022586" y="4937760"/>
            <a:ext cx="1620469" cy="0"/>
          </a:xfrm>
          <a:prstGeom prst="line">
            <a:avLst/>
          </a:prstGeom>
          <a:noFill/>
          <a:ln w="9525">
            <a:solidFill>
              <a:srgbClr val="B9C2CF"/>
            </a:solidFill>
            <a:prstDash val="solid"/>
            <a:headEnd type="none"/>
            <a:tailEnd type="none"/>
          </a:ln>
        </p:spPr>
      </p:sp>
      <p:sp>
        <p:nvSpPr>
          <p:cNvPr id="28" name="Text 25"/>
          <p:cNvSpPr txBox="1"/>
          <p:nvPr/>
        </p:nvSpPr>
        <p:spPr>
          <a:xfrm>
            <a:off x="548640" y="5349240"/>
            <a:ext cx="11094415" cy="457200"/>
          </a:xfrm>
          <a:prstGeom prst="rect">
            <a:avLst/>
          </a:prstGeom>
          <a:noFill/>
          <a:ln/>
        </p:spPr>
        <p:txBody>
          <a:bodyPr wrap="square" lIns="0" tIns="0" rIns="0" bIns="0" rtlCol="0" anchor="b">
            <a:normAutofit/>
          </a:bodyPr>
          <a:lstStyle/>
          <a:p>
            <a:pPr algn="l" indent="0" marL="0">
              <a:buNone/>
            </a:pPr>
            <a:r>
              <a:rPr lang="en-US" sz="1300" dirty="0">
                <a:solidFill>
                  <a:srgbClr val="B9C2CF"/>
                </a:solidFill>
                <a:latin typeface="Arial" pitchFamily="34" charset="0"/>
                <a:ea typeface="Arial" pitchFamily="34" charset="-122"/>
                <a:cs typeface="Arial" pitchFamily="34" charset="-120"/>
              </a:rPr>
              <a:t>Without a trial the practice stays improvised and drift keeps surfacing in review</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 methodology and artifact catalog for AI-assisted teams: templates plus one skill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docs/helix/00-discover/product-vision.md#mission-statement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AI-assisted development went from novelty to default; most developers ship AI-touched code daily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docs/helix/00-discover/product-vision.md#why-now</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S3</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Three failure modes: artifact drift, inconsistent agent behavior, lossy session boundaries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docs/helix/01-frame/prd.md#problem</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S4</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Templates for 53 artifact types plus a single routing skill; no CLI, tracker, or execution loop</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docs/helix/01-frame/prd.md#summary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S5</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The seven activities, the artifact loop, and the authority hierarchy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workflows/README.md#activities, workflows/README.md#authority-hierarchy, workflows/artifact-hierarchy.md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S6</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Twenty-one routed modes in the routing table; alignment is the required mode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skills/helix/SKILL.md#routing-rules, docs/helix/01-frame/prd.md#goals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S7</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Four-step contract: write the brief, check alignment, plan the work, run it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docs/helix/01-frame/prd.md#core-workflow-contract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S8</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OAuth example: three specs and two designs affected, one decision in conflict, four stories missing</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docs/helix/00-discover/product-vision.md#user-experience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S9</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Concerns propagate practices downstream; the project's active concerns and slots; 50 concerns in the library</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workflows/README.md#cross-cutting-context, docs/helix/01-frame/concerns.md, workflows/concerns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S10</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Seven principles, from spec is the contract to deliverable over machinery, with tension resolution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workflows/principles.md#principles, docs/helix/01-frame/principles.md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S11</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Artifact honesty: phantom claims block; verification evidence comes from the running system</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docs/helix/01-frame/features/FEAT-016-artifact-honesty.md, workflows/concerns/verification/practices.md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S12</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Tests cite the criterion they cover; quality floors never slide back</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docs/helix/02-design/adr/ADR-009-acceptance-criteria-ownership.md, workflows/ratchets.md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S13</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Non-goals: no CLI, tracker, queue, or engine; no imposed technology; judgment stays with people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docs/helix/01-frame/prd.md#non-goals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S14</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Six install surfaces: DDx, Claude Code, Codex, Copilot, Databricks Genie, Grok Build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docs/helix/01-frame/features/FEAT-013-runtime-install-coverage.md, docs/install/README.md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S15</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Autonomy is a three-position spectrum with a hard-stop floor at every level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docs/helix/02-design/adr/ADR-003-autonomy-spectrum.md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S16</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Roadmap, iteration plan, status report; a client cut may subset but never contradict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docs/helix/01-frame/features/FEAT-017-iteration-documentation.md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S17</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Deliverables projected from governed artifacts, every number sourced, gated and inspected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workflows/modes/present.md, workflows/activities/06-iterate/artifacts/deliverable/meta.yml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S18</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Targets: &lt; 3 findings per run; 3 runtimes in 12 months; 50+ repos in 18 months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docs/helix/00-discover/product-vision.md#success-definition, docs/helix/01-frame/prd.md#success-metrics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S19</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Layers are the control: each layer governs the next; a change enters at the top layer it affects; rules live in a layer, not a prompt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workflows/principles.md#layers-are-the-control</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S20</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The hierarchy as control loop: authority flows down, concerns cross layers, gates sit between layers, humans hold the hand-offs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workflows/artifact-hierarchy.md#the-hierarchy-is-the-control-loop</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48640"/>
                <a:gridCol w="6538381"/>
                <a:gridCol w="400739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6692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S21</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Humans decide, agents draft: people own intent, judgment, approval; agents own drafting, checking, surfacing, recording; every hand-off has an owner and a rule</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workflows/principles.md#humans-decide-agents-draft</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749808">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S22</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Hand-off table: approval, autonomy level, stop triggers, escalation, surfaced judgment, and the rule behind each</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workflows/README.md#human-ai-collaboration, docs/helix/00-discover/product-vision.md#key-value-propositions</a:t>
                      </a:r>
                      <a:endParaRPr lang="en-US" sz="1200" dirty="0">
                        <a:latin typeface="Arial" charset="0"/>
                        <a:ea typeface="Arial" charset="0"/>
                        <a:cs typeface="Arial" charset="0"/>
                      </a:endParaRPr>
                    </a:p>
                  </a:txBody>
                  <a:tcPr marL="73152" marR="73152" marT="73152" marB="73152"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document discipline governs agent work from intent to release</dc:title>
  <dc:subject>PptxGenJS Presentation</dc:subject>
  <dc:creator>HELIX</dc:creator>
  <cp:lastModifiedBy>HELIX</cp:lastModifiedBy>
  <cp:revision>1</cp:revision>
  <dcterms:created xsi:type="dcterms:W3CDTF">2026-09-11T16:35:59Z</dcterms:created>
  <dcterms:modified xsi:type="dcterms:W3CDTF">2026-09-11T16:35:59Z</dcterms:modified>
</cp:coreProperties>
</file>