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takeaway once, then say the ask comes on the last slide and is one project for one quarter. Do not explain HELIX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change; do not argue it. This audience lives it. The vision's words are "AI-touched code daily", and that is the claim; the hollow third milestone is what the deck offers.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 modes the requirements document names. Each shows up late, in review or in production, which is why the cost is high. Ask which one the audience saw last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seven activities around the ring and say the templates rank: vision governs requirements, requirements govern designs, designs govern tests and code. The table of what each activity produces is in the appendix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team never invokes a HELIX command, because there is none. They invoke their agent, and the agent invokes the skill. The four spokes are the modes this audience will use first; the rest are in the appendix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mechanism, not a filing order. An agent may act only within what the layer above authorizes. On one OAuth change the vision's worked example starts with the security architecture, then the specs, then the stories, and no code moves until then; slide 9 shows the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 concerns in the library, each with practices keyed to the activity they apply in. Exclusive slots (one frontend framework, one runtime, one auth provider) are why two agents cannot make two different choices. The artifact-honesty rule closes the loop: a claim without evidence blocks.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discipline is not only for engineers. A client cut of a status report may subset the internal one but never contradict it. Say that this deck is the worked example: its script, its sources, and its inspection record are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that this is the worked example in the product vision, not a customer result; the trial in the ask is how the room gets its own number. Six documents: three feature specs, two solution designs, and the security architecture; the decision, the stories, and the test plan are on top. The order matters: the plan starts with the security architecture revision, then the specs, then the stories. The bar the product sets for itself, under 3 findings per check on a healthy project, is a target for a settled corpus, not for a first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strands of the helix share one loop with different jobs. Low autonomy asks before each step, medium pauses on ambiguity, high records assumptions and proceeds, and a hard floor of stop triggers holds at every level. Nothing here needs a new tool: no command-line tool, tracker, queue, or execution engine ships with HELIX, and it installs on six hosts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after the ask. The measure is accepted findings per check and their avoided review cost; more catches in a first quarter is the evidence of value. The product's own bar, under 3 findings per check, is a target for a settled corpus and comes later. If asked about cost, the trial needs one champion and no new tooling. Owners are roles; let the room put names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slideLayout" Target="../slideLayouts/slideLayout1.xml"/><Relationship Id="rId1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F"/>
        </a:solidFill>
      </p:bgPr>
    </p:bg>
    <p:spTree>
      <p:nvGrpSpPr>
        <p:cNvPr id="1" name=""/>
        <p:cNvGrpSpPr/>
        <p:nvPr/>
      </p:nvGrpSpPr>
      <p:grpSpPr>
        <a:xfrm>
          <a:off x="0" y="0"/>
          <a:ext cx="0" cy="0"/>
          <a:chOff x="0" y="0"/>
          <a:chExt cx="0" cy="0"/>
        </a:xfrm>
      </p:grpSpPr>
      <p:sp>
        <p:nvSpPr>
          <p:cNvPr id="2" name="Text 0"/>
          <p:cNvSpPr txBox="1"/>
          <p:nvPr/>
        </p:nvSpPr>
        <p:spPr>
          <a:xfrm>
            <a:off x="548640" y="1371600"/>
            <a:ext cx="7304837" cy="2286000"/>
          </a:xfrm>
          <a:prstGeom prst="rect">
            <a:avLst/>
          </a:prstGeom>
          <a:noFill/>
          <a:ln/>
        </p:spPr>
        <p:txBody>
          <a:bodyPr wrap="square" lIns="0" tIns="0" rIns="0" bIns="0" rtlCol="0" anchor="b">
            <a:normAutofit/>
          </a:bodyPr>
          <a:lstStyle/>
          <a:p>
            <a:pPr algn="l" indent="0" marL="0">
              <a:buNone/>
            </a:pPr>
            <a:r>
              <a:rPr lang="en-US" sz="3600" b="1" dirty="0">
                <a:solidFill>
                  <a:srgbClr val="EEF2F7"/>
                </a:solidFill>
                <a:latin typeface="Georgia" pitchFamily="34" charset="0"/>
                <a:ea typeface="Georgia" pitchFamily="34" charset="-122"/>
                <a:cs typeface="Georgia" pitchFamily="34" charset="-120"/>
              </a:rPr>
              <a:t>One discipline governs agent work from intent to release</a:t>
            </a:r>
            <a:endParaRPr lang="en-US" sz="3600" dirty="0"/>
          </a:p>
        </p:txBody>
      </p:sp>
      <p:sp>
        <p:nvSpPr>
          <p:cNvPr id="3" name="Text 1"/>
          <p:cNvSpPr txBox="1"/>
          <p:nvPr/>
        </p:nvSpPr>
        <p:spPr>
          <a:xfrm>
            <a:off x="548640" y="3840480"/>
            <a:ext cx="7304837" cy="914400"/>
          </a:xfrm>
          <a:prstGeom prst="rect">
            <a:avLst/>
          </a:prstGeom>
          <a:noFill/>
          <a:ln/>
        </p:spPr>
        <p:txBody>
          <a:bodyPr wrap="square" lIns="0" tIns="0" rIns="0" bIns="0" rtlCol="0" anchor="t">
            <a:normAutofit/>
          </a:bodyPr>
          <a:lstStyle/>
          <a:p>
            <a:pPr algn="l" indent="0" marL="0">
              <a:buNone/>
            </a:pPr>
            <a:r>
              <a:rPr lang="en-US" sz="2000" dirty="0">
                <a:solidFill>
                  <a:srgbClr val="B9C2CF"/>
                </a:solidFill>
                <a:latin typeface="Arial" pitchFamily="34" charset="0"/>
                <a:ea typeface="Arial" pitchFamily="34" charset="-122"/>
                <a:cs typeface="Arial" pitchFamily="34" charset="-120"/>
              </a:rPr>
              <a:t>An evaluation briefing for engineering leaders whose teams build with AI agents</a:t>
            </a:r>
            <a:endParaRPr lang="en-US" sz="2000" dirty="0"/>
          </a:p>
        </p:txBody>
      </p:sp>
      <p:sp>
        <p:nvSpPr>
          <p:cNvPr id="4" name="Text 2"/>
          <p:cNvSpPr txBox="1"/>
          <p:nvPr/>
        </p:nvSpPr>
        <p:spPr>
          <a:xfrm>
            <a:off x="548640" y="5669280"/>
            <a:ext cx="5486400" cy="320040"/>
          </a:xfrm>
          <a:prstGeom prst="rect">
            <a:avLst/>
          </a:prstGeom>
          <a:noFill/>
          <a:ln/>
        </p:spPr>
        <p:txBody>
          <a:bodyPr wrap="square" lIns="0" tIns="0" rIns="0" bIns="0" rtlCol="0" anchor="b">
            <a:normAutofit/>
          </a:bodyPr>
          <a:lstStyle/>
          <a:p>
            <a:pPr algn="l" indent="0" marL="0">
              <a:buNone/>
            </a:pPr>
            <a:r>
              <a:rPr lang="en-US" sz="1200" dirty="0">
                <a:solidFill>
                  <a:srgbClr val="B9C2CF"/>
                </a:solidFill>
                <a:latin typeface="Arial" pitchFamily="34" charset="0"/>
                <a:ea typeface="Arial" pitchFamily="34" charset="-122"/>
                <a:cs typeface="Arial" pitchFamily="34" charset="-120"/>
              </a:rPr>
              <a:t>September 2026</a:t>
            </a:r>
            <a:endParaRPr lang="en-US" sz="1200" dirty="0"/>
          </a:p>
        </p:txBody>
      </p:sp>
      <p:sp>
        <p:nvSpPr>
          <p:cNvPr id="5" name="Shape 3"/>
          <p:cNvSpPr/>
          <p:nvPr/>
        </p:nvSpPr>
        <p:spPr>
          <a:xfrm>
            <a:off x="8716975" y="1965960"/>
            <a:ext cx="2926080" cy="2926080"/>
          </a:xfrm>
          <a:prstGeom prst="ellipse">
            <a:avLst/>
          </a:prstGeom>
          <a:solidFill>
            <a:srgbClr val="14181F"/>
          </a:solidFill>
          <a:ln w="50800">
            <a:solidFill>
              <a:srgbClr val="E07A5F"/>
            </a:solidFill>
            <a:prstDash val="solid"/>
          </a:ln>
        </p:spPr>
      </p:sp>
      <p:pic>
        <p:nvPicPr>
          <p:cNvPr id="6" name="Image 0" descr="preencoded.png">    </p:cNvPr>
          <p:cNvPicPr>
            <a:picLocks noChangeAspect="1"/>
          </p:cNvPicPr>
          <p:nvPr/>
        </p:nvPicPr>
        <p:blipFill>
          <a:blip r:embed="rId1"/>
          <a:stretch>
            <a:fillRect/>
          </a:stretch>
        </p:blipFill>
        <p:spPr>
          <a:xfrm>
            <a:off x="9507017" y="2756002"/>
            <a:ext cx="1345997" cy="134599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Most developers ship</a:t>
            </a:r>
            <a:endParaRPr lang="en-US" sz="3600" dirty="0"/>
          </a:p>
          <a:p>
            <a:pPr algn="l" indent="0" marL="0">
              <a:buNone/>
            </a:pPr>
            <a:r>
              <a:rPr lang="en-US" sz="3600" b="1" dirty="0">
                <a:solidFill>
                  <a:srgbClr val="1F2933"/>
                </a:solidFill>
                <a:latin typeface="Georgia" pitchFamily="34" charset="0"/>
                <a:ea typeface="Georgia" pitchFamily="34" charset="-122"/>
                <a:cs typeface="Georgia" pitchFamily="34" charset="-120"/>
              </a:rPr>
              <a:t>agent-touched code every day</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S2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2</a:t>
            </a:r>
            <a:endParaRPr lang="en-US" sz="1000" dirty="0"/>
          </a:p>
        </p:txBody>
      </p:sp>
      <p:sp>
        <p:nvSpPr>
          <p:cNvPr id="8" name="Text 5"/>
          <p:cNvSpPr txBox="1"/>
          <p:nvPr/>
        </p:nvSpPr>
        <p:spPr>
          <a:xfrm>
            <a:off x="548640" y="1965960"/>
            <a:ext cx="3515258" cy="3840480"/>
          </a:xfrm>
          <a:prstGeom prst="rect">
            <a:avLst/>
          </a:prstGeom>
          <a:noFill/>
          <a:ln/>
        </p:spPr>
        <p:txBody>
          <a:bodyPr wrap="square" lIns="0" tIns="0" rIns="0" bIns="0" rtlCol="0" anchor="t"/>
          <a:lstStyle/>
          <a:p>
            <a:pPr marL="228600" indent="-228600">
              <a:spcAft>
                <a:spcPts val="960"/>
              </a:spcAft>
              <a:buSzPct val="100000"/>
              <a:buChar char="•"/>
            </a:pPr>
            <a:r>
              <a:rPr lang="en-US" sz="1600" dirty="0">
                <a:solidFill>
                  <a:srgbClr val="1F2933"/>
                </a:solidFill>
                <a:latin typeface="Arial" pitchFamily="34" charset="0"/>
                <a:ea typeface="Arial" pitchFamily="34" charset="-122"/>
                <a:cs typeface="Arial" pitchFamily="34" charset="-120"/>
              </a:rPr>
              <a:t>Most professional developers ship AI-touched code daily</a:t>
            </a:r>
            <a:endParaRPr lang="en-US" sz="1600" dirty="0"/>
          </a:p>
          <a:p>
            <a:pPr marL="228600" indent="-228600">
              <a:spcAft>
                <a:spcPts val="960"/>
              </a:spcAft>
              <a:buSzPct val="100000"/>
              <a:buChar char="•"/>
            </a:pPr>
            <a:r>
              <a:rPr lang="en-US" sz="1600" dirty="0">
                <a:solidFill>
                  <a:srgbClr val="1F2933"/>
                </a:solidFill>
                <a:latin typeface="Arial" pitchFamily="34" charset="0"/>
                <a:ea typeface="Arial" pitchFamily="34" charset="-122"/>
                <a:cs typeface="Arial" pitchFamily="34" charset="-120"/>
              </a:rPr>
              <a:t>The output is locally good and globally inconsistent</a:t>
            </a:r>
            <a:endParaRPr lang="en-US" sz="1600" dirty="0"/>
          </a:p>
          <a:p>
            <a:pPr marL="228600" indent="-228600">
              <a:spcAft>
                <a:spcPts val="960"/>
              </a:spcAft>
              <a:buSzPct val="100000"/>
              <a:buChar char="•"/>
            </a:pPr>
            <a:r>
              <a:rPr lang="en-US" sz="1600" dirty="0">
                <a:solidFill>
                  <a:srgbClr val="1F2933"/>
                </a:solidFill>
                <a:latin typeface="Arial" pitchFamily="34" charset="0"/>
                <a:ea typeface="Arial" pitchFamily="34" charset="-122"/>
                <a:cs typeface="Arial" pitchFamily="34" charset="-120"/>
              </a:rPr>
              <a:t>The document disciplines human teams built never reached the agents</a:t>
            </a:r>
            <a:endParaRPr lang="en-US" sz="1600" dirty="0"/>
          </a:p>
          <a:p>
            <a:pPr marL="228600" indent="-228600">
              <a:spcAft>
                <a:spcPts val="960"/>
              </a:spcAft>
              <a:buSzPct val="100000"/>
              <a:buChar char="•"/>
            </a:pPr>
            <a:r>
              <a:rPr lang="en-US" sz="1600" dirty="0">
                <a:solidFill>
                  <a:srgbClr val="1F2933"/>
                </a:solidFill>
                <a:latin typeface="Arial" pitchFamily="34" charset="0"/>
                <a:ea typeface="Arial" pitchFamily="34" charset="-122"/>
                <a:cs typeface="Arial" pitchFamily="34" charset="-120"/>
              </a:rPr>
              <a:t>Every practice era gets its equivalent of test-driven development</a:t>
            </a:r>
            <a:endParaRPr lang="en-US" sz="1600" dirty="0"/>
          </a:p>
        </p:txBody>
      </p:sp>
      <p:sp>
        <p:nvSpPr>
          <p:cNvPr id="9" name="Shape 6"/>
          <p:cNvSpPr/>
          <p:nvPr/>
        </p:nvSpPr>
        <p:spPr>
          <a:xfrm>
            <a:off x="4886858" y="3502152"/>
            <a:ext cx="3103778" cy="0"/>
          </a:xfrm>
          <a:prstGeom prst="line">
            <a:avLst/>
          </a:prstGeom>
          <a:noFill/>
          <a:ln w="38100">
            <a:solidFill>
              <a:srgbClr val="D6DCE4"/>
            </a:solidFill>
            <a:prstDash val="solid"/>
            <a:headEnd type="none"/>
            <a:tailEnd type="none"/>
          </a:ln>
        </p:spPr>
      </p:sp>
      <p:sp>
        <p:nvSpPr>
          <p:cNvPr id="10" name="Shape 7"/>
          <p:cNvSpPr/>
          <p:nvPr/>
        </p:nvSpPr>
        <p:spPr>
          <a:xfrm>
            <a:off x="7990637" y="3502152"/>
            <a:ext cx="3103778" cy="0"/>
          </a:xfrm>
          <a:prstGeom prst="line">
            <a:avLst/>
          </a:prstGeom>
          <a:noFill/>
          <a:ln w="38100">
            <a:solidFill>
              <a:srgbClr val="55606D"/>
            </a:solidFill>
            <a:prstDash val="dash"/>
            <a:headEnd type="none"/>
            <a:tailEnd type="none"/>
          </a:ln>
        </p:spPr>
      </p:sp>
      <p:sp>
        <p:nvSpPr>
          <p:cNvPr id="11" name="Shape 8"/>
          <p:cNvSpPr/>
          <p:nvPr/>
        </p:nvSpPr>
        <p:spPr>
          <a:xfrm>
            <a:off x="4749698" y="3364992"/>
            <a:ext cx="274320" cy="274320"/>
          </a:xfrm>
          <a:prstGeom prst="ellipse">
            <a:avLst/>
          </a:prstGeom>
          <a:solidFill>
            <a:srgbClr val="3B6BA8"/>
          </a:solidFill>
          <a:ln w="12700">
            <a:solidFill>
              <a:srgbClr val="3B6BA8"/>
            </a:solidFill>
            <a:prstDash val="solid"/>
          </a:ln>
        </p:spPr>
      </p:sp>
      <p:sp>
        <p:nvSpPr>
          <p:cNvPr id="12" name="Text 9"/>
          <p:cNvSpPr txBox="1"/>
          <p:nvPr/>
        </p:nvSpPr>
        <p:spPr>
          <a:xfrm>
            <a:off x="4338218" y="2633472"/>
            <a:ext cx="3012338" cy="640080"/>
          </a:xfrm>
          <a:prstGeom prst="rect">
            <a:avLst/>
          </a:prstGeom>
          <a:noFill/>
          <a:ln/>
        </p:spPr>
        <p:txBody>
          <a:bodyPr wrap="square" lIns="0" tIns="0" rIns="0" bIns="0" rtlCol="0" anchor="b">
            <a:normAutofit/>
          </a:bodyPr>
          <a:lstStyle/>
          <a:p>
            <a:pPr algn="ctr" indent="0" marL="0">
              <a:buNone/>
            </a:pPr>
            <a:r>
              <a:rPr lang="en-US" sz="1400" dirty="0">
                <a:solidFill>
                  <a:srgbClr val="1F2933"/>
                </a:solidFill>
                <a:latin typeface="Arial" pitchFamily="34" charset="0"/>
                <a:ea typeface="Arial" pitchFamily="34" charset="-122"/>
                <a:cs typeface="Arial" pitchFamily="34" charset="-120"/>
              </a:rPr>
              <a:t>agents as novelty</a:t>
            </a:r>
            <a:endParaRPr lang="en-US" sz="1400" dirty="0"/>
          </a:p>
        </p:txBody>
      </p:sp>
      <p:sp>
        <p:nvSpPr>
          <p:cNvPr id="13" name="Shape 10"/>
          <p:cNvSpPr/>
          <p:nvPr/>
        </p:nvSpPr>
        <p:spPr>
          <a:xfrm>
            <a:off x="7853477" y="3364992"/>
            <a:ext cx="274320" cy="274320"/>
          </a:xfrm>
          <a:prstGeom prst="ellipse">
            <a:avLst/>
          </a:prstGeom>
          <a:solidFill>
            <a:srgbClr val="C44B2F"/>
          </a:solidFill>
          <a:ln w="12700">
            <a:solidFill>
              <a:srgbClr val="C44B2F"/>
            </a:solidFill>
            <a:prstDash val="solid"/>
          </a:ln>
        </p:spPr>
      </p:sp>
      <p:sp>
        <p:nvSpPr>
          <p:cNvPr id="14" name="Text 11"/>
          <p:cNvSpPr txBox="1"/>
          <p:nvPr/>
        </p:nvSpPr>
        <p:spPr>
          <a:xfrm>
            <a:off x="6484468" y="3730752"/>
            <a:ext cx="3012338" cy="640080"/>
          </a:xfrm>
          <a:prstGeom prst="rect">
            <a:avLst/>
          </a:prstGeom>
          <a:noFill/>
          <a:ln/>
        </p:spPr>
        <p:txBody>
          <a:bodyPr wrap="square" lIns="0" tIns="0" rIns="0" bIns="0" rtlCol="0" anchor="t">
            <a:normAutofit/>
          </a:bodyPr>
          <a:lstStyle/>
          <a:p>
            <a:pPr algn="ctr" indent="0" marL="0">
              <a:buNone/>
            </a:pPr>
            <a:r>
              <a:rPr lang="en-US" sz="1400" b="1" dirty="0">
                <a:solidFill>
                  <a:srgbClr val="C44B2F"/>
                </a:solidFill>
                <a:latin typeface="Arial" pitchFamily="34" charset="0"/>
                <a:ea typeface="Arial" pitchFamily="34" charset="-122"/>
                <a:cs typeface="Arial" pitchFamily="34" charset="-120"/>
              </a:rPr>
              <a:t>agents as default practice</a:t>
            </a:r>
            <a:endParaRPr lang="en-US" sz="1400" dirty="0"/>
          </a:p>
        </p:txBody>
      </p:sp>
      <p:sp>
        <p:nvSpPr>
          <p:cNvPr id="15" name="Shape 12"/>
          <p:cNvSpPr/>
          <p:nvPr/>
        </p:nvSpPr>
        <p:spPr>
          <a:xfrm>
            <a:off x="10957255" y="3364992"/>
            <a:ext cx="274320" cy="274320"/>
          </a:xfrm>
          <a:prstGeom prst="ellipse">
            <a:avLst/>
          </a:prstGeom>
          <a:solidFill>
            <a:srgbClr val="FFFFFF"/>
          </a:solidFill>
          <a:ln w="25400">
            <a:solidFill>
              <a:srgbClr val="C44B2F"/>
            </a:solidFill>
            <a:prstDash val="dash"/>
          </a:ln>
        </p:spPr>
      </p:sp>
      <p:sp>
        <p:nvSpPr>
          <p:cNvPr id="16" name="Text 13"/>
          <p:cNvSpPr txBox="1"/>
          <p:nvPr/>
        </p:nvSpPr>
        <p:spPr>
          <a:xfrm>
            <a:off x="8630717" y="2633472"/>
            <a:ext cx="3012338" cy="640080"/>
          </a:xfrm>
          <a:prstGeom prst="rect">
            <a:avLst/>
          </a:prstGeom>
          <a:noFill/>
          <a:ln/>
        </p:spPr>
        <p:txBody>
          <a:bodyPr wrap="square" lIns="0" tIns="0" rIns="0" bIns="0" rtlCol="0" anchor="b">
            <a:normAutofit/>
          </a:bodyPr>
          <a:lstStyle/>
          <a:p>
            <a:pPr algn="ctr" indent="0" marL="0">
              <a:buNone/>
            </a:pPr>
            <a:r>
              <a:rPr lang="en-US" sz="1400" b="1" dirty="0">
                <a:solidFill>
                  <a:srgbClr val="C44B2F"/>
                </a:solidFill>
                <a:latin typeface="Arial" pitchFamily="34" charset="0"/>
                <a:ea typeface="Arial" pitchFamily="34" charset="-122"/>
                <a:cs typeface="Arial" pitchFamily="34" charset="-120"/>
              </a:rPr>
              <a:t>a shared practice for agents</a:t>
            </a:r>
            <a:endParaRPr lang="en-US" sz="1400" dirty="0"/>
          </a:p>
        </p:txBody>
      </p:sp>
      <p:sp>
        <p:nvSpPr>
          <p:cNvPr id="17" name="Shape 14"/>
          <p:cNvSpPr/>
          <p:nvPr/>
        </p:nvSpPr>
        <p:spPr>
          <a:xfrm>
            <a:off x="11094415" y="4370832"/>
            <a:ext cx="0" cy="274320"/>
          </a:xfrm>
          <a:prstGeom prst="line">
            <a:avLst/>
          </a:prstGeom>
          <a:noFill/>
          <a:ln w="25400">
            <a:solidFill>
              <a:srgbClr val="C44B2F"/>
            </a:solidFill>
            <a:prstDash val="dash"/>
            <a:headEnd type="none"/>
            <a:tailEnd type="none"/>
          </a:ln>
        </p:spPr>
      </p:sp>
      <p:sp>
        <p:nvSpPr>
          <p:cNvPr id="18" name="Text 15"/>
          <p:cNvSpPr txBox="1"/>
          <p:nvPr/>
        </p:nvSpPr>
        <p:spPr>
          <a:xfrm>
            <a:off x="7899197" y="4690872"/>
            <a:ext cx="3743858" cy="457200"/>
          </a:xfrm>
          <a:prstGeom prst="rect">
            <a:avLst/>
          </a:prstGeom>
          <a:noFill/>
          <a:ln/>
        </p:spPr>
        <p:txBody>
          <a:bodyPr wrap="square" lIns="0" tIns="0" rIns="0" bIns="0" rtlCol="0" anchor="t">
            <a:normAutofit/>
          </a:bodyPr>
          <a:lstStyle/>
          <a:p>
            <a:pPr algn="ctr" indent="0" marL="0">
              <a:buNone/>
            </a:pPr>
            <a:r>
              <a:rPr lang="en-US" sz="1300" b="1" dirty="0">
                <a:solidFill>
                  <a:srgbClr val="C44B2F"/>
                </a:solidFill>
                <a:latin typeface="Arial" pitchFamily="34" charset="0"/>
                <a:ea typeface="Arial" pitchFamily="34" charset="-122"/>
                <a:cs typeface="Arial" pitchFamily="34" charset="-120"/>
              </a:rPr>
              <a:t>not yet</a:t>
            </a:r>
            <a:endParaRPr lang="en-US" sz="1300" dirty="0"/>
          </a:p>
        </p:txBody>
      </p:sp>
      <p:sp>
        <p:nvSpPr>
          <p:cNvPr id="19" name="Text 16"/>
          <p:cNvSpPr txBox="1"/>
          <p:nvPr/>
        </p:nvSpPr>
        <p:spPr>
          <a:xfrm>
            <a:off x="4521098" y="5303520"/>
            <a:ext cx="6939077" cy="457200"/>
          </a:xfrm>
          <a:prstGeom prst="rect">
            <a:avLst/>
          </a:prstGeom>
          <a:noFill/>
          <a:ln/>
        </p:spPr>
        <p:txBody>
          <a:bodyPr wrap="square" lIns="0" tIns="0" rIns="0" bIns="0" rtlCol="0" anchor="b">
            <a:normAutofit/>
          </a:bodyPr>
          <a:lstStyle/>
          <a:p>
            <a:pPr algn="ctr" indent="0" marL="0">
              <a:buNone/>
            </a:pPr>
            <a:r>
              <a:rPr lang="en-US" sz="1200" dirty="0">
                <a:solidFill>
                  <a:srgbClr val="55606D"/>
                </a:solidFill>
                <a:latin typeface="Arial" pitchFamily="34" charset="0"/>
                <a:ea typeface="Arial" pitchFamily="34" charset="-122"/>
                <a:cs typeface="Arial" pitchFamily="34" charset="-120"/>
              </a:rPr>
              <a:t>agent-touched code became the default before any discipline caught up</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Agent code drifts</a:t>
            </a:r>
            <a:endParaRPr lang="en-US" sz="3600" dirty="0"/>
          </a:p>
          <a:p>
            <a:pPr algn="l" indent="0" marL="0">
              <a:buNone/>
            </a:pPr>
            <a:r>
              <a:rPr lang="en-US" sz="3600" b="1" dirty="0">
                <a:solidFill>
                  <a:srgbClr val="1F2933"/>
                </a:solidFill>
                <a:latin typeface="Georgia" pitchFamily="34" charset="0"/>
                <a:ea typeface="Georgia" pitchFamily="34" charset="-122"/>
                <a:cs typeface="Georgia" pitchFamily="34" charset="-120"/>
              </a:rPr>
              <a:t>without a shared practice</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S3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3</a:t>
            </a:r>
            <a:endParaRPr lang="en-US" sz="1000" dirty="0"/>
          </a:p>
        </p:txBody>
      </p:sp>
      <p:sp>
        <p:nvSpPr>
          <p:cNvPr id="8" name="Text 5"/>
          <p:cNvSpPr txBox="1"/>
          <p:nvPr/>
        </p:nvSpPr>
        <p:spPr>
          <a:xfrm>
            <a:off x="7180402" y="1965960"/>
            <a:ext cx="4462653"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Drift surfaces in review, after the work, so each catch costs a rewrite</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A contradiction with a recorded decision surfaces in production, where it costs an incident</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A cold start costs the reviews nobody remembered to run</a:t>
            </a:r>
            <a:endParaRPr lang="en-US" sz="1800" dirty="0"/>
          </a:p>
        </p:txBody>
      </p:sp>
      <p:sp>
        <p:nvSpPr>
          <p:cNvPr id="9" name="Shape 6"/>
          <p:cNvSpPr/>
          <p:nvPr/>
        </p:nvSpPr>
        <p:spPr>
          <a:xfrm>
            <a:off x="548640" y="2307540"/>
            <a:ext cx="1936267" cy="3157320"/>
          </a:xfrm>
          <a:prstGeom prst="roundRect">
            <a:avLst>
              <a:gd name="adj" fmla="val 4722"/>
            </a:avLst>
          </a:prstGeom>
          <a:solidFill>
            <a:srgbClr val="F3F5F8"/>
          </a:solidFill>
          <a:ln w="9525">
            <a:solidFill>
              <a:srgbClr val="D6DCE4"/>
            </a:solidFill>
            <a:prstDash val="solid"/>
          </a:ln>
        </p:spPr>
      </p:sp>
      <p:sp>
        <p:nvSpPr>
          <p:cNvPr id="10" name="Shape 7"/>
          <p:cNvSpPr/>
          <p:nvPr/>
        </p:nvSpPr>
        <p:spPr>
          <a:xfrm>
            <a:off x="1081114" y="2764740"/>
            <a:ext cx="871320" cy="871320"/>
          </a:xfrm>
          <a:prstGeom prst="ellipse">
            <a:avLst/>
          </a:prstGeom>
          <a:solidFill>
            <a:srgbClr val="3B6BA8"/>
          </a:solidFill>
          <a:ln w="12700">
            <a:solidFill>
              <a:srgbClr val="3B6BA8"/>
            </a:solidFill>
            <a:prstDash val="solid"/>
          </a:ln>
        </p:spPr>
      </p:sp>
      <p:pic>
        <p:nvPicPr>
          <p:cNvPr id="11" name="Image 0" descr="preencoded.png">    </p:cNvPr>
          <p:cNvPicPr>
            <a:picLocks noChangeAspect="1"/>
          </p:cNvPicPr>
          <p:nvPr/>
        </p:nvPicPr>
        <p:blipFill>
          <a:blip r:embed="rId1"/>
          <a:stretch>
            <a:fillRect/>
          </a:stretch>
        </p:blipFill>
        <p:spPr>
          <a:xfrm>
            <a:off x="1255378" y="2939004"/>
            <a:ext cx="522792" cy="522792"/>
          </a:xfrm>
          <a:prstGeom prst="rect">
            <a:avLst/>
          </a:prstGeom>
        </p:spPr>
      </p:pic>
      <p:sp>
        <p:nvSpPr>
          <p:cNvPr id="12" name="Text 8"/>
          <p:cNvSpPr txBox="1"/>
          <p:nvPr/>
        </p:nvSpPr>
        <p:spPr>
          <a:xfrm>
            <a:off x="621792" y="3864660"/>
            <a:ext cx="1789963"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Drift</a:t>
            </a:r>
            <a:endParaRPr lang="en-US" sz="1600" dirty="0"/>
          </a:p>
        </p:txBody>
      </p:sp>
      <p:sp>
        <p:nvSpPr>
          <p:cNvPr id="13" name="Text 9"/>
          <p:cNvSpPr txBox="1"/>
          <p:nvPr/>
        </p:nvSpPr>
        <p:spPr>
          <a:xfrm>
            <a:off x="685800" y="4413300"/>
            <a:ext cx="1661947" cy="68580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specs and code diverge between sessions</a:t>
            </a:r>
            <a:endParaRPr lang="en-US" sz="1300" dirty="0"/>
          </a:p>
        </p:txBody>
      </p:sp>
      <p:sp>
        <p:nvSpPr>
          <p:cNvPr id="14" name="Shape 10"/>
          <p:cNvSpPr/>
          <p:nvPr/>
        </p:nvSpPr>
        <p:spPr>
          <a:xfrm>
            <a:off x="2759227" y="2307540"/>
            <a:ext cx="1936267" cy="3157320"/>
          </a:xfrm>
          <a:prstGeom prst="roundRect">
            <a:avLst>
              <a:gd name="adj" fmla="val 4722"/>
            </a:avLst>
          </a:prstGeom>
          <a:solidFill>
            <a:srgbClr val="F3F5F8"/>
          </a:solidFill>
          <a:ln w="9525">
            <a:solidFill>
              <a:srgbClr val="D6DCE4"/>
            </a:solidFill>
            <a:prstDash val="solid"/>
          </a:ln>
        </p:spPr>
      </p:sp>
      <p:sp>
        <p:nvSpPr>
          <p:cNvPr id="15" name="Shape 11"/>
          <p:cNvSpPr/>
          <p:nvPr/>
        </p:nvSpPr>
        <p:spPr>
          <a:xfrm>
            <a:off x="3291701" y="2764740"/>
            <a:ext cx="871320" cy="871320"/>
          </a:xfrm>
          <a:prstGeom prst="ellipse">
            <a:avLst/>
          </a:prstGeom>
          <a:solidFill>
            <a:srgbClr val="3B6BA8"/>
          </a:solidFill>
          <a:ln w="12700">
            <a:solidFill>
              <a:srgbClr val="3B6BA8"/>
            </a:solidFill>
            <a:prstDash val="solid"/>
          </a:ln>
        </p:spPr>
      </p:sp>
      <p:pic>
        <p:nvPicPr>
          <p:cNvPr id="16" name="Image 1" descr="preencoded.png">    </p:cNvPr>
          <p:cNvPicPr>
            <a:picLocks noChangeAspect="1"/>
          </p:cNvPicPr>
          <p:nvPr/>
        </p:nvPicPr>
        <p:blipFill>
          <a:blip r:embed="rId2"/>
          <a:stretch>
            <a:fillRect/>
          </a:stretch>
        </p:blipFill>
        <p:spPr>
          <a:xfrm>
            <a:off x="3465965" y="2939004"/>
            <a:ext cx="522792" cy="522792"/>
          </a:xfrm>
          <a:prstGeom prst="rect">
            <a:avLst/>
          </a:prstGeom>
        </p:spPr>
      </p:pic>
      <p:sp>
        <p:nvSpPr>
          <p:cNvPr id="17" name="Text 12"/>
          <p:cNvSpPr txBox="1"/>
          <p:nvPr/>
        </p:nvSpPr>
        <p:spPr>
          <a:xfrm>
            <a:off x="2832379" y="3864660"/>
            <a:ext cx="1789963"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Contradiction</a:t>
            </a:r>
            <a:endParaRPr lang="en-US" sz="1600" dirty="0"/>
          </a:p>
        </p:txBody>
      </p:sp>
      <p:sp>
        <p:nvSpPr>
          <p:cNvPr id="18" name="Text 13"/>
          <p:cNvSpPr txBox="1"/>
          <p:nvPr/>
        </p:nvSpPr>
        <p:spPr>
          <a:xfrm>
            <a:off x="2896387" y="4413300"/>
            <a:ext cx="1661947" cy="68580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a design ignores an earlier decision</a:t>
            </a:r>
            <a:endParaRPr lang="en-US" sz="1300" dirty="0"/>
          </a:p>
        </p:txBody>
      </p:sp>
      <p:sp>
        <p:nvSpPr>
          <p:cNvPr id="19" name="Shape 14"/>
          <p:cNvSpPr/>
          <p:nvPr/>
        </p:nvSpPr>
        <p:spPr>
          <a:xfrm>
            <a:off x="4969815" y="2307540"/>
            <a:ext cx="1936267" cy="3157320"/>
          </a:xfrm>
          <a:prstGeom prst="roundRect">
            <a:avLst>
              <a:gd name="adj" fmla="val 4722"/>
            </a:avLst>
          </a:prstGeom>
          <a:solidFill>
            <a:srgbClr val="F3F5F8"/>
          </a:solidFill>
          <a:ln w="9525">
            <a:solidFill>
              <a:srgbClr val="D6DCE4"/>
            </a:solidFill>
            <a:prstDash val="solid"/>
          </a:ln>
        </p:spPr>
      </p:sp>
      <p:sp>
        <p:nvSpPr>
          <p:cNvPr id="20" name="Shape 15"/>
          <p:cNvSpPr/>
          <p:nvPr/>
        </p:nvSpPr>
        <p:spPr>
          <a:xfrm>
            <a:off x="5502288" y="2764740"/>
            <a:ext cx="871320" cy="871320"/>
          </a:xfrm>
          <a:prstGeom prst="ellipse">
            <a:avLst/>
          </a:prstGeom>
          <a:solidFill>
            <a:srgbClr val="3B6BA8"/>
          </a:solidFill>
          <a:ln w="12700">
            <a:solidFill>
              <a:srgbClr val="3B6BA8"/>
            </a:solidFill>
            <a:prstDash val="solid"/>
          </a:ln>
        </p:spPr>
      </p:sp>
      <p:pic>
        <p:nvPicPr>
          <p:cNvPr id="21" name="Image 2" descr="preencoded.png">    </p:cNvPr>
          <p:cNvPicPr>
            <a:picLocks noChangeAspect="1"/>
          </p:cNvPicPr>
          <p:nvPr/>
        </p:nvPicPr>
        <p:blipFill>
          <a:blip r:embed="rId3"/>
          <a:stretch>
            <a:fillRect/>
          </a:stretch>
        </p:blipFill>
        <p:spPr>
          <a:xfrm>
            <a:off x="5676552" y="2939004"/>
            <a:ext cx="522792" cy="522792"/>
          </a:xfrm>
          <a:prstGeom prst="rect">
            <a:avLst/>
          </a:prstGeom>
        </p:spPr>
      </p:pic>
      <p:sp>
        <p:nvSpPr>
          <p:cNvPr id="22" name="Text 16"/>
          <p:cNvSpPr txBox="1"/>
          <p:nvPr/>
        </p:nvSpPr>
        <p:spPr>
          <a:xfrm>
            <a:off x="5042967" y="3864660"/>
            <a:ext cx="1789963"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Cold start</a:t>
            </a:r>
            <a:endParaRPr lang="en-US" sz="1600" dirty="0"/>
          </a:p>
        </p:txBody>
      </p:sp>
      <p:sp>
        <p:nvSpPr>
          <p:cNvPr id="23" name="Text 17"/>
          <p:cNvSpPr txBox="1"/>
          <p:nvPr/>
        </p:nvSpPr>
        <p:spPr>
          <a:xfrm>
            <a:off x="5106975" y="4413300"/>
            <a:ext cx="1661947" cy="68580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every session starts from zero</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HELIX is the shared practice,</a:t>
            </a:r>
            <a:endParaRPr lang="en-US" sz="3600" dirty="0"/>
          </a:p>
          <a:p>
            <a:pPr algn="l" indent="0" marL="0">
              <a:buNone/>
            </a:pPr>
            <a:r>
              <a:rPr lang="en-US" sz="3600" b="1" dirty="0">
                <a:solidFill>
                  <a:srgbClr val="1F2933"/>
                </a:solidFill>
                <a:latin typeface="Georgia" pitchFamily="34" charset="0"/>
                <a:ea typeface="Georgia" pitchFamily="34" charset="-122"/>
                <a:cs typeface="Georgia" pitchFamily="34" charset="-120"/>
              </a:rPr>
              <a:t>built from templates</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S4, S5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4</a:t>
            </a:r>
            <a:endParaRPr lang="en-US" sz="1000" dirty="0"/>
          </a:p>
        </p:txBody>
      </p:sp>
      <p:sp>
        <p:nvSpPr>
          <p:cNvPr id="8" name="guide ring"/>
          <p:cNvSpPr/>
          <p:nvPr/>
        </p:nvSpPr>
        <p:spPr>
          <a:xfrm>
            <a:off x="3725266" y="2286000"/>
            <a:ext cx="4741164" cy="2788920"/>
          </a:xfrm>
          <a:prstGeom prst="ellipse">
            <a:avLst/>
          </a:prstGeom>
          <a:ln w="25400">
            <a:solidFill>
              <a:srgbClr val="D6DCE4"/>
            </a:solidFill>
            <a:prstDash val="solid"/>
          </a:ln>
        </p:spPr>
      </p:sp>
      <p:sp>
        <p:nvSpPr>
          <p:cNvPr id="9" name="Text 6"/>
          <p:cNvSpPr txBox="1"/>
          <p:nvPr/>
        </p:nvSpPr>
        <p:spPr>
          <a:xfrm>
            <a:off x="4891126" y="3223260"/>
            <a:ext cx="2409444" cy="914400"/>
          </a:xfrm>
          <a:prstGeom prst="rect">
            <a:avLst/>
          </a:prstGeom>
          <a:noFill/>
          <a:ln/>
        </p:spPr>
        <p:txBody>
          <a:bodyPr wrap="square" lIns="0" tIns="0" rIns="0" bIns="0" rtlCol="0" anchor="ctr">
            <a:normAutofit/>
          </a:bodyPr>
          <a:lstStyle/>
          <a:p>
            <a:pPr algn="ctr" indent="0" marL="0">
              <a:buNone/>
            </a:pPr>
            <a:r>
              <a:rPr lang="en-US" sz="2200" b="1" dirty="0">
                <a:solidFill>
                  <a:srgbClr val="3B6BA8"/>
                </a:solidFill>
                <a:latin typeface="Georgia" pitchFamily="34" charset="0"/>
                <a:ea typeface="Georgia" pitchFamily="34" charset="-122"/>
                <a:cs typeface="Georgia" pitchFamily="34" charset="-120"/>
              </a:rPr>
              <a:t>53 templates</a:t>
            </a:r>
            <a:endParaRPr lang="en-US" sz="2200" dirty="0"/>
          </a:p>
        </p:txBody>
      </p:sp>
      <p:sp>
        <p:nvSpPr>
          <p:cNvPr id="10" name="Shape 7"/>
          <p:cNvSpPr/>
          <p:nvPr/>
        </p:nvSpPr>
        <p:spPr>
          <a:xfrm>
            <a:off x="5295748" y="2011680"/>
            <a:ext cx="1600200" cy="548640"/>
          </a:xfrm>
          <a:prstGeom prst="roundRect">
            <a:avLst>
              <a:gd name="adj" fmla="val 50000"/>
            </a:avLst>
          </a:prstGeom>
          <a:solidFill>
            <a:srgbClr val="3B6BA8"/>
          </a:solidFill>
          <a:ln w="9525">
            <a:solidFill>
              <a:srgbClr val="3B6BA8"/>
            </a:solidFill>
            <a:prstDash val="solid"/>
          </a:ln>
        </p:spPr>
      </p:sp>
      <p:pic>
        <p:nvPicPr>
          <p:cNvPr id="11" name="Image 0" descr="preencoded.png">    </p:cNvPr>
          <p:cNvPicPr>
            <a:picLocks noChangeAspect="1"/>
          </p:cNvPicPr>
          <p:nvPr/>
        </p:nvPicPr>
        <p:blipFill>
          <a:blip r:embed="rId1"/>
          <a:stretch>
            <a:fillRect/>
          </a:stretch>
        </p:blipFill>
        <p:spPr>
          <a:xfrm>
            <a:off x="5460340" y="2121408"/>
            <a:ext cx="329184" cy="329184"/>
          </a:xfrm>
          <a:prstGeom prst="rect">
            <a:avLst/>
          </a:prstGeom>
        </p:spPr>
      </p:pic>
      <p:sp>
        <p:nvSpPr>
          <p:cNvPr id="12" name="Text 8"/>
          <p:cNvSpPr txBox="1"/>
          <p:nvPr/>
        </p:nvSpPr>
        <p:spPr>
          <a:xfrm>
            <a:off x="5880964" y="2057400"/>
            <a:ext cx="877824" cy="45720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rial" pitchFamily="34" charset="0"/>
                <a:ea typeface="Arial" pitchFamily="34" charset="-122"/>
                <a:cs typeface="Arial" pitchFamily="34" charset="-120"/>
              </a:rPr>
              <a:t>Discover</a:t>
            </a:r>
            <a:endParaRPr lang="en-US" sz="1400" dirty="0"/>
          </a:p>
        </p:txBody>
      </p:sp>
      <p:pic>
        <p:nvPicPr>
          <p:cNvPr id="13" name="guide arrow" descr="preencoded.png">    </p:cNvPr>
          <p:cNvPicPr>
            <a:picLocks noChangeAspect="1"/>
          </p:cNvPicPr>
          <p:nvPr/>
        </p:nvPicPr>
        <p:blipFill>
          <a:blip r:embed="rId2"/>
          <a:stretch>
            <a:fillRect/>
          </a:stretch>
        </p:blipFill>
        <p:spPr>
          <a:xfrm rot="1560000">
            <a:off x="6968957" y="2268647"/>
            <a:ext cx="310896" cy="310896"/>
          </a:xfrm>
          <a:prstGeom prst="rect">
            <a:avLst/>
          </a:prstGeom>
        </p:spPr>
      </p:pic>
      <p:sp>
        <p:nvSpPr>
          <p:cNvPr id="14" name="Shape 9"/>
          <p:cNvSpPr/>
          <p:nvPr/>
        </p:nvSpPr>
        <p:spPr>
          <a:xfrm>
            <a:off x="7149143" y="2536708"/>
            <a:ext cx="1600200" cy="548640"/>
          </a:xfrm>
          <a:prstGeom prst="roundRect">
            <a:avLst>
              <a:gd name="adj" fmla="val 50000"/>
            </a:avLst>
          </a:prstGeom>
          <a:solidFill>
            <a:srgbClr val="3B6BA8"/>
          </a:solidFill>
          <a:ln w="9525">
            <a:solidFill>
              <a:srgbClr val="3B6BA8"/>
            </a:solidFill>
            <a:prstDash val="solid"/>
          </a:ln>
        </p:spPr>
      </p:sp>
      <p:pic>
        <p:nvPicPr>
          <p:cNvPr id="15" name="Image 2" descr="preencoded.png">    </p:cNvPr>
          <p:cNvPicPr>
            <a:picLocks noChangeAspect="1"/>
          </p:cNvPicPr>
          <p:nvPr/>
        </p:nvPicPr>
        <p:blipFill>
          <a:blip r:embed="rId3"/>
          <a:stretch>
            <a:fillRect/>
          </a:stretch>
        </p:blipFill>
        <p:spPr>
          <a:xfrm>
            <a:off x="7313735" y="2646436"/>
            <a:ext cx="329184" cy="329184"/>
          </a:xfrm>
          <a:prstGeom prst="rect">
            <a:avLst/>
          </a:prstGeom>
        </p:spPr>
      </p:pic>
      <p:sp>
        <p:nvSpPr>
          <p:cNvPr id="16" name="Text 10"/>
          <p:cNvSpPr txBox="1"/>
          <p:nvPr/>
        </p:nvSpPr>
        <p:spPr>
          <a:xfrm>
            <a:off x="7734359" y="2582428"/>
            <a:ext cx="877824" cy="45720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rial" pitchFamily="34" charset="0"/>
                <a:ea typeface="Arial" pitchFamily="34" charset="-122"/>
                <a:cs typeface="Arial" pitchFamily="34" charset="-120"/>
              </a:rPr>
              <a:t>Frame</a:t>
            </a:r>
            <a:endParaRPr lang="en-US" sz="1400" dirty="0"/>
          </a:p>
        </p:txBody>
      </p:sp>
      <p:pic>
        <p:nvPicPr>
          <p:cNvPr id="17" name="guide arrow" descr="preencoded.png">    </p:cNvPr>
          <p:cNvPicPr>
            <a:picLocks noChangeAspect="1"/>
          </p:cNvPicPr>
          <p:nvPr/>
        </p:nvPicPr>
        <p:blipFill>
          <a:blip r:embed="rId4"/>
          <a:stretch>
            <a:fillRect/>
          </a:stretch>
        </p:blipFill>
        <p:spPr>
          <a:xfrm rot="4620000">
            <a:off x="8251546" y="3214715"/>
            <a:ext cx="310896" cy="310896"/>
          </a:xfrm>
          <a:prstGeom prst="rect">
            <a:avLst/>
          </a:prstGeom>
        </p:spPr>
      </p:pic>
      <p:sp>
        <p:nvSpPr>
          <p:cNvPr id="18" name="Shape 11"/>
          <p:cNvSpPr/>
          <p:nvPr/>
        </p:nvSpPr>
        <p:spPr>
          <a:xfrm>
            <a:off x="7606894" y="3716437"/>
            <a:ext cx="1600200" cy="548640"/>
          </a:xfrm>
          <a:prstGeom prst="roundRect">
            <a:avLst>
              <a:gd name="adj" fmla="val 50000"/>
            </a:avLst>
          </a:prstGeom>
          <a:solidFill>
            <a:srgbClr val="3B6BA8"/>
          </a:solidFill>
          <a:ln w="9525">
            <a:solidFill>
              <a:srgbClr val="3B6BA8"/>
            </a:solidFill>
            <a:prstDash val="solid"/>
          </a:ln>
        </p:spPr>
      </p:sp>
      <p:pic>
        <p:nvPicPr>
          <p:cNvPr id="19" name="Image 4" descr="preencoded.png">    </p:cNvPr>
          <p:cNvPicPr>
            <a:picLocks noChangeAspect="1"/>
          </p:cNvPicPr>
          <p:nvPr/>
        </p:nvPicPr>
        <p:blipFill>
          <a:blip r:embed="rId5"/>
          <a:stretch>
            <a:fillRect/>
          </a:stretch>
        </p:blipFill>
        <p:spPr>
          <a:xfrm>
            <a:off x="7771486" y="3826165"/>
            <a:ext cx="329184" cy="329184"/>
          </a:xfrm>
          <a:prstGeom prst="rect">
            <a:avLst/>
          </a:prstGeom>
        </p:spPr>
      </p:pic>
      <p:sp>
        <p:nvSpPr>
          <p:cNvPr id="20" name="Text 12"/>
          <p:cNvSpPr txBox="1"/>
          <p:nvPr/>
        </p:nvSpPr>
        <p:spPr>
          <a:xfrm>
            <a:off x="8192110" y="3762157"/>
            <a:ext cx="877824" cy="45720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rial" pitchFamily="34" charset="0"/>
                <a:ea typeface="Arial" pitchFamily="34" charset="-122"/>
                <a:cs typeface="Arial" pitchFamily="34" charset="-120"/>
              </a:rPr>
              <a:t>Design</a:t>
            </a:r>
            <a:endParaRPr lang="en-US" sz="1400" dirty="0"/>
          </a:p>
        </p:txBody>
      </p:sp>
      <p:pic>
        <p:nvPicPr>
          <p:cNvPr id="21" name="guide arrow" descr="preencoded.png">    </p:cNvPr>
          <p:cNvPicPr>
            <a:picLocks noChangeAspect="1"/>
          </p:cNvPicPr>
          <p:nvPr/>
        </p:nvPicPr>
        <p:blipFill>
          <a:blip r:embed="rId6"/>
          <a:stretch>
            <a:fillRect/>
          </a:stretch>
        </p:blipFill>
        <p:spPr>
          <a:xfrm rot="7740000">
            <a:off x="7793795" y="4394444"/>
            <a:ext cx="310896" cy="310896"/>
          </a:xfrm>
          <a:prstGeom prst="rect">
            <a:avLst/>
          </a:prstGeom>
        </p:spPr>
      </p:pic>
      <p:sp>
        <p:nvSpPr>
          <p:cNvPr id="22" name="Shape 13"/>
          <p:cNvSpPr/>
          <p:nvPr/>
        </p:nvSpPr>
        <p:spPr>
          <a:xfrm>
            <a:off x="6324305" y="4662505"/>
            <a:ext cx="1600200" cy="548640"/>
          </a:xfrm>
          <a:prstGeom prst="roundRect">
            <a:avLst>
              <a:gd name="adj" fmla="val 50000"/>
            </a:avLst>
          </a:prstGeom>
          <a:solidFill>
            <a:srgbClr val="3B6BA8"/>
          </a:solidFill>
          <a:ln w="9525">
            <a:solidFill>
              <a:srgbClr val="3B6BA8"/>
            </a:solidFill>
            <a:prstDash val="solid"/>
          </a:ln>
        </p:spPr>
      </p:sp>
      <p:pic>
        <p:nvPicPr>
          <p:cNvPr id="23" name="Image 6" descr="preencoded.png">    </p:cNvPr>
          <p:cNvPicPr>
            <a:picLocks noChangeAspect="1"/>
          </p:cNvPicPr>
          <p:nvPr/>
        </p:nvPicPr>
        <p:blipFill>
          <a:blip r:embed="rId7"/>
          <a:stretch>
            <a:fillRect/>
          </a:stretch>
        </p:blipFill>
        <p:spPr>
          <a:xfrm>
            <a:off x="6488897" y="4772233"/>
            <a:ext cx="329184" cy="329184"/>
          </a:xfrm>
          <a:prstGeom prst="rect">
            <a:avLst/>
          </a:prstGeom>
        </p:spPr>
      </p:pic>
      <p:sp>
        <p:nvSpPr>
          <p:cNvPr id="24" name="Text 14"/>
          <p:cNvSpPr txBox="1"/>
          <p:nvPr/>
        </p:nvSpPr>
        <p:spPr>
          <a:xfrm>
            <a:off x="6909521" y="4708225"/>
            <a:ext cx="877824" cy="45720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rial" pitchFamily="34" charset="0"/>
                <a:ea typeface="Arial" pitchFamily="34" charset="-122"/>
                <a:cs typeface="Arial" pitchFamily="34" charset="-120"/>
              </a:rPr>
              <a:t>Test</a:t>
            </a:r>
            <a:endParaRPr lang="en-US" sz="1400" dirty="0"/>
          </a:p>
        </p:txBody>
      </p:sp>
      <p:pic>
        <p:nvPicPr>
          <p:cNvPr id="25" name="guide arrow" descr="preencoded.png">    </p:cNvPr>
          <p:cNvPicPr>
            <a:picLocks noChangeAspect="1"/>
          </p:cNvPicPr>
          <p:nvPr/>
        </p:nvPicPr>
        <p:blipFill>
          <a:blip r:embed="rId8"/>
          <a:stretch>
            <a:fillRect/>
          </a:stretch>
        </p:blipFill>
        <p:spPr>
          <a:xfrm rot="10800000">
            <a:off x="5940400" y="4919472"/>
            <a:ext cx="310896" cy="310896"/>
          </a:xfrm>
          <a:prstGeom prst="rect">
            <a:avLst/>
          </a:prstGeom>
        </p:spPr>
      </p:pic>
      <p:sp>
        <p:nvSpPr>
          <p:cNvPr id="26" name="Shape 15"/>
          <p:cNvSpPr/>
          <p:nvPr/>
        </p:nvSpPr>
        <p:spPr>
          <a:xfrm>
            <a:off x="4267191" y="4662505"/>
            <a:ext cx="1600200" cy="548640"/>
          </a:xfrm>
          <a:prstGeom prst="roundRect">
            <a:avLst>
              <a:gd name="adj" fmla="val 50000"/>
            </a:avLst>
          </a:prstGeom>
          <a:solidFill>
            <a:srgbClr val="3B6BA8"/>
          </a:solidFill>
          <a:ln w="9525">
            <a:solidFill>
              <a:srgbClr val="3B6BA8"/>
            </a:solidFill>
            <a:prstDash val="solid"/>
          </a:ln>
        </p:spPr>
      </p:sp>
      <p:pic>
        <p:nvPicPr>
          <p:cNvPr id="27" name="Image 8" descr="preencoded.png">    </p:cNvPr>
          <p:cNvPicPr>
            <a:picLocks noChangeAspect="1"/>
          </p:cNvPicPr>
          <p:nvPr/>
        </p:nvPicPr>
        <p:blipFill>
          <a:blip r:embed="rId9"/>
          <a:stretch>
            <a:fillRect/>
          </a:stretch>
        </p:blipFill>
        <p:spPr>
          <a:xfrm>
            <a:off x="4431783" y="4772233"/>
            <a:ext cx="329184" cy="329184"/>
          </a:xfrm>
          <a:prstGeom prst="rect">
            <a:avLst/>
          </a:prstGeom>
        </p:spPr>
      </p:pic>
      <p:sp>
        <p:nvSpPr>
          <p:cNvPr id="28" name="Text 16"/>
          <p:cNvSpPr txBox="1"/>
          <p:nvPr/>
        </p:nvSpPr>
        <p:spPr>
          <a:xfrm>
            <a:off x="4852407" y="4708225"/>
            <a:ext cx="877824" cy="45720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rial" pitchFamily="34" charset="0"/>
                <a:ea typeface="Arial" pitchFamily="34" charset="-122"/>
                <a:cs typeface="Arial" pitchFamily="34" charset="-120"/>
              </a:rPr>
              <a:t>Build</a:t>
            </a:r>
            <a:endParaRPr lang="en-US" sz="1400" dirty="0"/>
          </a:p>
        </p:txBody>
      </p:sp>
      <p:pic>
        <p:nvPicPr>
          <p:cNvPr id="29" name="guide arrow" descr="preencoded.png">    </p:cNvPr>
          <p:cNvPicPr>
            <a:picLocks noChangeAspect="1"/>
          </p:cNvPicPr>
          <p:nvPr/>
        </p:nvPicPr>
        <p:blipFill>
          <a:blip r:embed="rId10"/>
          <a:stretch>
            <a:fillRect/>
          </a:stretch>
        </p:blipFill>
        <p:spPr>
          <a:xfrm rot="13860000">
            <a:off x="4087004" y="4394444"/>
            <a:ext cx="310896" cy="310896"/>
          </a:xfrm>
          <a:prstGeom prst="rect">
            <a:avLst/>
          </a:prstGeom>
        </p:spPr>
      </p:pic>
      <p:sp>
        <p:nvSpPr>
          <p:cNvPr id="30" name="Shape 17"/>
          <p:cNvSpPr/>
          <p:nvPr/>
        </p:nvSpPr>
        <p:spPr>
          <a:xfrm>
            <a:off x="2984601" y="3716437"/>
            <a:ext cx="1600200" cy="548640"/>
          </a:xfrm>
          <a:prstGeom prst="roundRect">
            <a:avLst>
              <a:gd name="adj" fmla="val 50000"/>
            </a:avLst>
          </a:prstGeom>
          <a:solidFill>
            <a:srgbClr val="3B6BA8"/>
          </a:solidFill>
          <a:ln w="9525">
            <a:solidFill>
              <a:srgbClr val="3B6BA8"/>
            </a:solidFill>
            <a:prstDash val="solid"/>
          </a:ln>
        </p:spPr>
      </p:sp>
      <p:pic>
        <p:nvPicPr>
          <p:cNvPr id="31" name="Image 10" descr="preencoded.png">    </p:cNvPr>
          <p:cNvPicPr>
            <a:picLocks noChangeAspect="1"/>
          </p:cNvPicPr>
          <p:nvPr/>
        </p:nvPicPr>
        <p:blipFill>
          <a:blip r:embed="rId11"/>
          <a:stretch>
            <a:fillRect/>
          </a:stretch>
        </p:blipFill>
        <p:spPr>
          <a:xfrm>
            <a:off x="3149193" y="3826165"/>
            <a:ext cx="329184" cy="329184"/>
          </a:xfrm>
          <a:prstGeom prst="rect">
            <a:avLst/>
          </a:prstGeom>
        </p:spPr>
      </p:pic>
      <p:sp>
        <p:nvSpPr>
          <p:cNvPr id="32" name="Text 18"/>
          <p:cNvSpPr txBox="1"/>
          <p:nvPr/>
        </p:nvSpPr>
        <p:spPr>
          <a:xfrm>
            <a:off x="3569817" y="3762157"/>
            <a:ext cx="877824" cy="45720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rial" pitchFamily="34" charset="0"/>
                <a:ea typeface="Arial" pitchFamily="34" charset="-122"/>
                <a:cs typeface="Arial" pitchFamily="34" charset="-120"/>
              </a:rPr>
              <a:t>Deploy</a:t>
            </a:r>
            <a:endParaRPr lang="en-US" sz="1400" dirty="0"/>
          </a:p>
        </p:txBody>
      </p:sp>
      <p:pic>
        <p:nvPicPr>
          <p:cNvPr id="33" name="guide arrow" descr="preencoded.png">    </p:cNvPr>
          <p:cNvPicPr>
            <a:picLocks noChangeAspect="1"/>
          </p:cNvPicPr>
          <p:nvPr/>
        </p:nvPicPr>
        <p:blipFill>
          <a:blip r:embed="rId12"/>
          <a:stretch>
            <a:fillRect/>
          </a:stretch>
        </p:blipFill>
        <p:spPr>
          <a:xfrm rot="16980000">
            <a:off x="3629253" y="3214715"/>
            <a:ext cx="310896" cy="310896"/>
          </a:xfrm>
          <a:prstGeom prst="rect">
            <a:avLst/>
          </a:prstGeom>
        </p:spPr>
      </p:pic>
      <p:sp>
        <p:nvSpPr>
          <p:cNvPr id="34" name="Shape 19"/>
          <p:cNvSpPr/>
          <p:nvPr/>
        </p:nvSpPr>
        <p:spPr>
          <a:xfrm>
            <a:off x="3442352" y="2536708"/>
            <a:ext cx="1600200" cy="548640"/>
          </a:xfrm>
          <a:prstGeom prst="roundRect">
            <a:avLst>
              <a:gd name="adj" fmla="val 50000"/>
            </a:avLst>
          </a:prstGeom>
          <a:solidFill>
            <a:srgbClr val="3B6BA8"/>
          </a:solidFill>
          <a:ln w="9525">
            <a:solidFill>
              <a:srgbClr val="3B6BA8"/>
            </a:solidFill>
            <a:prstDash val="solid"/>
          </a:ln>
        </p:spPr>
      </p:sp>
      <p:pic>
        <p:nvPicPr>
          <p:cNvPr id="35" name="Image 12" descr="preencoded.png">    </p:cNvPr>
          <p:cNvPicPr>
            <a:picLocks noChangeAspect="1"/>
          </p:cNvPicPr>
          <p:nvPr/>
        </p:nvPicPr>
        <p:blipFill>
          <a:blip r:embed="rId13"/>
          <a:stretch>
            <a:fillRect/>
          </a:stretch>
        </p:blipFill>
        <p:spPr>
          <a:xfrm>
            <a:off x="3606944" y="2646436"/>
            <a:ext cx="329184" cy="329184"/>
          </a:xfrm>
          <a:prstGeom prst="rect">
            <a:avLst/>
          </a:prstGeom>
        </p:spPr>
      </p:pic>
      <p:sp>
        <p:nvSpPr>
          <p:cNvPr id="36" name="Text 20"/>
          <p:cNvSpPr txBox="1"/>
          <p:nvPr/>
        </p:nvSpPr>
        <p:spPr>
          <a:xfrm>
            <a:off x="4027568" y="2582428"/>
            <a:ext cx="877824" cy="45720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rial" pitchFamily="34" charset="0"/>
                <a:ea typeface="Arial" pitchFamily="34" charset="-122"/>
                <a:cs typeface="Arial" pitchFamily="34" charset="-120"/>
              </a:rPr>
              <a:t>Iterate</a:t>
            </a:r>
            <a:endParaRPr lang="en-US" sz="1400" dirty="0"/>
          </a:p>
        </p:txBody>
      </p:sp>
      <p:pic>
        <p:nvPicPr>
          <p:cNvPr id="37" name="guide arrow" descr="preencoded.png">    </p:cNvPr>
          <p:cNvPicPr>
            <a:picLocks noChangeAspect="1"/>
          </p:cNvPicPr>
          <p:nvPr/>
        </p:nvPicPr>
        <p:blipFill>
          <a:blip r:embed="rId14"/>
          <a:stretch>
            <a:fillRect/>
          </a:stretch>
        </p:blipFill>
        <p:spPr>
          <a:xfrm rot="20040000">
            <a:off x="4911843" y="2268647"/>
            <a:ext cx="310896" cy="310896"/>
          </a:xfrm>
          <a:prstGeom prst="rect">
            <a:avLst/>
          </a:prstGeom>
        </p:spPr>
      </p:pic>
      <p:sp>
        <p:nvSpPr>
          <p:cNvPr id="38" name="Text 21"/>
          <p:cNvSpPr txBox="1"/>
          <p:nvPr/>
        </p:nvSpPr>
        <p:spPr>
          <a:xfrm>
            <a:off x="548640" y="5440680"/>
            <a:ext cx="11094415" cy="365760"/>
          </a:xfrm>
          <a:prstGeom prst="rect">
            <a:avLst/>
          </a:prstGeom>
          <a:noFill/>
          <a:ln/>
        </p:spPr>
        <p:txBody>
          <a:bodyPr wrap="square" lIns="0" tIns="0" rIns="0" bIns="0" rtlCol="0" anchor="b">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a method you adopt one template at a time, with no platform to join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One skill reads the templates</a:t>
            </a:r>
            <a:endParaRPr lang="en-US" sz="3600" dirty="0"/>
          </a:p>
          <a:p>
            <a:pPr algn="l" indent="0" marL="0">
              <a:buNone/>
            </a:pPr>
            <a:r>
              <a:rPr lang="en-US" sz="3600" b="1" dirty="0">
                <a:solidFill>
                  <a:srgbClr val="1F2933"/>
                </a:solidFill>
                <a:latin typeface="Georgia" pitchFamily="34" charset="0"/>
                <a:ea typeface="Georgia" pitchFamily="34" charset="-122"/>
                <a:cs typeface="Georgia" pitchFamily="34" charset="-120"/>
              </a:rPr>
              <a:t>and routes each request</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S4, S6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5</a:t>
            </a:r>
            <a:endParaRPr lang="en-US" sz="1000" dirty="0"/>
          </a:p>
        </p:txBody>
      </p:sp>
      <p:sp>
        <p:nvSpPr>
          <p:cNvPr id="8" name="Text 5"/>
          <p:cNvSpPr txBox="1"/>
          <p:nvPr/>
        </p:nvSpPr>
        <p:spPr>
          <a:xfrm>
            <a:off x="548640" y="1965960"/>
            <a:ext cx="3515258" cy="3840480"/>
          </a:xfrm>
          <a:prstGeom prst="rect">
            <a:avLst/>
          </a:prstGeom>
          <a:noFill/>
          <a:ln/>
        </p:spPr>
        <p:txBody>
          <a:bodyPr wrap="square" lIns="0" tIns="0" rIns="0" bIns="0" rtlCol="0" anchor="t"/>
          <a:lstStyle/>
          <a:p>
            <a:pPr marL="228600" indent="-228600">
              <a:spcAft>
                <a:spcPts val="960"/>
              </a:spcAft>
              <a:buSzPct val="100000"/>
              <a:buChar char="•"/>
            </a:pPr>
            <a:r>
              <a:rPr lang="en-US" sz="1600" dirty="0">
                <a:solidFill>
                  <a:srgbClr val="1F2933"/>
                </a:solidFill>
                <a:latin typeface="Arial" pitchFamily="34" charset="0"/>
                <a:ea typeface="Arial" pitchFamily="34" charset="-122"/>
                <a:cs typeface="Arial" pitchFamily="34" charset="-120"/>
              </a:rPr>
              <a:t>A single skill installs on the agent runtime and reads the same documents</a:t>
            </a:r>
            <a:endParaRPr lang="en-US" sz="1600" dirty="0"/>
          </a:p>
          <a:p>
            <a:pPr marL="228600" indent="-228600">
              <a:spcAft>
                <a:spcPts val="960"/>
              </a:spcAft>
              <a:buSzPct val="100000"/>
              <a:buChar char="•"/>
            </a:pPr>
            <a:r>
              <a:rPr lang="en-US" sz="1600" dirty="0">
                <a:solidFill>
                  <a:srgbClr val="1F2933"/>
                </a:solidFill>
                <a:latin typeface="Arial" pitchFamily="34" charset="0"/>
                <a:ea typeface="Arial" pitchFamily="34" charset="-122"/>
                <a:cs typeface="Arial" pitchFamily="34" charset="-120"/>
              </a:rPr>
              <a:t>It routes each request to one of twenty-one jobs, from vision to deck</a:t>
            </a:r>
            <a:endParaRPr lang="en-US" sz="1600" dirty="0"/>
          </a:p>
          <a:p>
            <a:pPr marL="228600" indent="-228600">
              <a:spcAft>
                <a:spcPts val="960"/>
              </a:spcAft>
              <a:buSzPct val="100000"/>
              <a:buChar char="•"/>
            </a:pPr>
            <a:r>
              <a:rPr lang="en-US" sz="1600" dirty="0">
                <a:solidFill>
                  <a:srgbClr val="1F2933"/>
                </a:solidFill>
                <a:latin typeface="Arial" pitchFamily="34" charset="0"/>
                <a:ea typeface="Arial" pitchFamily="34" charset="-122"/>
                <a:cs typeface="Arial" pitchFamily="34" charset="-120"/>
              </a:rPr>
              <a:t>The alignment check, which every team runs, finds drift and hands back a plan</a:t>
            </a:r>
            <a:endParaRPr lang="en-US" sz="1600" dirty="0"/>
          </a:p>
          <a:p>
            <a:pPr marL="228600" indent="-228600">
              <a:spcAft>
                <a:spcPts val="960"/>
              </a:spcAft>
              <a:buSzPct val="100000"/>
              <a:buChar char="•"/>
            </a:pPr>
            <a:r>
              <a:rPr lang="en-US" sz="1600" dirty="0">
                <a:solidFill>
                  <a:srgbClr val="1F2933"/>
                </a:solidFill>
                <a:latin typeface="Arial" pitchFamily="34" charset="0"/>
                <a:ea typeface="Arial" pitchFamily="34" charset="-122"/>
                <a:cs typeface="Arial" pitchFamily="34" charset="-120"/>
              </a:rPr>
              <a:t>The skill body is portable: no runtime commands, so it loads on any host</a:t>
            </a:r>
            <a:endParaRPr lang="en-US" sz="1600" dirty="0"/>
          </a:p>
        </p:txBody>
      </p:sp>
      <p:sp>
        <p:nvSpPr>
          <p:cNvPr id="9" name="Shape 6"/>
          <p:cNvSpPr/>
          <p:nvPr/>
        </p:nvSpPr>
        <p:spPr>
          <a:xfrm>
            <a:off x="4338218" y="3383280"/>
            <a:ext cx="2194560" cy="1005840"/>
          </a:xfrm>
          <a:prstGeom prst="roundRect">
            <a:avLst>
              <a:gd name="adj" fmla="val 10909"/>
            </a:avLst>
          </a:prstGeom>
          <a:solidFill>
            <a:srgbClr val="3B6BA8"/>
          </a:solidFill>
          <a:ln w="9525">
            <a:solidFill>
              <a:srgbClr val="3B6BA8"/>
            </a:solidFill>
            <a:prstDash val="solid"/>
          </a:ln>
        </p:spPr>
      </p:sp>
      <p:sp>
        <p:nvSpPr>
          <p:cNvPr id="10" name="Text 7"/>
          <p:cNvSpPr txBox="1"/>
          <p:nvPr/>
        </p:nvSpPr>
        <p:spPr>
          <a:xfrm>
            <a:off x="4521098" y="3474720"/>
            <a:ext cx="1828800" cy="822960"/>
          </a:xfrm>
          <a:prstGeom prst="rect">
            <a:avLst/>
          </a:prstGeom>
          <a:noFill/>
          <a:ln/>
        </p:spPr>
        <p:txBody>
          <a:bodyPr wrap="square" lIns="0" tIns="0" rIns="0" bIns="0" rtlCol="0" anchor="ctr">
            <a:normAutofit/>
          </a:bodyPr>
          <a:lstStyle/>
          <a:p>
            <a:pPr algn="ctr" indent="0" marL="0">
              <a:buNone/>
            </a:pPr>
            <a:r>
              <a:rPr lang="en-US" sz="1800" b="1" dirty="0">
                <a:solidFill>
                  <a:srgbClr val="FFFFFF"/>
                </a:solidFill>
                <a:latin typeface="Georgia" pitchFamily="34" charset="0"/>
                <a:ea typeface="Georgia" pitchFamily="34" charset="-122"/>
                <a:cs typeface="Georgia" pitchFamily="34" charset="-120"/>
              </a:rPr>
              <a:t>One skill</a:t>
            </a:r>
            <a:endParaRPr lang="en-US" sz="1800" dirty="0"/>
          </a:p>
        </p:txBody>
      </p:sp>
      <p:sp>
        <p:nvSpPr>
          <p:cNvPr id="11" name="Shape 8"/>
          <p:cNvSpPr/>
          <p:nvPr/>
        </p:nvSpPr>
        <p:spPr>
          <a:xfrm>
            <a:off x="6532778" y="3886200"/>
            <a:ext cx="411480" cy="0"/>
          </a:xfrm>
          <a:prstGeom prst="line">
            <a:avLst/>
          </a:prstGeom>
          <a:noFill/>
          <a:ln w="19050">
            <a:solidFill>
              <a:srgbClr val="55606D"/>
            </a:solidFill>
            <a:prstDash val="solid"/>
            <a:headEnd type="none"/>
            <a:tailEnd type="none"/>
          </a:ln>
        </p:spPr>
      </p:sp>
      <p:sp>
        <p:nvSpPr>
          <p:cNvPr id="12" name="Shape 9"/>
          <p:cNvSpPr/>
          <p:nvPr/>
        </p:nvSpPr>
        <p:spPr>
          <a:xfrm>
            <a:off x="6944258" y="2720340"/>
            <a:ext cx="0" cy="2331720"/>
          </a:xfrm>
          <a:prstGeom prst="line">
            <a:avLst/>
          </a:prstGeom>
          <a:noFill/>
          <a:ln w="19050">
            <a:solidFill>
              <a:srgbClr val="55606D"/>
            </a:solidFill>
            <a:prstDash val="solid"/>
            <a:headEnd type="none"/>
            <a:tailEnd type="none"/>
          </a:ln>
        </p:spPr>
      </p:sp>
      <p:sp>
        <p:nvSpPr>
          <p:cNvPr id="13" name="Shape 10"/>
          <p:cNvSpPr/>
          <p:nvPr/>
        </p:nvSpPr>
        <p:spPr>
          <a:xfrm>
            <a:off x="6944258" y="2720340"/>
            <a:ext cx="384048" cy="0"/>
          </a:xfrm>
          <a:prstGeom prst="line">
            <a:avLst/>
          </a:prstGeom>
          <a:noFill/>
          <a:ln w="19050">
            <a:solidFill>
              <a:srgbClr val="55606D"/>
            </a:solidFill>
            <a:prstDash val="solid"/>
            <a:headEnd type="none"/>
            <a:tailEnd type="none"/>
          </a:ln>
        </p:spPr>
      </p:sp>
      <p:sp>
        <p:nvSpPr>
          <p:cNvPr id="14" name="Shape 11"/>
          <p:cNvSpPr/>
          <p:nvPr/>
        </p:nvSpPr>
        <p:spPr>
          <a:xfrm>
            <a:off x="7355738" y="2491740"/>
            <a:ext cx="457200" cy="457200"/>
          </a:xfrm>
          <a:prstGeom prst="ellipse">
            <a:avLst/>
          </a:prstGeom>
          <a:solidFill>
            <a:srgbClr val="3B6BA8"/>
          </a:solidFill>
          <a:ln w="12700">
            <a:solidFill>
              <a:srgbClr val="3B6BA8"/>
            </a:solidFill>
            <a:prstDash val="solid"/>
          </a:ln>
        </p:spPr>
      </p:sp>
      <p:pic>
        <p:nvPicPr>
          <p:cNvPr id="15" name="Image 0" descr="preencoded.png">    </p:cNvPr>
          <p:cNvPicPr>
            <a:picLocks noChangeAspect="1"/>
          </p:cNvPicPr>
          <p:nvPr/>
        </p:nvPicPr>
        <p:blipFill>
          <a:blip r:embed="rId1"/>
          <a:stretch>
            <a:fillRect/>
          </a:stretch>
        </p:blipFill>
        <p:spPr>
          <a:xfrm>
            <a:off x="7447178" y="2583180"/>
            <a:ext cx="274320" cy="274320"/>
          </a:xfrm>
          <a:prstGeom prst="rect">
            <a:avLst/>
          </a:prstGeom>
        </p:spPr>
      </p:pic>
      <p:sp>
        <p:nvSpPr>
          <p:cNvPr id="16" name="Text 12"/>
          <p:cNvSpPr txBox="1"/>
          <p:nvPr/>
        </p:nvSpPr>
        <p:spPr>
          <a:xfrm>
            <a:off x="7995818" y="2350008"/>
            <a:ext cx="3647237" cy="349758"/>
          </a:xfrm>
          <a:prstGeom prst="rect">
            <a:avLst/>
          </a:prstGeom>
          <a:noFill/>
          <a:ln/>
        </p:spPr>
        <p:txBody>
          <a:bodyPr wrap="square" lIns="0" tIns="0" rIns="0" bIns="0" rtlCol="0" anchor="b">
            <a:normAutofit/>
          </a:bodyPr>
          <a:lstStyle/>
          <a:p>
            <a:pPr algn="l" indent="0" marL="0">
              <a:buNone/>
            </a:pPr>
            <a:r>
              <a:rPr lang="en-US" sz="1500" b="1" dirty="0">
                <a:solidFill>
                  <a:srgbClr val="1F2933"/>
                </a:solidFill>
                <a:latin typeface="Arial" pitchFamily="34" charset="0"/>
                <a:ea typeface="Arial" pitchFamily="34" charset="-122"/>
                <a:cs typeface="Arial" pitchFamily="34" charset="-120"/>
              </a:rPr>
              <a:t>Frame</a:t>
            </a:r>
            <a:endParaRPr lang="en-US" sz="1500" dirty="0"/>
          </a:p>
        </p:txBody>
      </p:sp>
      <p:sp>
        <p:nvSpPr>
          <p:cNvPr id="17" name="Text 13"/>
          <p:cNvSpPr txBox="1"/>
          <p:nvPr/>
        </p:nvSpPr>
        <p:spPr>
          <a:xfrm>
            <a:off x="7995818" y="2720340"/>
            <a:ext cx="3647237" cy="373075"/>
          </a:xfrm>
          <a:prstGeom prst="rect">
            <a:avLst/>
          </a:prstGeom>
          <a:noFill/>
          <a:ln/>
        </p:spPr>
        <p:txBody>
          <a:bodyPr wrap="square" lIns="0" tIns="0" rIns="0" bIns="0" rtlCol="0" anchor="t">
            <a:normAutofit/>
          </a:bodyPr>
          <a:lstStyle/>
          <a:p>
            <a:pPr algn="l" indent="0" marL="0">
              <a:buNone/>
            </a:pPr>
            <a:r>
              <a:rPr lang="en-US" sz="1200" dirty="0">
                <a:solidFill>
                  <a:srgbClr val="55606D"/>
                </a:solidFill>
                <a:latin typeface="Arial" pitchFamily="34" charset="0"/>
                <a:ea typeface="Arial" pitchFamily="34" charset="-122"/>
                <a:cs typeface="Arial" pitchFamily="34" charset="-120"/>
              </a:rPr>
              <a:t>vision, requirements, stories</a:t>
            </a:r>
            <a:endParaRPr lang="en-US" sz="1200" dirty="0"/>
          </a:p>
        </p:txBody>
      </p:sp>
      <p:sp>
        <p:nvSpPr>
          <p:cNvPr id="18" name="Shape 14"/>
          <p:cNvSpPr/>
          <p:nvPr/>
        </p:nvSpPr>
        <p:spPr>
          <a:xfrm>
            <a:off x="6944258" y="3497580"/>
            <a:ext cx="384048" cy="0"/>
          </a:xfrm>
          <a:prstGeom prst="line">
            <a:avLst/>
          </a:prstGeom>
          <a:noFill/>
          <a:ln w="19050">
            <a:solidFill>
              <a:srgbClr val="55606D"/>
            </a:solidFill>
            <a:prstDash val="solid"/>
            <a:headEnd type="none"/>
            <a:tailEnd type="none"/>
          </a:ln>
        </p:spPr>
      </p:sp>
      <p:sp>
        <p:nvSpPr>
          <p:cNvPr id="19" name="Shape 15"/>
          <p:cNvSpPr/>
          <p:nvPr/>
        </p:nvSpPr>
        <p:spPr>
          <a:xfrm>
            <a:off x="7355738" y="3268980"/>
            <a:ext cx="457200" cy="457200"/>
          </a:xfrm>
          <a:prstGeom prst="ellipse">
            <a:avLst/>
          </a:prstGeom>
          <a:solidFill>
            <a:srgbClr val="C44B2F"/>
          </a:solidFill>
          <a:ln w="12700">
            <a:solidFill>
              <a:srgbClr val="C44B2F"/>
            </a:solidFill>
            <a:prstDash val="solid"/>
          </a:ln>
        </p:spPr>
      </p:sp>
      <p:pic>
        <p:nvPicPr>
          <p:cNvPr id="20" name="Image 1" descr="preencoded.png">    </p:cNvPr>
          <p:cNvPicPr>
            <a:picLocks noChangeAspect="1"/>
          </p:cNvPicPr>
          <p:nvPr/>
        </p:nvPicPr>
        <p:blipFill>
          <a:blip r:embed="rId2"/>
          <a:stretch>
            <a:fillRect/>
          </a:stretch>
        </p:blipFill>
        <p:spPr>
          <a:xfrm>
            <a:off x="7447178" y="3360420"/>
            <a:ext cx="274320" cy="274320"/>
          </a:xfrm>
          <a:prstGeom prst="rect">
            <a:avLst/>
          </a:prstGeom>
        </p:spPr>
      </p:pic>
      <p:sp>
        <p:nvSpPr>
          <p:cNvPr id="21" name="Text 16"/>
          <p:cNvSpPr txBox="1"/>
          <p:nvPr/>
        </p:nvSpPr>
        <p:spPr>
          <a:xfrm>
            <a:off x="7995818" y="3127248"/>
            <a:ext cx="3647237" cy="349758"/>
          </a:xfrm>
          <a:prstGeom prst="rect">
            <a:avLst/>
          </a:prstGeom>
          <a:noFill/>
          <a:ln/>
        </p:spPr>
        <p:txBody>
          <a:bodyPr wrap="square" lIns="0" tIns="0" rIns="0" bIns="0" rtlCol="0" anchor="b">
            <a:normAutofit/>
          </a:bodyPr>
          <a:lstStyle/>
          <a:p>
            <a:pPr algn="l" indent="0" marL="0">
              <a:buNone/>
            </a:pPr>
            <a:r>
              <a:rPr lang="en-US" sz="1500" b="1" dirty="0">
                <a:solidFill>
                  <a:srgbClr val="C44B2F"/>
                </a:solidFill>
                <a:latin typeface="Arial" pitchFamily="34" charset="0"/>
                <a:ea typeface="Arial" pitchFamily="34" charset="-122"/>
                <a:cs typeface="Arial" pitchFamily="34" charset="-120"/>
              </a:rPr>
              <a:t>Align</a:t>
            </a:r>
            <a:endParaRPr lang="en-US" sz="1500" dirty="0"/>
          </a:p>
        </p:txBody>
      </p:sp>
      <p:sp>
        <p:nvSpPr>
          <p:cNvPr id="22" name="Text 17"/>
          <p:cNvSpPr txBox="1"/>
          <p:nvPr/>
        </p:nvSpPr>
        <p:spPr>
          <a:xfrm>
            <a:off x="7995818" y="3497580"/>
            <a:ext cx="3647237" cy="373075"/>
          </a:xfrm>
          <a:prstGeom prst="rect">
            <a:avLst/>
          </a:prstGeom>
          <a:noFill/>
          <a:ln/>
        </p:spPr>
        <p:txBody>
          <a:bodyPr wrap="square" lIns="0" tIns="0" rIns="0" bIns="0" rtlCol="0" anchor="t">
            <a:normAutofit/>
          </a:bodyPr>
          <a:lstStyle/>
          <a:p>
            <a:pPr algn="l" indent="0" marL="0">
              <a:buNone/>
            </a:pPr>
            <a:r>
              <a:rPr lang="en-US" sz="1200" dirty="0">
                <a:solidFill>
                  <a:srgbClr val="55606D"/>
                </a:solidFill>
                <a:latin typeface="Arial" pitchFamily="34" charset="0"/>
                <a:ea typeface="Arial" pitchFamily="34" charset="-122"/>
                <a:cs typeface="Arial" pitchFamily="34" charset="-120"/>
              </a:rPr>
              <a:t>drift, gaps, contradictions</a:t>
            </a:r>
            <a:endParaRPr lang="en-US" sz="1200" dirty="0"/>
          </a:p>
        </p:txBody>
      </p:sp>
      <p:sp>
        <p:nvSpPr>
          <p:cNvPr id="23" name="Shape 18"/>
          <p:cNvSpPr/>
          <p:nvPr/>
        </p:nvSpPr>
        <p:spPr>
          <a:xfrm>
            <a:off x="6944258" y="4274820"/>
            <a:ext cx="384048" cy="0"/>
          </a:xfrm>
          <a:prstGeom prst="line">
            <a:avLst/>
          </a:prstGeom>
          <a:noFill/>
          <a:ln w="19050">
            <a:solidFill>
              <a:srgbClr val="55606D"/>
            </a:solidFill>
            <a:prstDash val="solid"/>
            <a:headEnd type="none"/>
            <a:tailEnd type="none"/>
          </a:ln>
        </p:spPr>
      </p:sp>
      <p:sp>
        <p:nvSpPr>
          <p:cNvPr id="24" name="Shape 19"/>
          <p:cNvSpPr/>
          <p:nvPr/>
        </p:nvSpPr>
        <p:spPr>
          <a:xfrm>
            <a:off x="7355738" y="4046220"/>
            <a:ext cx="457200" cy="457200"/>
          </a:xfrm>
          <a:prstGeom prst="ellipse">
            <a:avLst/>
          </a:prstGeom>
          <a:solidFill>
            <a:srgbClr val="3B6BA8"/>
          </a:solidFill>
          <a:ln w="12700">
            <a:solidFill>
              <a:srgbClr val="3B6BA8"/>
            </a:solidFill>
            <a:prstDash val="solid"/>
          </a:ln>
        </p:spPr>
      </p:sp>
      <p:pic>
        <p:nvPicPr>
          <p:cNvPr id="25" name="Image 2" descr="preencoded.png">    </p:cNvPr>
          <p:cNvPicPr>
            <a:picLocks noChangeAspect="1"/>
          </p:cNvPicPr>
          <p:nvPr/>
        </p:nvPicPr>
        <p:blipFill>
          <a:blip r:embed="rId3"/>
          <a:stretch>
            <a:fillRect/>
          </a:stretch>
        </p:blipFill>
        <p:spPr>
          <a:xfrm>
            <a:off x="7447178" y="4137660"/>
            <a:ext cx="274320" cy="274320"/>
          </a:xfrm>
          <a:prstGeom prst="rect">
            <a:avLst/>
          </a:prstGeom>
        </p:spPr>
      </p:pic>
      <p:sp>
        <p:nvSpPr>
          <p:cNvPr id="26" name="Text 20"/>
          <p:cNvSpPr txBox="1"/>
          <p:nvPr/>
        </p:nvSpPr>
        <p:spPr>
          <a:xfrm>
            <a:off x="7995818" y="3904488"/>
            <a:ext cx="3647237" cy="349758"/>
          </a:xfrm>
          <a:prstGeom prst="rect">
            <a:avLst/>
          </a:prstGeom>
          <a:noFill/>
          <a:ln/>
        </p:spPr>
        <p:txBody>
          <a:bodyPr wrap="square" lIns="0" tIns="0" rIns="0" bIns="0" rtlCol="0" anchor="b">
            <a:normAutofit/>
          </a:bodyPr>
          <a:lstStyle/>
          <a:p>
            <a:pPr algn="l" indent="0" marL="0">
              <a:buNone/>
            </a:pPr>
            <a:r>
              <a:rPr lang="en-US" sz="1500" b="1" dirty="0">
                <a:solidFill>
                  <a:srgbClr val="1F2933"/>
                </a:solidFill>
                <a:latin typeface="Arial" pitchFamily="34" charset="0"/>
                <a:ea typeface="Arial" pitchFamily="34" charset="-122"/>
                <a:cs typeface="Arial" pitchFamily="34" charset="-120"/>
              </a:rPr>
              <a:t>Evolve</a:t>
            </a:r>
            <a:endParaRPr lang="en-US" sz="1500" dirty="0"/>
          </a:p>
        </p:txBody>
      </p:sp>
      <p:sp>
        <p:nvSpPr>
          <p:cNvPr id="27" name="Text 21"/>
          <p:cNvSpPr txBox="1"/>
          <p:nvPr/>
        </p:nvSpPr>
        <p:spPr>
          <a:xfrm>
            <a:off x="7995818" y="4274820"/>
            <a:ext cx="3647237" cy="373075"/>
          </a:xfrm>
          <a:prstGeom prst="rect">
            <a:avLst/>
          </a:prstGeom>
          <a:noFill/>
          <a:ln/>
        </p:spPr>
        <p:txBody>
          <a:bodyPr wrap="square" lIns="0" tIns="0" rIns="0" bIns="0" rtlCol="0" anchor="t">
            <a:normAutofit/>
          </a:bodyPr>
          <a:lstStyle/>
          <a:p>
            <a:pPr algn="l" indent="0" marL="0">
              <a:buNone/>
            </a:pPr>
            <a:r>
              <a:rPr lang="en-US" sz="1200" dirty="0">
                <a:solidFill>
                  <a:srgbClr val="55606D"/>
                </a:solidFill>
                <a:latin typeface="Arial" pitchFamily="34" charset="0"/>
                <a:ea typeface="Arial" pitchFamily="34" charset="-122"/>
                <a:cs typeface="Arial" pitchFamily="34" charset="-120"/>
              </a:rPr>
              <a:t>thread one change through</a:t>
            </a:r>
            <a:endParaRPr lang="en-US" sz="1200" dirty="0"/>
          </a:p>
        </p:txBody>
      </p:sp>
      <p:sp>
        <p:nvSpPr>
          <p:cNvPr id="28" name="Shape 22"/>
          <p:cNvSpPr/>
          <p:nvPr/>
        </p:nvSpPr>
        <p:spPr>
          <a:xfrm>
            <a:off x="6944258" y="5052060"/>
            <a:ext cx="384048" cy="0"/>
          </a:xfrm>
          <a:prstGeom prst="line">
            <a:avLst/>
          </a:prstGeom>
          <a:noFill/>
          <a:ln w="19050">
            <a:solidFill>
              <a:srgbClr val="55606D"/>
            </a:solidFill>
            <a:prstDash val="solid"/>
            <a:headEnd type="none"/>
            <a:tailEnd type="none"/>
          </a:ln>
        </p:spPr>
      </p:sp>
      <p:sp>
        <p:nvSpPr>
          <p:cNvPr id="29" name="Shape 23"/>
          <p:cNvSpPr/>
          <p:nvPr/>
        </p:nvSpPr>
        <p:spPr>
          <a:xfrm>
            <a:off x="7355738" y="4823460"/>
            <a:ext cx="457200" cy="457200"/>
          </a:xfrm>
          <a:prstGeom prst="ellipse">
            <a:avLst/>
          </a:prstGeom>
          <a:solidFill>
            <a:srgbClr val="3B6BA8"/>
          </a:solidFill>
          <a:ln w="12700">
            <a:solidFill>
              <a:srgbClr val="3B6BA8"/>
            </a:solidFill>
            <a:prstDash val="solid"/>
          </a:ln>
        </p:spPr>
      </p:sp>
      <p:pic>
        <p:nvPicPr>
          <p:cNvPr id="30" name="Image 3" descr="preencoded.png">    </p:cNvPr>
          <p:cNvPicPr>
            <a:picLocks noChangeAspect="1"/>
          </p:cNvPicPr>
          <p:nvPr/>
        </p:nvPicPr>
        <p:blipFill>
          <a:blip r:embed="rId4"/>
          <a:stretch>
            <a:fillRect/>
          </a:stretch>
        </p:blipFill>
        <p:spPr>
          <a:xfrm>
            <a:off x="7447178" y="4914900"/>
            <a:ext cx="274320" cy="274320"/>
          </a:xfrm>
          <a:prstGeom prst="rect">
            <a:avLst/>
          </a:prstGeom>
        </p:spPr>
      </p:pic>
      <p:sp>
        <p:nvSpPr>
          <p:cNvPr id="31" name="Text 24"/>
          <p:cNvSpPr txBox="1"/>
          <p:nvPr/>
        </p:nvSpPr>
        <p:spPr>
          <a:xfrm>
            <a:off x="7995818" y="4681728"/>
            <a:ext cx="3647237" cy="349758"/>
          </a:xfrm>
          <a:prstGeom prst="rect">
            <a:avLst/>
          </a:prstGeom>
          <a:noFill/>
          <a:ln/>
        </p:spPr>
        <p:txBody>
          <a:bodyPr wrap="square" lIns="0" tIns="0" rIns="0" bIns="0" rtlCol="0" anchor="b">
            <a:normAutofit/>
          </a:bodyPr>
          <a:lstStyle/>
          <a:p>
            <a:pPr algn="l" indent="0" marL="0">
              <a:buNone/>
            </a:pPr>
            <a:r>
              <a:rPr lang="en-US" sz="1500" b="1" dirty="0">
                <a:solidFill>
                  <a:srgbClr val="1F2933"/>
                </a:solidFill>
                <a:latin typeface="Arial" pitchFamily="34" charset="0"/>
                <a:ea typeface="Arial" pitchFamily="34" charset="-122"/>
                <a:cs typeface="Arial" pitchFamily="34" charset="-120"/>
              </a:rPr>
              <a:t>Present</a:t>
            </a:r>
            <a:endParaRPr lang="en-US" sz="1500" dirty="0"/>
          </a:p>
        </p:txBody>
      </p:sp>
      <p:sp>
        <p:nvSpPr>
          <p:cNvPr id="32" name="Text 25"/>
          <p:cNvSpPr txBox="1"/>
          <p:nvPr/>
        </p:nvSpPr>
        <p:spPr>
          <a:xfrm>
            <a:off x="7995818" y="5052060"/>
            <a:ext cx="3647237" cy="373075"/>
          </a:xfrm>
          <a:prstGeom prst="rect">
            <a:avLst/>
          </a:prstGeom>
          <a:noFill/>
          <a:ln/>
        </p:spPr>
        <p:txBody>
          <a:bodyPr wrap="square" lIns="0" tIns="0" rIns="0" bIns="0" rtlCol="0" anchor="t">
            <a:normAutofit/>
          </a:bodyPr>
          <a:lstStyle/>
          <a:p>
            <a:pPr algn="l" indent="0" marL="0">
              <a:buNone/>
            </a:pPr>
            <a:r>
              <a:rPr lang="en-US" sz="1200" dirty="0">
                <a:solidFill>
                  <a:srgbClr val="55606D"/>
                </a:solidFill>
                <a:latin typeface="Arial" pitchFamily="34" charset="0"/>
                <a:ea typeface="Arial" pitchFamily="34" charset="-122"/>
                <a:cs typeface="Arial" pitchFamily="34" charset="-120"/>
              </a:rPr>
              <a:t>decks, briefs, reports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Each template layer</a:t>
            </a:r>
            <a:endParaRPr lang="en-US" sz="3600" dirty="0"/>
          </a:p>
          <a:p>
            <a:pPr algn="l" indent="0" marL="0">
              <a:buNone/>
            </a:pPr>
            <a:r>
              <a:rPr lang="en-US" sz="3600" b="1" dirty="0">
                <a:solidFill>
                  <a:srgbClr val="1F2933"/>
                </a:solidFill>
                <a:latin typeface="Georgia" pitchFamily="34" charset="0"/>
                <a:ea typeface="Georgia" pitchFamily="34" charset="-122"/>
                <a:cs typeface="Georgia" pitchFamily="34" charset="-120"/>
              </a:rPr>
              <a:t>governs the layer below</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S19, S20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6</a:t>
            </a:r>
            <a:endParaRPr lang="en-US" sz="1000" dirty="0"/>
          </a:p>
        </p:txBody>
      </p:sp>
      <p:sp>
        <p:nvSpPr>
          <p:cNvPr id="8" name="Shape 5"/>
          <p:cNvSpPr/>
          <p:nvPr/>
        </p:nvSpPr>
        <p:spPr>
          <a:xfrm>
            <a:off x="548640" y="1965960"/>
            <a:ext cx="11094415" cy="510235"/>
          </a:xfrm>
          <a:prstGeom prst="roundRect">
            <a:avLst>
              <a:gd name="adj" fmla="val 14337"/>
            </a:avLst>
          </a:prstGeom>
          <a:solidFill>
            <a:srgbClr val="3B6BA8"/>
          </a:solidFill>
          <a:ln w="9525">
            <a:solidFill>
              <a:srgbClr val="3B6BA8"/>
            </a:solidFill>
            <a:prstDash val="solid"/>
          </a:ln>
        </p:spPr>
      </p:sp>
      <p:pic>
        <p:nvPicPr>
          <p:cNvPr id="9" name="Image 0" descr="preencoded.png">    </p:cNvPr>
          <p:cNvPicPr>
            <a:picLocks noChangeAspect="1"/>
          </p:cNvPicPr>
          <p:nvPr/>
        </p:nvPicPr>
        <p:blipFill>
          <a:blip r:embed="rId1"/>
          <a:stretch>
            <a:fillRect/>
          </a:stretch>
        </p:blipFill>
        <p:spPr>
          <a:xfrm>
            <a:off x="777240" y="2048256"/>
            <a:ext cx="345643" cy="345643"/>
          </a:xfrm>
          <a:prstGeom prst="rect">
            <a:avLst/>
          </a:prstGeom>
        </p:spPr>
      </p:pic>
      <p:sp>
        <p:nvSpPr>
          <p:cNvPr id="10" name="Text 6"/>
          <p:cNvSpPr txBox="1"/>
          <p:nvPr/>
        </p:nvSpPr>
        <p:spPr>
          <a:xfrm>
            <a:off x="1260043" y="2057400"/>
            <a:ext cx="2214677" cy="327355"/>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Georgia" pitchFamily="34" charset="0"/>
                <a:ea typeface="Georgia" pitchFamily="34" charset="-122"/>
                <a:cs typeface="Georgia" pitchFamily="34" charset="-120"/>
              </a:rPr>
              <a:t>Vision</a:t>
            </a:r>
            <a:endParaRPr lang="en-US" sz="1800" dirty="0"/>
          </a:p>
        </p:txBody>
      </p:sp>
      <p:sp>
        <p:nvSpPr>
          <p:cNvPr id="11" name="Text 7"/>
          <p:cNvSpPr txBox="1"/>
          <p:nvPr/>
        </p:nvSpPr>
        <p:spPr>
          <a:xfrm>
            <a:off x="3657600" y="2057400"/>
            <a:ext cx="7756855" cy="327355"/>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direction and who it is for</a:t>
            </a:r>
            <a:endParaRPr lang="en-US" sz="1400" dirty="0"/>
          </a:p>
        </p:txBody>
      </p:sp>
      <p:sp>
        <p:nvSpPr>
          <p:cNvPr id="12" name="Shape 8"/>
          <p:cNvSpPr/>
          <p:nvPr/>
        </p:nvSpPr>
        <p:spPr>
          <a:xfrm>
            <a:off x="1865376" y="2503627"/>
            <a:ext cx="292608" cy="164592"/>
          </a:xfrm>
          <a:prstGeom prst="downArrow">
            <a:avLst/>
          </a:prstGeom>
          <a:solidFill>
            <a:srgbClr val="55606D"/>
          </a:solidFill>
          <a:ln w="12700">
            <a:solidFill>
              <a:srgbClr val="55606D"/>
            </a:solidFill>
            <a:prstDash val="solid"/>
          </a:ln>
        </p:spPr>
      </p:sp>
      <p:sp>
        <p:nvSpPr>
          <p:cNvPr id="13" name="Shape 9"/>
          <p:cNvSpPr/>
          <p:nvPr/>
        </p:nvSpPr>
        <p:spPr>
          <a:xfrm>
            <a:off x="548640" y="2695651"/>
            <a:ext cx="11094415" cy="510235"/>
          </a:xfrm>
          <a:prstGeom prst="roundRect">
            <a:avLst>
              <a:gd name="adj" fmla="val 14337"/>
            </a:avLst>
          </a:prstGeom>
          <a:solidFill>
            <a:srgbClr val="3B6BA8"/>
          </a:solidFill>
          <a:ln w="9525">
            <a:solidFill>
              <a:srgbClr val="3B6BA8"/>
            </a:solidFill>
            <a:prstDash val="solid"/>
          </a:ln>
        </p:spPr>
      </p:sp>
      <p:pic>
        <p:nvPicPr>
          <p:cNvPr id="14" name="Image 1" descr="preencoded.png">    </p:cNvPr>
          <p:cNvPicPr>
            <a:picLocks noChangeAspect="1"/>
          </p:cNvPicPr>
          <p:nvPr/>
        </p:nvPicPr>
        <p:blipFill>
          <a:blip r:embed="rId2"/>
          <a:stretch>
            <a:fillRect/>
          </a:stretch>
        </p:blipFill>
        <p:spPr>
          <a:xfrm>
            <a:off x="777240" y="2777947"/>
            <a:ext cx="345643" cy="345643"/>
          </a:xfrm>
          <a:prstGeom prst="rect">
            <a:avLst/>
          </a:prstGeom>
        </p:spPr>
      </p:pic>
      <p:sp>
        <p:nvSpPr>
          <p:cNvPr id="15" name="Text 10"/>
          <p:cNvSpPr txBox="1"/>
          <p:nvPr/>
        </p:nvSpPr>
        <p:spPr>
          <a:xfrm>
            <a:off x="1260043" y="2787091"/>
            <a:ext cx="2214677" cy="327355"/>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Georgia" pitchFamily="34" charset="0"/>
                <a:ea typeface="Georgia" pitchFamily="34" charset="-122"/>
                <a:cs typeface="Georgia" pitchFamily="34" charset="-120"/>
              </a:rPr>
              <a:t>Requirements</a:t>
            </a:r>
            <a:endParaRPr lang="en-US" sz="1800" dirty="0"/>
          </a:p>
        </p:txBody>
      </p:sp>
      <p:sp>
        <p:nvSpPr>
          <p:cNvPr id="16" name="Text 11"/>
          <p:cNvSpPr txBox="1"/>
          <p:nvPr/>
        </p:nvSpPr>
        <p:spPr>
          <a:xfrm>
            <a:off x="3657600" y="2787091"/>
            <a:ext cx="7756855" cy="327355"/>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scope, outcomes, non-goals</a:t>
            </a:r>
            <a:endParaRPr lang="en-US" sz="1400" dirty="0"/>
          </a:p>
        </p:txBody>
      </p:sp>
      <p:sp>
        <p:nvSpPr>
          <p:cNvPr id="17" name="Shape 12"/>
          <p:cNvSpPr/>
          <p:nvPr/>
        </p:nvSpPr>
        <p:spPr>
          <a:xfrm>
            <a:off x="1865376" y="3233318"/>
            <a:ext cx="292608" cy="164592"/>
          </a:xfrm>
          <a:prstGeom prst="downArrow">
            <a:avLst/>
          </a:prstGeom>
          <a:solidFill>
            <a:srgbClr val="55606D"/>
          </a:solidFill>
          <a:ln w="12700">
            <a:solidFill>
              <a:srgbClr val="55606D"/>
            </a:solidFill>
            <a:prstDash val="solid"/>
          </a:ln>
        </p:spPr>
      </p:sp>
      <p:sp>
        <p:nvSpPr>
          <p:cNvPr id="18" name="Shape 13"/>
          <p:cNvSpPr/>
          <p:nvPr/>
        </p:nvSpPr>
        <p:spPr>
          <a:xfrm>
            <a:off x="548640" y="3425342"/>
            <a:ext cx="11094415" cy="510235"/>
          </a:xfrm>
          <a:prstGeom prst="roundRect">
            <a:avLst>
              <a:gd name="adj" fmla="val 14337"/>
            </a:avLst>
          </a:prstGeom>
          <a:solidFill>
            <a:srgbClr val="3B6BA8"/>
          </a:solidFill>
          <a:ln w="9525">
            <a:solidFill>
              <a:srgbClr val="3B6BA8"/>
            </a:solidFill>
            <a:prstDash val="solid"/>
          </a:ln>
        </p:spPr>
      </p:sp>
      <p:pic>
        <p:nvPicPr>
          <p:cNvPr id="19" name="Image 2" descr="preencoded.png">    </p:cNvPr>
          <p:cNvPicPr>
            <a:picLocks noChangeAspect="1"/>
          </p:cNvPicPr>
          <p:nvPr/>
        </p:nvPicPr>
        <p:blipFill>
          <a:blip r:embed="rId3"/>
          <a:stretch>
            <a:fillRect/>
          </a:stretch>
        </p:blipFill>
        <p:spPr>
          <a:xfrm>
            <a:off x="777240" y="3507638"/>
            <a:ext cx="345643" cy="345643"/>
          </a:xfrm>
          <a:prstGeom prst="rect">
            <a:avLst/>
          </a:prstGeom>
        </p:spPr>
      </p:pic>
      <p:sp>
        <p:nvSpPr>
          <p:cNvPr id="20" name="Text 14"/>
          <p:cNvSpPr txBox="1"/>
          <p:nvPr/>
        </p:nvSpPr>
        <p:spPr>
          <a:xfrm>
            <a:off x="1260043" y="3516782"/>
            <a:ext cx="2214677" cy="327355"/>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Georgia" pitchFamily="34" charset="0"/>
                <a:ea typeface="Georgia" pitchFamily="34" charset="-122"/>
                <a:cs typeface="Georgia" pitchFamily="34" charset="-120"/>
              </a:rPr>
              <a:t>Designs</a:t>
            </a:r>
            <a:endParaRPr lang="en-US" sz="1800" dirty="0"/>
          </a:p>
        </p:txBody>
      </p:sp>
      <p:sp>
        <p:nvSpPr>
          <p:cNvPr id="21" name="Text 15"/>
          <p:cNvSpPr txBox="1"/>
          <p:nvPr/>
        </p:nvSpPr>
        <p:spPr>
          <a:xfrm>
            <a:off x="3657600" y="3516782"/>
            <a:ext cx="7756855" cy="327355"/>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decisions, contracts, components</a:t>
            </a:r>
            <a:endParaRPr lang="en-US" sz="1400" dirty="0"/>
          </a:p>
        </p:txBody>
      </p:sp>
      <p:sp>
        <p:nvSpPr>
          <p:cNvPr id="22" name="Shape 16"/>
          <p:cNvSpPr/>
          <p:nvPr/>
        </p:nvSpPr>
        <p:spPr>
          <a:xfrm>
            <a:off x="1865376" y="3963010"/>
            <a:ext cx="292608" cy="164592"/>
          </a:xfrm>
          <a:prstGeom prst="downArrow">
            <a:avLst/>
          </a:prstGeom>
          <a:solidFill>
            <a:srgbClr val="55606D"/>
          </a:solidFill>
          <a:ln w="12700">
            <a:solidFill>
              <a:srgbClr val="55606D"/>
            </a:solidFill>
            <a:prstDash val="solid"/>
          </a:ln>
        </p:spPr>
      </p:sp>
      <p:sp>
        <p:nvSpPr>
          <p:cNvPr id="23" name="Shape 17"/>
          <p:cNvSpPr/>
          <p:nvPr/>
        </p:nvSpPr>
        <p:spPr>
          <a:xfrm>
            <a:off x="548640" y="4155034"/>
            <a:ext cx="11094415" cy="510235"/>
          </a:xfrm>
          <a:prstGeom prst="roundRect">
            <a:avLst>
              <a:gd name="adj" fmla="val 14337"/>
            </a:avLst>
          </a:prstGeom>
          <a:solidFill>
            <a:srgbClr val="3B6BA8"/>
          </a:solidFill>
          <a:ln w="9525">
            <a:solidFill>
              <a:srgbClr val="3B6BA8"/>
            </a:solidFill>
            <a:prstDash val="solid"/>
          </a:ln>
        </p:spPr>
      </p:sp>
      <p:pic>
        <p:nvPicPr>
          <p:cNvPr id="24" name="Image 3" descr="preencoded.png">    </p:cNvPr>
          <p:cNvPicPr>
            <a:picLocks noChangeAspect="1"/>
          </p:cNvPicPr>
          <p:nvPr/>
        </p:nvPicPr>
        <p:blipFill>
          <a:blip r:embed="rId4"/>
          <a:stretch>
            <a:fillRect/>
          </a:stretch>
        </p:blipFill>
        <p:spPr>
          <a:xfrm>
            <a:off x="777240" y="4237330"/>
            <a:ext cx="345643" cy="345643"/>
          </a:xfrm>
          <a:prstGeom prst="rect">
            <a:avLst/>
          </a:prstGeom>
        </p:spPr>
      </p:pic>
      <p:sp>
        <p:nvSpPr>
          <p:cNvPr id="25" name="Text 18"/>
          <p:cNvSpPr txBox="1"/>
          <p:nvPr/>
        </p:nvSpPr>
        <p:spPr>
          <a:xfrm>
            <a:off x="1260043" y="4246474"/>
            <a:ext cx="2214677" cy="327355"/>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Georgia" pitchFamily="34" charset="0"/>
                <a:ea typeface="Georgia" pitchFamily="34" charset="-122"/>
                <a:cs typeface="Georgia" pitchFamily="34" charset="-120"/>
              </a:rPr>
              <a:t>Tests</a:t>
            </a:r>
            <a:endParaRPr lang="en-US" sz="1800" dirty="0"/>
          </a:p>
        </p:txBody>
      </p:sp>
      <p:sp>
        <p:nvSpPr>
          <p:cNvPr id="26" name="Text 19"/>
          <p:cNvSpPr txBox="1"/>
          <p:nvPr/>
        </p:nvSpPr>
        <p:spPr>
          <a:xfrm>
            <a:off x="3657600" y="4246474"/>
            <a:ext cx="7756855" cy="327355"/>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acceptance before any code</a:t>
            </a:r>
            <a:endParaRPr lang="en-US" sz="1400" dirty="0"/>
          </a:p>
        </p:txBody>
      </p:sp>
      <p:sp>
        <p:nvSpPr>
          <p:cNvPr id="27" name="Shape 20"/>
          <p:cNvSpPr/>
          <p:nvPr/>
        </p:nvSpPr>
        <p:spPr>
          <a:xfrm>
            <a:off x="1865376" y="4692701"/>
            <a:ext cx="292608" cy="164592"/>
          </a:xfrm>
          <a:prstGeom prst="downArrow">
            <a:avLst/>
          </a:prstGeom>
          <a:solidFill>
            <a:srgbClr val="55606D"/>
          </a:solidFill>
          <a:ln w="12700">
            <a:solidFill>
              <a:srgbClr val="55606D"/>
            </a:solidFill>
            <a:prstDash val="solid"/>
          </a:ln>
        </p:spPr>
      </p:sp>
      <p:sp>
        <p:nvSpPr>
          <p:cNvPr id="28" name="Shape 21"/>
          <p:cNvSpPr/>
          <p:nvPr/>
        </p:nvSpPr>
        <p:spPr>
          <a:xfrm>
            <a:off x="548640" y="4884725"/>
            <a:ext cx="11094415" cy="510235"/>
          </a:xfrm>
          <a:prstGeom prst="roundRect">
            <a:avLst>
              <a:gd name="adj" fmla="val 14337"/>
            </a:avLst>
          </a:prstGeom>
          <a:solidFill>
            <a:srgbClr val="C44B2F"/>
          </a:solidFill>
          <a:ln w="9525">
            <a:solidFill>
              <a:srgbClr val="C44B2F"/>
            </a:solidFill>
            <a:prstDash val="solid"/>
          </a:ln>
        </p:spPr>
      </p:sp>
      <p:pic>
        <p:nvPicPr>
          <p:cNvPr id="29" name="Image 4" descr="preencoded.png">    </p:cNvPr>
          <p:cNvPicPr>
            <a:picLocks noChangeAspect="1"/>
          </p:cNvPicPr>
          <p:nvPr/>
        </p:nvPicPr>
        <p:blipFill>
          <a:blip r:embed="rId5"/>
          <a:stretch>
            <a:fillRect/>
          </a:stretch>
        </p:blipFill>
        <p:spPr>
          <a:xfrm>
            <a:off x="777240" y="4967021"/>
            <a:ext cx="345643" cy="345643"/>
          </a:xfrm>
          <a:prstGeom prst="rect">
            <a:avLst/>
          </a:prstGeom>
        </p:spPr>
      </p:pic>
      <p:sp>
        <p:nvSpPr>
          <p:cNvPr id="30" name="Text 22"/>
          <p:cNvSpPr txBox="1"/>
          <p:nvPr/>
        </p:nvSpPr>
        <p:spPr>
          <a:xfrm>
            <a:off x="1260043" y="4976165"/>
            <a:ext cx="2214677" cy="327355"/>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Georgia" pitchFamily="34" charset="0"/>
                <a:ea typeface="Georgia" pitchFamily="34" charset="-122"/>
                <a:cs typeface="Georgia" pitchFamily="34" charset="-120"/>
              </a:rPr>
              <a:t>Code</a:t>
            </a:r>
            <a:endParaRPr lang="en-US" sz="1800" dirty="0"/>
          </a:p>
        </p:txBody>
      </p:sp>
      <p:sp>
        <p:nvSpPr>
          <p:cNvPr id="31" name="Text 23"/>
          <p:cNvSpPr txBox="1"/>
          <p:nvPr/>
        </p:nvSpPr>
        <p:spPr>
          <a:xfrm>
            <a:off x="3657600" y="4976165"/>
            <a:ext cx="7756855" cy="327355"/>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rial" pitchFamily="34" charset="0"/>
                <a:ea typeface="Arial" pitchFamily="34" charset="-122"/>
                <a:cs typeface="Arial" pitchFamily="34" charset="-120"/>
              </a:rPr>
              <a:t>only what the layers above authorize</a:t>
            </a:r>
            <a:endParaRPr lang="en-US" sz="1400" dirty="0"/>
          </a:p>
        </p:txBody>
      </p:sp>
      <p:sp>
        <p:nvSpPr>
          <p:cNvPr id="32" name="Text 24"/>
          <p:cNvSpPr txBox="1"/>
          <p:nvPr/>
        </p:nvSpPr>
        <p:spPr>
          <a:xfrm>
            <a:off x="548640" y="5440680"/>
            <a:ext cx="11094415" cy="365760"/>
          </a:xfrm>
          <a:prstGeom prst="rect">
            <a:avLst/>
          </a:prstGeom>
          <a:noFill/>
          <a:ln/>
        </p:spPr>
        <p:txBody>
          <a:bodyPr wrap="square" lIns="0" tIns="0" rIns="0" bIns="0" rtlCol="0" anchor="b">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a change enters at the top layer it touches and flows down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7</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Shared choices and gates</a:t>
            </a:r>
            <a:endParaRPr lang="en-US" sz="3600" dirty="0"/>
          </a:p>
          <a:p>
            <a:pPr algn="l" indent="0" marL="0">
              <a:buNone/>
            </a:pPr>
            <a:r>
              <a:rPr lang="en-US" sz="3600" b="1" dirty="0">
                <a:solidFill>
                  <a:srgbClr val="1F2933"/>
                </a:solidFill>
                <a:latin typeface="Georgia" pitchFamily="34" charset="0"/>
                <a:ea typeface="Georgia" pitchFamily="34" charset="-122"/>
                <a:cs typeface="Georgia" pitchFamily="34" charset="-120"/>
              </a:rPr>
              <a:t>carry control across layers</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S9, S10, S11, S12, S19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7</a:t>
            </a:r>
            <a:endParaRPr lang="en-US" sz="1000" dirty="0"/>
          </a:p>
        </p:txBody>
      </p:sp>
      <p:sp>
        <p:nvSpPr>
          <p:cNvPr id="8" name="Shape 5"/>
          <p:cNvSpPr/>
          <p:nvPr/>
        </p:nvSpPr>
        <p:spPr>
          <a:xfrm>
            <a:off x="548640" y="1965960"/>
            <a:ext cx="5410048" cy="3108960"/>
          </a:xfrm>
          <a:prstGeom prst="roundRect">
            <a:avLst>
              <a:gd name="adj" fmla="val 2941"/>
            </a:avLst>
          </a:prstGeom>
          <a:solidFill>
            <a:srgbClr val="F3F5F8"/>
          </a:solidFill>
          <a:ln w="9525">
            <a:solidFill>
              <a:srgbClr val="D6DCE4"/>
            </a:solidFill>
            <a:prstDash val="solid"/>
          </a:ln>
        </p:spPr>
      </p:sp>
      <p:sp>
        <p:nvSpPr>
          <p:cNvPr id="9" name="Shape 6"/>
          <p:cNvSpPr/>
          <p:nvPr/>
        </p:nvSpPr>
        <p:spPr>
          <a:xfrm>
            <a:off x="822960" y="2075688"/>
            <a:ext cx="411480" cy="411480"/>
          </a:xfrm>
          <a:prstGeom prst="ellipse">
            <a:avLst/>
          </a:prstGeom>
          <a:solidFill>
            <a:srgbClr val="55606D"/>
          </a:solidFill>
          <a:ln w="12700">
            <a:solidFill>
              <a:srgbClr val="55606D"/>
            </a:solidFill>
            <a:prstDash val="solid"/>
          </a:ln>
        </p:spPr>
      </p:sp>
      <p:pic>
        <p:nvPicPr>
          <p:cNvPr id="10" name="Image 0" descr="preencoded.png">    </p:cNvPr>
          <p:cNvPicPr>
            <a:picLocks noChangeAspect="1"/>
          </p:cNvPicPr>
          <p:nvPr/>
        </p:nvPicPr>
        <p:blipFill>
          <a:blip r:embed="rId1"/>
          <a:stretch>
            <a:fillRect/>
          </a:stretch>
        </p:blipFill>
        <p:spPr>
          <a:xfrm>
            <a:off x="905256" y="2157984"/>
            <a:ext cx="246888" cy="246888"/>
          </a:xfrm>
          <a:prstGeom prst="rect">
            <a:avLst/>
          </a:prstGeom>
        </p:spPr>
      </p:pic>
      <p:sp>
        <p:nvSpPr>
          <p:cNvPr id="11" name="Text 7"/>
          <p:cNvSpPr txBox="1"/>
          <p:nvPr/>
        </p:nvSpPr>
        <p:spPr>
          <a:xfrm>
            <a:off x="1371600" y="2148840"/>
            <a:ext cx="4312768" cy="457200"/>
          </a:xfrm>
          <a:prstGeom prst="rect">
            <a:avLst/>
          </a:prstGeom>
          <a:noFill/>
          <a:ln/>
        </p:spPr>
        <p:txBody>
          <a:bodyPr wrap="square" lIns="0" tIns="0" rIns="0" bIns="0" rtlCol="0" anchor="t">
            <a:normAutofit/>
          </a:bodyPr>
          <a:lstStyle/>
          <a:p>
            <a:pPr algn="l" indent="0" marL="0">
              <a:buNone/>
            </a:pPr>
            <a:r>
              <a:rPr lang="en-US" sz="2000" b="1" dirty="0">
                <a:solidFill>
                  <a:srgbClr val="55606D"/>
                </a:solidFill>
                <a:latin typeface="Georgia" pitchFamily="34" charset="0"/>
                <a:ea typeface="Georgia" pitchFamily="34" charset="-122"/>
                <a:cs typeface="Georgia" pitchFamily="34" charset="-120"/>
              </a:rPr>
              <a:t>Without layered control</a:t>
            </a:r>
            <a:endParaRPr lang="en-US" sz="2000" dirty="0"/>
          </a:p>
        </p:txBody>
      </p:sp>
      <p:sp>
        <p:nvSpPr>
          <p:cNvPr id="12" name="Text 8"/>
          <p:cNvSpPr txBox="1"/>
          <p:nvPr/>
        </p:nvSpPr>
        <p:spPr>
          <a:xfrm>
            <a:off x="822960" y="2697480"/>
            <a:ext cx="48614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Each agent re-decides framework, auth, and test approach per task</a:t>
            </a:r>
            <a:endParaRPr lang="en-US" sz="1500" dirty="0"/>
          </a:p>
        </p:txBody>
      </p:sp>
      <p:sp>
        <p:nvSpPr>
          <p:cNvPr id="13" name="Text 9"/>
          <p:cNvSpPr txBox="1"/>
          <p:nvPr/>
        </p:nvSpPr>
        <p:spPr>
          <a:xfrm>
            <a:off x="822960" y="3429000"/>
            <a:ext cx="48614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Drift shows up in review or in production</a:t>
            </a:r>
            <a:endParaRPr lang="en-US" sz="1500" dirty="0"/>
          </a:p>
        </p:txBody>
      </p:sp>
      <p:sp>
        <p:nvSpPr>
          <p:cNvPr id="14" name="Text 10"/>
          <p:cNvSpPr txBox="1"/>
          <p:nvPr/>
        </p:nvSpPr>
        <p:spPr>
          <a:xfrm>
            <a:off x="822960" y="4160520"/>
            <a:ext cx="48614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A claim of done goes unchecked</a:t>
            </a:r>
            <a:endParaRPr lang="en-US" sz="1500" dirty="0"/>
          </a:p>
        </p:txBody>
      </p:sp>
      <p:sp>
        <p:nvSpPr>
          <p:cNvPr id="15" name="Shape 11"/>
          <p:cNvSpPr/>
          <p:nvPr/>
        </p:nvSpPr>
        <p:spPr>
          <a:xfrm>
            <a:off x="6233008" y="1965960"/>
            <a:ext cx="5410048" cy="3108960"/>
          </a:xfrm>
          <a:prstGeom prst="roundRect">
            <a:avLst>
              <a:gd name="adj" fmla="val 2941"/>
            </a:avLst>
          </a:prstGeom>
          <a:solidFill>
            <a:srgbClr val="FFFFFF"/>
          </a:solidFill>
          <a:ln w="9525">
            <a:solidFill>
              <a:srgbClr val="D6DCE4"/>
            </a:solidFill>
            <a:prstDash val="solid"/>
          </a:ln>
        </p:spPr>
      </p:sp>
      <p:sp>
        <p:nvSpPr>
          <p:cNvPr id="16" name="Shape 12"/>
          <p:cNvSpPr/>
          <p:nvPr/>
        </p:nvSpPr>
        <p:spPr>
          <a:xfrm>
            <a:off x="6507328" y="2075688"/>
            <a:ext cx="411480" cy="411480"/>
          </a:xfrm>
          <a:prstGeom prst="ellipse">
            <a:avLst/>
          </a:prstGeom>
          <a:solidFill>
            <a:srgbClr val="3B6BA8"/>
          </a:solidFill>
          <a:ln w="12700">
            <a:solidFill>
              <a:srgbClr val="3B6BA8"/>
            </a:solidFill>
            <a:prstDash val="solid"/>
          </a:ln>
        </p:spPr>
      </p:sp>
      <p:pic>
        <p:nvPicPr>
          <p:cNvPr id="17" name="Image 1" descr="preencoded.png">    </p:cNvPr>
          <p:cNvPicPr>
            <a:picLocks noChangeAspect="1"/>
          </p:cNvPicPr>
          <p:nvPr/>
        </p:nvPicPr>
        <p:blipFill>
          <a:blip r:embed="rId2"/>
          <a:stretch>
            <a:fillRect/>
          </a:stretch>
        </p:blipFill>
        <p:spPr>
          <a:xfrm>
            <a:off x="6589624" y="2157984"/>
            <a:ext cx="246888" cy="246888"/>
          </a:xfrm>
          <a:prstGeom prst="rect">
            <a:avLst/>
          </a:prstGeom>
        </p:spPr>
      </p:pic>
      <p:sp>
        <p:nvSpPr>
          <p:cNvPr id="18" name="Text 13"/>
          <p:cNvSpPr txBox="1"/>
          <p:nvPr/>
        </p:nvSpPr>
        <p:spPr>
          <a:xfrm>
            <a:off x="7055968" y="2148840"/>
            <a:ext cx="4312768" cy="457200"/>
          </a:xfrm>
          <a:prstGeom prst="rect">
            <a:avLst/>
          </a:prstGeom>
          <a:noFill/>
          <a:ln/>
        </p:spPr>
        <p:txBody>
          <a:bodyPr wrap="square" lIns="0" tIns="0" rIns="0" bIns="0" rtlCol="0" anchor="t">
            <a:normAutofit/>
          </a:bodyPr>
          <a:lstStyle/>
          <a:p>
            <a:pPr algn="l" indent="0" marL="0">
              <a:buNone/>
            </a:pPr>
            <a:r>
              <a:rPr lang="en-US" sz="2000" b="1" dirty="0">
                <a:solidFill>
                  <a:srgbClr val="3B6BA8"/>
                </a:solidFill>
                <a:latin typeface="Georgia" pitchFamily="34" charset="0"/>
                <a:ea typeface="Georgia" pitchFamily="34" charset="-122"/>
                <a:cs typeface="Georgia" pitchFamily="34" charset="-120"/>
              </a:rPr>
              <a:t>With layered control</a:t>
            </a:r>
            <a:endParaRPr lang="en-US" sz="2000" dirty="0"/>
          </a:p>
        </p:txBody>
      </p:sp>
      <p:sp>
        <p:nvSpPr>
          <p:cNvPr id="19" name="Shape 14"/>
          <p:cNvSpPr/>
          <p:nvPr/>
        </p:nvSpPr>
        <p:spPr>
          <a:xfrm>
            <a:off x="6507328" y="2743200"/>
            <a:ext cx="292608" cy="292608"/>
          </a:xfrm>
          <a:prstGeom prst="ellipse">
            <a:avLst/>
          </a:prstGeom>
          <a:solidFill>
            <a:srgbClr val="3B6BA8"/>
          </a:solidFill>
          <a:ln w="12700">
            <a:solidFill>
              <a:srgbClr val="3B6BA8"/>
            </a:solidFill>
            <a:prstDash val="solid"/>
          </a:ln>
        </p:spPr>
      </p:sp>
      <p:pic>
        <p:nvPicPr>
          <p:cNvPr id="20" name="Image 2" descr="preencoded.png">    </p:cNvPr>
          <p:cNvPicPr>
            <a:picLocks noChangeAspect="1"/>
          </p:cNvPicPr>
          <p:nvPr/>
        </p:nvPicPr>
        <p:blipFill>
          <a:blip r:embed="rId3"/>
          <a:stretch>
            <a:fillRect/>
          </a:stretch>
        </p:blipFill>
        <p:spPr>
          <a:xfrm>
            <a:off x="6565849" y="2801722"/>
            <a:ext cx="175565" cy="175565"/>
          </a:xfrm>
          <a:prstGeom prst="rect">
            <a:avLst/>
          </a:prstGeom>
        </p:spPr>
      </p:pic>
      <p:sp>
        <p:nvSpPr>
          <p:cNvPr id="21" name="Text 15"/>
          <p:cNvSpPr txBox="1"/>
          <p:nvPr/>
        </p:nvSpPr>
        <p:spPr>
          <a:xfrm>
            <a:off x="6964528" y="2697480"/>
            <a:ext cx="44042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The team picks each shared choice once and every agent inherits it</a:t>
            </a:r>
            <a:endParaRPr lang="en-US" sz="1500" dirty="0"/>
          </a:p>
        </p:txBody>
      </p:sp>
      <p:sp>
        <p:nvSpPr>
          <p:cNvPr id="22" name="Shape 16"/>
          <p:cNvSpPr/>
          <p:nvPr/>
        </p:nvSpPr>
        <p:spPr>
          <a:xfrm>
            <a:off x="6507328" y="3474720"/>
            <a:ext cx="292608" cy="292608"/>
          </a:xfrm>
          <a:prstGeom prst="ellipse">
            <a:avLst/>
          </a:prstGeom>
          <a:solidFill>
            <a:srgbClr val="3B6BA8"/>
          </a:solidFill>
          <a:ln w="12700">
            <a:solidFill>
              <a:srgbClr val="3B6BA8"/>
            </a:solidFill>
            <a:prstDash val="solid"/>
          </a:ln>
        </p:spPr>
      </p:sp>
      <p:pic>
        <p:nvPicPr>
          <p:cNvPr id="23" name="Image 3" descr="preencoded.png">    </p:cNvPr>
          <p:cNvPicPr>
            <a:picLocks noChangeAspect="1"/>
          </p:cNvPicPr>
          <p:nvPr/>
        </p:nvPicPr>
        <p:blipFill>
          <a:blip r:embed="rId4"/>
          <a:stretch>
            <a:fillRect/>
          </a:stretch>
        </p:blipFill>
        <p:spPr>
          <a:xfrm>
            <a:off x="6565849" y="3533242"/>
            <a:ext cx="175565" cy="175565"/>
          </a:xfrm>
          <a:prstGeom prst="rect">
            <a:avLst/>
          </a:prstGeom>
        </p:spPr>
      </p:pic>
      <p:sp>
        <p:nvSpPr>
          <p:cNvPr id="24" name="Text 17"/>
          <p:cNvSpPr txBox="1"/>
          <p:nvPr/>
        </p:nvSpPr>
        <p:spPr>
          <a:xfrm>
            <a:off x="6964528" y="3429000"/>
            <a:ext cx="44042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Gates stop work moving down a layer</a:t>
            </a:r>
            <a:endParaRPr lang="en-US" sz="1500" dirty="0"/>
          </a:p>
        </p:txBody>
      </p:sp>
      <p:sp>
        <p:nvSpPr>
          <p:cNvPr id="25" name="Shape 18"/>
          <p:cNvSpPr/>
          <p:nvPr/>
        </p:nvSpPr>
        <p:spPr>
          <a:xfrm>
            <a:off x="6507328" y="4206240"/>
            <a:ext cx="292608" cy="292608"/>
          </a:xfrm>
          <a:prstGeom prst="ellipse">
            <a:avLst/>
          </a:prstGeom>
          <a:solidFill>
            <a:srgbClr val="3B6BA8"/>
          </a:solidFill>
          <a:ln w="12700">
            <a:solidFill>
              <a:srgbClr val="3B6BA8"/>
            </a:solidFill>
            <a:prstDash val="solid"/>
          </a:ln>
        </p:spPr>
      </p:sp>
      <p:pic>
        <p:nvPicPr>
          <p:cNvPr id="26" name="Image 4" descr="preencoded.png">    </p:cNvPr>
          <p:cNvPicPr>
            <a:picLocks noChangeAspect="1"/>
          </p:cNvPicPr>
          <p:nvPr/>
        </p:nvPicPr>
        <p:blipFill>
          <a:blip r:embed="rId5"/>
          <a:stretch>
            <a:fillRect/>
          </a:stretch>
        </p:blipFill>
        <p:spPr>
          <a:xfrm>
            <a:off x="6565849" y="4264762"/>
            <a:ext cx="175565" cy="175565"/>
          </a:xfrm>
          <a:prstGeom prst="rect">
            <a:avLst/>
          </a:prstGeom>
        </p:spPr>
      </p:pic>
      <p:sp>
        <p:nvSpPr>
          <p:cNvPr id="27" name="Text 19"/>
          <p:cNvSpPr txBox="1"/>
          <p:nvPr/>
        </p:nvSpPr>
        <p:spPr>
          <a:xfrm>
            <a:off x="6964528" y="4160520"/>
            <a:ext cx="4404208" cy="59436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Every claim cites evidence a validator can check</a:t>
            </a:r>
            <a:endParaRPr lang="en-US" sz="1500" dirty="0"/>
          </a:p>
        </p:txBody>
      </p:sp>
      <p:sp>
        <p:nvSpPr>
          <p:cNvPr id="28" name="Text 20"/>
          <p:cNvSpPr txBox="1"/>
          <p:nvPr/>
        </p:nvSpPr>
        <p:spPr>
          <a:xfrm>
            <a:off x="548640" y="5257800"/>
            <a:ext cx="11094415" cy="548640"/>
          </a:xfrm>
          <a:prstGeom prst="rect">
            <a:avLst/>
          </a:prstGeom>
          <a:noFill/>
          <a:ln/>
        </p:spPr>
        <p:txBody>
          <a:bodyPr wrap="square" lIns="0" tIns="0" rIns="0" bIns="0" rtlCol="0" anchor="ctr">
            <a:normAutofit/>
          </a:bodyPr>
          <a:lstStyle/>
          <a:p>
            <a:pPr algn="l" indent="0" marL="0">
              <a:buNone/>
            </a:pPr>
            <a:r>
              <a:rPr lang="en-US" sz="1500" b="1" dirty="0">
                <a:solidFill>
                  <a:srgbClr val="C44B2F"/>
                </a:solidFill>
                <a:latin typeface="Arial" pitchFamily="34" charset="0"/>
                <a:ea typeface="Arial" pitchFamily="34" charset="-122"/>
                <a:cs typeface="Arial" pitchFamily="34" charset="-120"/>
              </a:rPr>
              <a:t>Verdict: the rules live in the layers, not in a prompt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8</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Those same layers produce</a:t>
            </a:r>
            <a:endParaRPr lang="en-US" sz="3600" dirty="0"/>
          </a:p>
          <a:p>
            <a:pPr algn="l" indent="0" marL="0">
              <a:buNone/>
            </a:pPr>
            <a:r>
              <a:rPr lang="en-US" sz="3600" b="1" dirty="0">
                <a:solidFill>
                  <a:srgbClr val="1F2933"/>
                </a:solidFill>
                <a:latin typeface="Georgia" pitchFamily="34" charset="0"/>
                <a:ea typeface="Georgia" pitchFamily="34" charset="-122"/>
                <a:cs typeface="Georgia" pitchFamily="34" charset="-120"/>
              </a:rPr>
              <a:t>the documents sponsors read</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S16, S17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8</a:t>
            </a:r>
            <a:endParaRPr lang="en-US" sz="1000" dirty="0"/>
          </a:p>
        </p:txBody>
      </p:sp>
      <p:sp>
        <p:nvSpPr>
          <p:cNvPr id="8" name="Shape 5"/>
          <p:cNvSpPr/>
          <p:nvPr/>
        </p:nvSpPr>
        <p:spPr>
          <a:xfrm>
            <a:off x="548640" y="2286000"/>
            <a:ext cx="3515258" cy="3200400"/>
          </a:xfrm>
          <a:prstGeom prst="roundRect">
            <a:avLst>
              <a:gd name="adj" fmla="val 2857"/>
            </a:avLst>
          </a:prstGeom>
          <a:solidFill>
            <a:srgbClr val="F3F5F8"/>
          </a:solidFill>
          <a:ln w="9525">
            <a:solidFill>
              <a:srgbClr val="D6DCE4"/>
            </a:solidFill>
            <a:prstDash val="solid"/>
          </a:ln>
        </p:spPr>
      </p:sp>
      <p:sp>
        <p:nvSpPr>
          <p:cNvPr id="9" name="Shape 6"/>
          <p:cNvSpPr/>
          <p:nvPr/>
        </p:nvSpPr>
        <p:spPr>
          <a:xfrm>
            <a:off x="1849069" y="2743200"/>
            <a:ext cx="914400" cy="914400"/>
          </a:xfrm>
          <a:prstGeom prst="ellipse">
            <a:avLst/>
          </a:prstGeom>
          <a:solidFill>
            <a:srgbClr val="3B6BA8"/>
          </a:solidFill>
          <a:ln w="12700">
            <a:solidFill>
              <a:srgbClr val="3B6BA8"/>
            </a:solidFill>
            <a:prstDash val="solid"/>
          </a:ln>
        </p:spPr>
      </p:sp>
      <p:pic>
        <p:nvPicPr>
          <p:cNvPr id="10" name="Image 0" descr="preencoded.png">    </p:cNvPr>
          <p:cNvPicPr>
            <a:picLocks noChangeAspect="1"/>
          </p:cNvPicPr>
          <p:nvPr/>
        </p:nvPicPr>
        <p:blipFill>
          <a:blip r:embed="rId1"/>
          <a:stretch>
            <a:fillRect/>
          </a:stretch>
        </p:blipFill>
        <p:spPr>
          <a:xfrm>
            <a:off x="2031949" y="2926080"/>
            <a:ext cx="548640" cy="548640"/>
          </a:xfrm>
          <a:prstGeom prst="rect">
            <a:avLst/>
          </a:prstGeom>
        </p:spPr>
      </p:pic>
      <p:sp>
        <p:nvSpPr>
          <p:cNvPr id="11" name="Text 7"/>
          <p:cNvSpPr txBox="1"/>
          <p:nvPr/>
        </p:nvSpPr>
        <p:spPr>
          <a:xfrm>
            <a:off x="621792" y="3886200"/>
            <a:ext cx="3368954"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Status report</a:t>
            </a:r>
            <a:endParaRPr lang="en-US" sz="1600" dirty="0"/>
          </a:p>
        </p:txBody>
      </p:sp>
      <p:sp>
        <p:nvSpPr>
          <p:cNvPr id="12" name="Text 8"/>
          <p:cNvSpPr txBox="1"/>
          <p:nvPr/>
        </p:nvSpPr>
        <p:spPr>
          <a:xfrm>
            <a:off x="685800" y="4434840"/>
            <a:ext cx="3240938" cy="68580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for sponsors and clients, from the iteration plan, with evidence per claim</a:t>
            </a:r>
            <a:endParaRPr lang="en-US" sz="1300" dirty="0"/>
          </a:p>
        </p:txBody>
      </p:sp>
      <p:sp>
        <p:nvSpPr>
          <p:cNvPr id="13" name="Shape 9"/>
          <p:cNvSpPr/>
          <p:nvPr/>
        </p:nvSpPr>
        <p:spPr>
          <a:xfrm>
            <a:off x="4338218" y="2286000"/>
            <a:ext cx="3515258" cy="3200400"/>
          </a:xfrm>
          <a:prstGeom prst="roundRect">
            <a:avLst>
              <a:gd name="adj" fmla="val 2857"/>
            </a:avLst>
          </a:prstGeom>
          <a:solidFill>
            <a:srgbClr val="F3F5F8"/>
          </a:solidFill>
          <a:ln w="9525">
            <a:solidFill>
              <a:srgbClr val="D6DCE4"/>
            </a:solidFill>
            <a:prstDash val="solid"/>
          </a:ln>
        </p:spPr>
      </p:sp>
      <p:sp>
        <p:nvSpPr>
          <p:cNvPr id="14" name="Shape 10"/>
          <p:cNvSpPr/>
          <p:nvPr/>
        </p:nvSpPr>
        <p:spPr>
          <a:xfrm>
            <a:off x="5638648" y="2743200"/>
            <a:ext cx="914400" cy="914400"/>
          </a:xfrm>
          <a:prstGeom prst="ellipse">
            <a:avLst/>
          </a:prstGeom>
          <a:solidFill>
            <a:srgbClr val="3B6BA8"/>
          </a:solidFill>
          <a:ln w="12700">
            <a:solidFill>
              <a:srgbClr val="3B6BA8"/>
            </a:solidFill>
            <a:prstDash val="solid"/>
          </a:ln>
        </p:spPr>
      </p:sp>
      <p:pic>
        <p:nvPicPr>
          <p:cNvPr id="15" name="Image 1" descr="preencoded.png">    </p:cNvPr>
          <p:cNvPicPr>
            <a:picLocks noChangeAspect="1"/>
          </p:cNvPicPr>
          <p:nvPr/>
        </p:nvPicPr>
        <p:blipFill>
          <a:blip r:embed="rId2"/>
          <a:stretch>
            <a:fillRect/>
          </a:stretch>
        </p:blipFill>
        <p:spPr>
          <a:xfrm>
            <a:off x="5821528" y="2926080"/>
            <a:ext cx="548640" cy="548640"/>
          </a:xfrm>
          <a:prstGeom prst="rect">
            <a:avLst/>
          </a:prstGeom>
        </p:spPr>
      </p:pic>
      <p:sp>
        <p:nvSpPr>
          <p:cNvPr id="16" name="Text 11"/>
          <p:cNvSpPr txBox="1"/>
          <p:nvPr/>
        </p:nvSpPr>
        <p:spPr>
          <a:xfrm>
            <a:off x="4411370" y="3886200"/>
            <a:ext cx="3368954"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Deck or brief</a:t>
            </a:r>
            <a:endParaRPr lang="en-US" sz="1600" dirty="0"/>
          </a:p>
        </p:txBody>
      </p:sp>
      <p:sp>
        <p:nvSpPr>
          <p:cNvPr id="17" name="Text 12"/>
          <p:cNvSpPr txBox="1"/>
          <p:nvPr/>
        </p:nvSpPr>
        <p:spPr>
          <a:xfrm>
            <a:off x="4475378" y="4434840"/>
            <a:ext cx="3240938" cy="68580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for executives and customers, from any governed document set, every number sourced</a:t>
            </a:r>
            <a:endParaRPr lang="en-US" sz="1300" dirty="0"/>
          </a:p>
        </p:txBody>
      </p:sp>
      <p:sp>
        <p:nvSpPr>
          <p:cNvPr id="18" name="Shape 13"/>
          <p:cNvSpPr/>
          <p:nvPr/>
        </p:nvSpPr>
        <p:spPr>
          <a:xfrm>
            <a:off x="8127797" y="2286000"/>
            <a:ext cx="3515258" cy="3200400"/>
          </a:xfrm>
          <a:prstGeom prst="roundRect">
            <a:avLst>
              <a:gd name="adj" fmla="val 2857"/>
            </a:avLst>
          </a:prstGeom>
          <a:solidFill>
            <a:srgbClr val="F3F5F8"/>
          </a:solidFill>
          <a:ln w="9525">
            <a:solidFill>
              <a:srgbClr val="D6DCE4"/>
            </a:solidFill>
            <a:prstDash val="solid"/>
          </a:ln>
        </p:spPr>
      </p:sp>
      <p:sp>
        <p:nvSpPr>
          <p:cNvPr id="19" name="Shape 14"/>
          <p:cNvSpPr/>
          <p:nvPr/>
        </p:nvSpPr>
        <p:spPr>
          <a:xfrm>
            <a:off x="9428226" y="2743200"/>
            <a:ext cx="914400" cy="914400"/>
          </a:xfrm>
          <a:prstGeom prst="ellipse">
            <a:avLst/>
          </a:prstGeom>
          <a:solidFill>
            <a:srgbClr val="3B6BA8"/>
          </a:solidFill>
          <a:ln w="12700">
            <a:solidFill>
              <a:srgbClr val="3B6BA8"/>
            </a:solidFill>
            <a:prstDash val="solid"/>
          </a:ln>
        </p:spPr>
      </p:sp>
      <p:pic>
        <p:nvPicPr>
          <p:cNvPr id="20" name="Image 2" descr="preencoded.png">    </p:cNvPr>
          <p:cNvPicPr>
            <a:picLocks noChangeAspect="1"/>
          </p:cNvPicPr>
          <p:nvPr/>
        </p:nvPicPr>
        <p:blipFill>
          <a:blip r:embed="rId3"/>
          <a:stretch>
            <a:fillRect/>
          </a:stretch>
        </p:blipFill>
        <p:spPr>
          <a:xfrm>
            <a:off x="9611106" y="2926080"/>
            <a:ext cx="548640" cy="548640"/>
          </a:xfrm>
          <a:prstGeom prst="rect">
            <a:avLst/>
          </a:prstGeom>
        </p:spPr>
      </p:pic>
      <p:sp>
        <p:nvSpPr>
          <p:cNvPr id="21" name="Text 15"/>
          <p:cNvSpPr txBox="1"/>
          <p:nvPr/>
        </p:nvSpPr>
        <p:spPr>
          <a:xfrm>
            <a:off x="8200949" y="3886200"/>
            <a:ext cx="3368954" cy="457200"/>
          </a:xfrm>
          <a:prstGeom prst="rect">
            <a:avLst/>
          </a:prstGeom>
          <a:noFill/>
          <a:ln/>
        </p:spPr>
        <p:txBody>
          <a:bodyPr wrap="square" lIns="0" tIns="0" rIns="0" bIns="0" rtlCol="0" anchor="t">
            <a:normAutofit/>
          </a:bodyPr>
          <a:lstStyle/>
          <a:p>
            <a:pPr algn="ctr" indent="0" marL="0">
              <a:buNone/>
            </a:pPr>
            <a:r>
              <a:rPr lang="en-US" sz="1600" b="1" dirty="0">
                <a:solidFill>
                  <a:srgbClr val="1F2933"/>
                </a:solidFill>
                <a:latin typeface="Arial" pitchFamily="34" charset="0"/>
                <a:ea typeface="Arial" pitchFamily="34" charset="-122"/>
                <a:cs typeface="Arial" pitchFamily="34" charset="-120"/>
              </a:rPr>
              <a:t>Release notes</a:t>
            </a:r>
            <a:endParaRPr lang="en-US" sz="1600" dirty="0"/>
          </a:p>
        </p:txBody>
      </p:sp>
      <p:sp>
        <p:nvSpPr>
          <p:cNvPr id="22" name="Text 16"/>
          <p:cNvSpPr txBox="1"/>
          <p:nvPr/>
        </p:nvSpPr>
        <p:spPr>
          <a:xfrm>
            <a:off x="8264957" y="4434840"/>
            <a:ext cx="3240938" cy="68580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for users and support, from the deploy documents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9</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In the worked example, one</a:t>
            </a:r>
            <a:endParaRPr lang="en-US" sz="3600" dirty="0"/>
          </a:p>
          <a:p>
            <a:pPr algn="l" indent="0" marL="0">
              <a:buNone/>
            </a:pPr>
            <a:r>
              <a:rPr lang="en-US" sz="3600" b="1" dirty="0">
                <a:solidFill>
                  <a:srgbClr val="1F2933"/>
                </a:solidFill>
                <a:latin typeface="Georgia" pitchFamily="34" charset="0"/>
                <a:ea typeface="Georgia" pitchFamily="34" charset="-122"/>
                <a:cs typeface="Georgia" pitchFamily="34" charset="-120"/>
              </a:rPr>
              <a:t>gate flags six documents</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S8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9</a:t>
            </a:r>
            <a:endParaRPr lang="en-US" sz="1000" dirty="0"/>
          </a:p>
        </p:txBody>
      </p:sp>
      <p:sp>
        <p:nvSpPr>
          <p:cNvPr id="8" name="Text 5"/>
          <p:cNvSpPr txBox="1"/>
          <p:nvPr/>
        </p:nvSpPr>
        <p:spPr>
          <a:xfrm>
            <a:off x="548640" y="1965960"/>
            <a:ext cx="4462653" cy="3840480"/>
          </a:xfrm>
          <a:prstGeom prst="rect">
            <a:avLst/>
          </a:prstGeom>
          <a:noFill/>
          <a:ln/>
        </p:spPr>
        <p:txBody>
          <a:bodyPr wrap="square" lIns="0" tIns="0" rIns="0" bIns="0" rtlCol="0" anchor="t"/>
          <a:lstStyle/>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The product vision walks one change, adding OAuth login, through the alignment check</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Six documents need work before code: 3 specs, 2 designs, the security architecture</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It also flags 1 conflicting decision, 4 missing stories, and 1 test plan</a:t>
            </a:r>
            <a:endParaRPr lang="en-US" sz="1800" dirty="0"/>
          </a:p>
          <a:p>
            <a:pPr marL="228600" indent="-228600">
              <a:spcAft>
                <a:spcPts val="1080"/>
              </a:spcAft>
              <a:buSzPct val="100000"/>
              <a:buChar char="•"/>
            </a:pPr>
            <a:r>
              <a:rPr lang="en-US" sz="1800" dirty="0">
                <a:solidFill>
                  <a:srgbClr val="1F2933"/>
                </a:solidFill>
                <a:latin typeface="Arial" pitchFamily="34" charset="0"/>
                <a:ea typeface="Arial" pitchFamily="34" charset="-122"/>
                <a:cs typeface="Arial" pitchFamily="34" charset="-120"/>
              </a:rPr>
              <a:t>The plan comes back in authority order: architecture first, then specs, stories, designs</a:t>
            </a:r>
            <a:endParaRPr lang="en-US" sz="1800" dirty="0"/>
          </a:p>
        </p:txBody>
      </p:sp>
      <p:sp>
        <p:nvSpPr>
          <p:cNvPr id="9" name="Shape 6"/>
          <p:cNvSpPr/>
          <p:nvPr/>
        </p:nvSpPr>
        <p:spPr>
          <a:xfrm>
            <a:off x="5285613" y="2279485"/>
            <a:ext cx="1383621" cy="3213429"/>
          </a:xfrm>
          <a:prstGeom prst="roundRect">
            <a:avLst>
              <a:gd name="adj" fmla="val 6609"/>
            </a:avLst>
          </a:prstGeom>
          <a:solidFill>
            <a:srgbClr val="F3F5F8"/>
          </a:solidFill>
          <a:ln w="9525">
            <a:solidFill>
              <a:srgbClr val="D6DCE4"/>
            </a:solidFill>
            <a:prstDash val="solid"/>
          </a:ln>
        </p:spPr>
      </p:sp>
      <p:sp>
        <p:nvSpPr>
          <p:cNvPr id="10" name="Shape 7"/>
          <p:cNvSpPr/>
          <p:nvPr/>
        </p:nvSpPr>
        <p:spPr>
          <a:xfrm>
            <a:off x="5666109" y="2736685"/>
            <a:ext cx="622629" cy="622629"/>
          </a:xfrm>
          <a:prstGeom prst="ellipse">
            <a:avLst/>
          </a:prstGeom>
          <a:solidFill>
            <a:srgbClr val="3B6BA8"/>
          </a:solidFill>
          <a:ln w="12700">
            <a:solidFill>
              <a:srgbClr val="3B6BA8"/>
            </a:solidFill>
            <a:prstDash val="solid"/>
          </a:ln>
        </p:spPr>
      </p:sp>
      <p:pic>
        <p:nvPicPr>
          <p:cNvPr id="11" name="Image 0" descr="preencoded.png">    </p:cNvPr>
          <p:cNvPicPr>
            <a:picLocks noChangeAspect="1"/>
          </p:cNvPicPr>
          <p:nvPr/>
        </p:nvPicPr>
        <p:blipFill>
          <a:blip r:embed="rId1"/>
          <a:stretch>
            <a:fillRect/>
          </a:stretch>
        </p:blipFill>
        <p:spPr>
          <a:xfrm>
            <a:off x="5790635" y="2861211"/>
            <a:ext cx="373578" cy="373578"/>
          </a:xfrm>
          <a:prstGeom prst="rect">
            <a:avLst/>
          </a:prstGeom>
        </p:spPr>
      </p:pic>
      <p:sp>
        <p:nvSpPr>
          <p:cNvPr id="12" name="Text 8"/>
          <p:cNvSpPr txBox="1"/>
          <p:nvPr/>
        </p:nvSpPr>
        <p:spPr>
          <a:xfrm>
            <a:off x="5358765" y="3587915"/>
            <a:ext cx="1237317" cy="594360"/>
          </a:xfrm>
          <a:prstGeom prst="rect">
            <a:avLst/>
          </a:prstGeom>
          <a:noFill/>
          <a:ln/>
        </p:spPr>
        <p:txBody>
          <a:bodyPr wrap="square" lIns="0" tIns="0" rIns="0" bIns="0" rtlCol="0" anchor="ctr">
            <a:normAutofit/>
          </a:bodyPr>
          <a:lstStyle/>
          <a:p>
            <a:pPr algn="ctr" indent="0" marL="0">
              <a:buNone/>
            </a:pPr>
            <a:r>
              <a:rPr lang="en-US" sz="3600" b="1" dirty="0">
                <a:solidFill>
                  <a:srgbClr val="3B6BA8"/>
                </a:solidFill>
                <a:latin typeface="Georgia" pitchFamily="34" charset="0"/>
                <a:ea typeface="Georgia" pitchFamily="34" charset="-122"/>
                <a:cs typeface="Georgia" pitchFamily="34" charset="-120"/>
              </a:rPr>
              <a:t>3</a:t>
            </a:r>
            <a:endParaRPr lang="en-US" sz="3600" dirty="0"/>
          </a:p>
        </p:txBody>
      </p:sp>
      <p:sp>
        <p:nvSpPr>
          <p:cNvPr id="13" name="Text 9"/>
          <p:cNvSpPr txBox="1"/>
          <p:nvPr/>
        </p:nvSpPr>
        <p:spPr>
          <a:xfrm>
            <a:off x="5358765" y="4182275"/>
            <a:ext cx="1237317" cy="365760"/>
          </a:xfrm>
          <a:prstGeom prst="rect">
            <a:avLst/>
          </a:prstGeom>
          <a:noFill/>
          <a:ln/>
        </p:spPr>
        <p:txBody>
          <a:bodyPr wrap="square" lIns="0" tIns="0" rIns="0" bIns="0" rtlCol="0" anchor="t">
            <a:normAutofit/>
          </a:bodyPr>
          <a:lstStyle/>
          <a:p>
            <a:pPr algn="ctr" indent="0" marL="0">
              <a:buNone/>
            </a:pPr>
            <a:r>
              <a:rPr lang="en-US" sz="1400" b="1" dirty="0">
                <a:solidFill>
                  <a:srgbClr val="1F2933"/>
                </a:solidFill>
                <a:latin typeface="Arial" pitchFamily="34" charset="0"/>
                <a:ea typeface="Arial" pitchFamily="34" charset="-122"/>
                <a:cs typeface="Arial" pitchFamily="34" charset="-120"/>
              </a:rPr>
              <a:t>specs</a:t>
            </a:r>
            <a:endParaRPr lang="en-US" sz="1400" dirty="0"/>
          </a:p>
        </p:txBody>
      </p:sp>
      <p:sp>
        <p:nvSpPr>
          <p:cNvPr id="14" name="Text 10"/>
          <p:cNvSpPr txBox="1"/>
          <p:nvPr/>
        </p:nvSpPr>
        <p:spPr>
          <a:xfrm>
            <a:off x="5422773" y="4639475"/>
            <a:ext cx="1109301" cy="48768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affected by the change</a:t>
            </a:r>
            <a:endParaRPr lang="en-US" sz="1300" dirty="0"/>
          </a:p>
        </p:txBody>
      </p:sp>
      <p:sp>
        <p:nvSpPr>
          <p:cNvPr id="15" name="Shape 11"/>
          <p:cNvSpPr/>
          <p:nvPr/>
        </p:nvSpPr>
        <p:spPr>
          <a:xfrm>
            <a:off x="6943554" y="2279485"/>
            <a:ext cx="1383621" cy="3213429"/>
          </a:xfrm>
          <a:prstGeom prst="roundRect">
            <a:avLst>
              <a:gd name="adj" fmla="val 6609"/>
            </a:avLst>
          </a:prstGeom>
          <a:solidFill>
            <a:srgbClr val="F3F5F8"/>
          </a:solidFill>
          <a:ln w="9525">
            <a:solidFill>
              <a:srgbClr val="D6DCE4"/>
            </a:solidFill>
            <a:prstDash val="solid"/>
          </a:ln>
        </p:spPr>
      </p:sp>
      <p:sp>
        <p:nvSpPr>
          <p:cNvPr id="16" name="Shape 12"/>
          <p:cNvSpPr/>
          <p:nvPr/>
        </p:nvSpPr>
        <p:spPr>
          <a:xfrm>
            <a:off x="7324049" y="2736685"/>
            <a:ext cx="622629" cy="622629"/>
          </a:xfrm>
          <a:prstGeom prst="ellipse">
            <a:avLst/>
          </a:prstGeom>
          <a:solidFill>
            <a:srgbClr val="3B6BA8"/>
          </a:solidFill>
          <a:ln w="12700">
            <a:solidFill>
              <a:srgbClr val="3B6BA8"/>
            </a:solidFill>
            <a:prstDash val="solid"/>
          </a:ln>
        </p:spPr>
      </p:sp>
      <p:pic>
        <p:nvPicPr>
          <p:cNvPr id="17" name="Image 1" descr="preencoded.png">    </p:cNvPr>
          <p:cNvPicPr>
            <a:picLocks noChangeAspect="1"/>
          </p:cNvPicPr>
          <p:nvPr/>
        </p:nvPicPr>
        <p:blipFill>
          <a:blip r:embed="rId2"/>
          <a:stretch>
            <a:fillRect/>
          </a:stretch>
        </p:blipFill>
        <p:spPr>
          <a:xfrm>
            <a:off x="7448575" y="2861211"/>
            <a:ext cx="373578" cy="373578"/>
          </a:xfrm>
          <a:prstGeom prst="rect">
            <a:avLst/>
          </a:prstGeom>
        </p:spPr>
      </p:pic>
      <p:sp>
        <p:nvSpPr>
          <p:cNvPr id="18" name="Text 13"/>
          <p:cNvSpPr txBox="1"/>
          <p:nvPr/>
        </p:nvSpPr>
        <p:spPr>
          <a:xfrm>
            <a:off x="7016706" y="3587915"/>
            <a:ext cx="1237317" cy="594360"/>
          </a:xfrm>
          <a:prstGeom prst="rect">
            <a:avLst/>
          </a:prstGeom>
          <a:noFill/>
          <a:ln/>
        </p:spPr>
        <p:txBody>
          <a:bodyPr wrap="square" lIns="0" tIns="0" rIns="0" bIns="0" rtlCol="0" anchor="ctr">
            <a:normAutofit/>
          </a:bodyPr>
          <a:lstStyle/>
          <a:p>
            <a:pPr algn="ctr" indent="0" marL="0">
              <a:buNone/>
            </a:pPr>
            <a:r>
              <a:rPr lang="en-US" sz="3600" b="1" dirty="0">
                <a:solidFill>
                  <a:srgbClr val="3B6BA8"/>
                </a:solidFill>
                <a:latin typeface="Georgia" pitchFamily="34" charset="0"/>
                <a:ea typeface="Georgia" pitchFamily="34" charset="-122"/>
                <a:cs typeface="Georgia" pitchFamily="34" charset="-120"/>
              </a:rPr>
              <a:t>2</a:t>
            </a:r>
            <a:endParaRPr lang="en-US" sz="3600" dirty="0"/>
          </a:p>
        </p:txBody>
      </p:sp>
      <p:sp>
        <p:nvSpPr>
          <p:cNvPr id="19" name="Text 14"/>
          <p:cNvSpPr txBox="1"/>
          <p:nvPr/>
        </p:nvSpPr>
        <p:spPr>
          <a:xfrm>
            <a:off x="7016706" y="4182275"/>
            <a:ext cx="1237317" cy="365760"/>
          </a:xfrm>
          <a:prstGeom prst="rect">
            <a:avLst/>
          </a:prstGeom>
          <a:noFill/>
          <a:ln/>
        </p:spPr>
        <p:txBody>
          <a:bodyPr wrap="square" lIns="0" tIns="0" rIns="0" bIns="0" rtlCol="0" anchor="t">
            <a:normAutofit/>
          </a:bodyPr>
          <a:lstStyle/>
          <a:p>
            <a:pPr algn="ctr" indent="0" marL="0">
              <a:buNone/>
            </a:pPr>
            <a:r>
              <a:rPr lang="en-US" sz="1400" b="1" dirty="0">
                <a:solidFill>
                  <a:srgbClr val="1F2933"/>
                </a:solidFill>
                <a:latin typeface="Arial" pitchFamily="34" charset="0"/>
                <a:ea typeface="Arial" pitchFamily="34" charset="-122"/>
                <a:cs typeface="Arial" pitchFamily="34" charset="-120"/>
              </a:rPr>
              <a:t>designs</a:t>
            </a:r>
            <a:endParaRPr lang="en-US" sz="1400" dirty="0"/>
          </a:p>
        </p:txBody>
      </p:sp>
      <p:sp>
        <p:nvSpPr>
          <p:cNvPr id="20" name="Text 15"/>
          <p:cNvSpPr txBox="1"/>
          <p:nvPr/>
        </p:nvSpPr>
        <p:spPr>
          <a:xfrm>
            <a:off x="7080714" y="4639475"/>
            <a:ext cx="1109301" cy="48768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affected by the change</a:t>
            </a:r>
            <a:endParaRPr lang="en-US" sz="1300" dirty="0"/>
          </a:p>
        </p:txBody>
      </p:sp>
      <p:sp>
        <p:nvSpPr>
          <p:cNvPr id="21" name="Shape 16"/>
          <p:cNvSpPr/>
          <p:nvPr/>
        </p:nvSpPr>
        <p:spPr>
          <a:xfrm>
            <a:off x="8601494" y="2279485"/>
            <a:ext cx="1383621" cy="3213429"/>
          </a:xfrm>
          <a:prstGeom prst="roundRect">
            <a:avLst>
              <a:gd name="adj" fmla="val 6609"/>
            </a:avLst>
          </a:prstGeom>
          <a:solidFill>
            <a:srgbClr val="F3F5F8"/>
          </a:solidFill>
          <a:ln w="9525">
            <a:solidFill>
              <a:srgbClr val="D6DCE4"/>
            </a:solidFill>
            <a:prstDash val="solid"/>
          </a:ln>
        </p:spPr>
      </p:sp>
      <p:sp>
        <p:nvSpPr>
          <p:cNvPr id="22" name="Shape 17"/>
          <p:cNvSpPr/>
          <p:nvPr/>
        </p:nvSpPr>
        <p:spPr>
          <a:xfrm>
            <a:off x="8981990" y="2736685"/>
            <a:ext cx="622629" cy="622629"/>
          </a:xfrm>
          <a:prstGeom prst="ellipse">
            <a:avLst/>
          </a:prstGeom>
          <a:solidFill>
            <a:srgbClr val="3B6BA8"/>
          </a:solidFill>
          <a:ln w="12700">
            <a:solidFill>
              <a:srgbClr val="3B6BA8"/>
            </a:solidFill>
            <a:prstDash val="solid"/>
          </a:ln>
        </p:spPr>
      </p:sp>
      <p:pic>
        <p:nvPicPr>
          <p:cNvPr id="23" name="Image 2" descr="preencoded.png">    </p:cNvPr>
          <p:cNvPicPr>
            <a:picLocks noChangeAspect="1"/>
          </p:cNvPicPr>
          <p:nvPr/>
        </p:nvPicPr>
        <p:blipFill>
          <a:blip r:embed="rId3"/>
          <a:stretch>
            <a:fillRect/>
          </a:stretch>
        </p:blipFill>
        <p:spPr>
          <a:xfrm>
            <a:off x="9106516" y="2861211"/>
            <a:ext cx="373578" cy="373578"/>
          </a:xfrm>
          <a:prstGeom prst="rect">
            <a:avLst/>
          </a:prstGeom>
        </p:spPr>
      </p:pic>
      <p:sp>
        <p:nvSpPr>
          <p:cNvPr id="24" name="Text 18"/>
          <p:cNvSpPr txBox="1"/>
          <p:nvPr/>
        </p:nvSpPr>
        <p:spPr>
          <a:xfrm>
            <a:off x="8674646" y="3587915"/>
            <a:ext cx="1237317" cy="594360"/>
          </a:xfrm>
          <a:prstGeom prst="rect">
            <a:avLst/>
          </a:prstGeom>
          <a:noFill/>
          <a:ln/>
        </p:spPr>
        <p:txBody>
          <a:bodyPr wrap="square" lIns="0" tIns="0" rIns="0" bIns="0" rtlCol="0" anchor="ctr">
            <a:normAutofit/>
          </a:bodyPr>
          <a:lstStyle/>
          <a:p>
            <a:pPr algn="ctr" indent="0" marL="0">
              <a:buNone/>
            </a:pPr>
            <a:r>
              <a:rPr lang="en-US" sz="3600" b="1" dirty="0">
                <a:solidFill>
                  <a:srgbClr val="3B6BA8"/>
                </a:solidFill>
                <a:latin typeface="Georgia" pitchFamily="34" charset="0"/>
                <a:ea typeface="Georgia" pitchFamily="34" charset="-122"/>
                <a:cs typeface="Georgia" pitchFamily="34" charset="-120"/>
              </a:rPr>
              <a:t>1</a:t>
            </a:r>
            <a:endParaRPr lang="en-US" sz="3600" dirty="0"/>
          </a:p>
        </p:txBody>
      </p:sp>
      <p:sp>
        <p:nvSpPr>
          <p:cNvPr id="25" name="Text 19"/>
          <p:cNvSpPr txBox="1"/>
          <p:nvPr/>
        </p:nvSpPr>
        <p:spPr>
          <a:xfrm>
            <a:off x="8674646" y="4182275"/>
            <a:ext cx="1237317" cy="365760"/>
          </a:xfrm>
          <a:prstGeom prst="rect">
            <a:avLst/>
          </a:prstGeom>
          <a:noFill/>
          <a:ln/>
        </p:spPr>
        <p:txBody>
          <a:bodyPr wrap="square" lIns="0" tIns="0" rIns="0" bIns="0" rtlCol="0" anchor="t">
            <a:normAutofit/>
          </a:bodyPr>
          <a:lstStyle/>
          <a:p>
            <a:pPr algn="ctr" indent="0" marL="0">
              <a:buNone/>
            </a:pPr>
            <a:r>
              <a:rPr lang="en-US" sz="1400" b="1" dirty="0">
                <a:solidFill>
                  <a:srgbClr val="1F2933"/>
                </a:solidFill>
                <a:latin typeface="Arial" pitchFamily="34" charset="0"/>
                <a:ea typeface="Arial" pitchFamily="34" charset="-122"/>
                <a:cs typeface="Arial" pitchFamily="34" charset="-120"/>
              </a:rPr>
              <a:t>decision</a:t>
            </a:r>
            <a:endParaRPr lang="en-US" sz="1400" dirty="0"/>
          </a:p>
        </p:txBody>
      </p:sp>
      <p:sp>
        <p:nvSpPr>
          <p:cNvPr id="26" name="Text 20"/>
          <p:cNvSpPr txBox="1"/>
          <p:nvPr/>
        </p:nvSpPr>
        <p:spPr>
          <a:xfrm>
            <a:off x="8738654" y="4639475"/>
            <a:ext cx="1109301" cy="48768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in conflict with OAuth</a:t>
            </a:r>
            <a:endParaRPr lang="en-US" sz="1300" dirty="0"/>
          </a:p>
        </p:txBody>
      </p:sp>
      <p:sp>
        <p:nvSpPr>
          <p:cNvPr id="27" name="Shape 21"/>
          <p:cNvSpPr/>
          <p:nvPr/>
        </p:nvSpPr>
        <p:spPr>
          <a:xfrm>
            <a:off x="10259435" y="2279485"/>
            <a:ext cx="1383621" cy="3213429"/>
          </a:xfrm>
          <a:prstGeom prst="roundRect">
            <a:avLst>
              <a:gd name="adj" fmla="val 6609"/>
            </a:avLst>
          </a:prstGeom>
          <a:solidFill>
            <a:srgbClr val="F3F5F8"/>
          </a:solidFill>
          <a:ln w="9525">
            <a:solidFill>
              <a:srgbClr val="D6DCE4"/>
            </a:solidFill>
            <a:prstDash val="solid"/>
          </a:ln>
        </p:spPr>
      </p:sp>
      <p:sp>
        <p:nvSpPr>
          <p:cNvPr id="28" name="Shape 22"/>
          <p:cNvSpPr/>
          <p:nvPr/>
        </p:nvSpPr>
        <p:spPr>
          <a:xfrm>
            <a:off x="10639930" y="2736685"/>
            <a:ext cx="622629" cy="622629"/>
          </a:xfrm>
          <a:prstGeom prst="ellipse">
            <a:avLst/>
          </a:prstGeom>
          <a:solidFill>
            <a:srgbClr val="3B6BA8"/>
          </a:solidFill>
          <a:ln w="12700">
            <a:solidFill>
              <a:srgbClr val="3B6BA8"/>
            </a:solidFill>
            <a:prstDash val="solid"/>
          </a:ln>
        </p:spPr>
      </p:sp>
      <p:pic>
        <p:nvPicPr>
          <p:cNvPr id="29" name="Image 3" descr="preencoded.png">    </p:cNvPr>
          <p:cNvPicPr>
            <a:picLocks noChangeAspect="1"/>
          </p:cNvPicPr>
          <p:nvPr/>
        </p:nvPicPr>
        <p:blipFill>
          <a:blip r:embed="rId4"/>
          <a:stretch>
            <a:fillRect/>
          </a:stretch>
        </p:blipFill>
        <p:spPr>
          <a:xfrm>
            <a:off x="10764456" y="2861211"/>
            <a:ext cx="373578" cy="373578"/>
          </a:xfrm>
          <a:prstGeom prst="rect">
            <a:avLst/>
          </a:prstGeom>
        </p:spPr>
      </p:pic>
      <p:sp>
        <p:nvSpPr>
          <p:cNvPr id="30" name="Text 23"/>
          <p:cNvSpPr txBox="1"/>
          <p:nvPr/>
        </p:nvSpPr>
        <p:spPr>
          <a:xfrm>
            <a:off x="10332587" y="3587915"/>
            <a:ext cx="1237317" cy="594360"/>
          </a:xfrm>
          <a:prstGeom prst="rect">
            <a:avLst/>
          </a:prstGeom>
          <a:noFill/>
          <a:ln/>
        </p:spPr>
        <p:txBody>
          <a:bodyPr wrap="square" lIns="0" tIns="0" rIns="0" bIns="0" rtlCol="0" anchor="ctr">
            <a:normAutofit/>
          </a:bodyPr>
          <a:lstStyle/>
          <a:p>
            <a:pPr algn="ctr" indent="0" marL="0">
              <a:buNone/>
            </a:pPr>
            <a:r>
              <a:rPr lang="en-US" sz="3600" b="1" dirty="0">
                <a:solidFill>
                  <a:srgbClr val="3B6BA8"/>
                </a:solidFill>
                <a:latin typeface="Georgia" pitchFamily="34" charset="0"/>
                <a:ea typeface="Georgia" pitchFamily="34" charset="-122"/>
                <a:cs typeface="Georgia" pitchFamily="34" charset="-120"/>
              </a:rPr>
              <a:t>4</a:t>
            </a:r>
            <a:endParaRPr lang="en-US" sz="3600" dirty="0"/>
          </a:p>
        </p:txBody>
      </p:sp>
      <p:sp>
        <p:nvSpPr>
          <p:cNvPr id="31" name="Text 24"/>
          <p:cNvSpPr txBox="1"/>
          <p:nvPr/>
        </p:nvSpPr>
        <p:spPr>
          <a:xfrm>
            <a:off x="10332587" y="4182275"/>
            <a:ext cx="1237317" cy="365760"/>
          </a:xfrm>
          <a:prstGeom prst="rect">
            <a:avLst/>
          </a:prstGeom>
          <a:noFill/>
          <a:ln/>
        </p:spPr>
        <p:txBody>
          <a:bodyPr wrap="square" lIns="0" tIns="0" rIns="0" bIns="0" rtlCol="0" anchor="t">
            <a:normAutofit/>
          </a:bodyPr>
          <a:lstStyle/>
          <a:p>
            <a:pPr algn="ctr" indent="0" marL="0">
              <a:buNone/>
            </a:pPr>
            <a:r>
              <a:rPr lang="en-US" sz="1400" b="1" dirty="0">
                <a:solidFill>
                  <a:srgbClr val="1F2933"/>
                </a:solidFill>
                <a:latin typeface="Arial" pitchFamily="34" charset="0"/>
                <a:ea typeface="Arial" pitchFamily="34" charset="-122"/>
                <a:cs typeface="Arial" pitchFamily="34" charset="-120"/>
              </a:rPr>
              <a:t>stories</a:t>
            </a:r>
            <a:endParaRPr lang="en-US" sz="1400" dirty="0"/>
          </a:p>
        </p:txBody>
      </p:sp>
      <p:sp>
        <p:nvSpPr>
          <p:cNvPr id="32" name="Text 25"/>
          <p:cNvSpPr txBox="1"/>
          <p:nvPr/>
        </p:nvSpPr>
        <p:spPr>
          <a:xfrm>
            <a:off x="10396595" y="4639475"/>
            <a:ext cx="1109301" cy="487680"/>
          </a:xfrm>
          <a:prstGeom prst="rect">
            <a:avLst/>
          </a:prstGeom>
          <a:noFill/>
          <a:ln/>
        </p:spPr>
        <p:txBody>
          <a:bodyPr wrap="square" lIns="0" tIns="0" rIns="0" bIns="0" rtlCol="0" anchor="t">
            <a:normAutofit/>
          </a:bodyPr>
          <a:lstStyle/>
          <a:p>
            <a:pPr algn="ctr" indent="0" marL="0">
              <a:buNone/>
            </a:pPr>
            <a:r>
              <a:rPr lang="en-US" sz="1300" dirty="0">
                <a:solidFill>
                  <a:srgbClr val="55606D"/>
                </a:solidFill>
                <a:latin typeface="Arial" pitchFamily="34" charset="0"/>
                <a:ea typeface="Arial" pitchFamily="34" charset="-122"/>
                <a:cs typeface="Arial" pitchFamily="34" charset="-120"/>
              </a:rPr>
              <a:t>missing and now listed</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C44B2F"/>
          </a:solidFill>
          <a:ln w="12700">
            <a:solidFill>
              <a:srgbClr val="C44B2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10</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People decide and agents</a:t>
            </a:r>
            <a:endParaRPr lang="en-US" sz="3600" dirty="0"/>
          </a:p>
          <a:p>
            <a:pPr algn="l" indent="0" marL="0">
              <a:buNone/>
            </a:pPr>
            <a:r>
              <a:rPr lang="en-US" sz="3600" b="1" dirty="0">
                <a:solidFill>
                  <a:srgbClr val="1F2933"/>
                </a:solidFill>
                <a:latin typeface="Georgia" pitchFamily="34" charset="0"/>
                <a:ea typeface="Georgia" pitchFamily="34" charset="-122"/>
                <a:cs typeface="Georgia" pitchFamily="34" charset="-120"/>
              </a:rPr>
              <a:t>draft at every gate</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55606D"/>
                </a:solidFill>
                <a:latin typeface="Arial" pitchFamily="34" charset="0"/>
                <a:ea typeface="Arial" pitchFamily="34" charset="-122"/>
                <a:cs typeface="Arial" pitchFamily="34" charset="-120"/>
              </a:rPr>
              <a:t>Sources: S21, S22, S15, S13, S14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10</a:t>
            </a:r>
            <a:endParaRPr lang="en-US" sz="1000" dirty="0"/>
          </a:p>
        </p:txBody>
      </p:sp>
      <p:sp>
        <p:nvSpPr>
          <p:cNvPr id="8" name="Shape 5"/>
          <p:cNvSpPr/>
          <p:nvPr/>
        </p:nvSpPr>
        <p:spPr>
          <a:xfrm>
            <a:off x="548640" y="1965960"/>
            <a:ext cx="5410048" cy="3108960"/>
          </a:xfrm>
          <a:prstGeom prst="roundRect">
            <a:avLst>
              <a:gd name="adj" fmla="val 2941"/>
            </a:avLst>
          </a:prstGeom>
          <a:solidFill>
            <a:srgbClr val="FFFFFF"/>
          </a:solidFill>
          <a:ln w="9525">
            <a:solidFill>
              <a:srgbClr val="D6DCE4"/>
            </a:solidFill>
            <a:prstDash val="solid"/>
          </a:ln>
        </p:spPr>
      </p:sp>
      <p:sp>
        <p:nvSpPr>
          <p:cNvPr id="9" name="Shape 6"/>
          <p:cNvSpPr/>
          <p:nvPr/>
        </p:nvSpPr>
        <p:spPr>
          <a:xfrm>
            <a:off x="822960" y="2075688"/>
            <a:ext cx="411480" cy="411480"/>
          </a:xfrm>
          <a:prstGeom prst="ellipse">
            <a:avLst/>
          </a:prstGeom>
          <a:solidFill>
            <a:srgbClr val="3B6BA8"/>
          </a:solidFill>
          <a:ln w="12700">
            <a:solidFill>
              <a:srgbClr val="3B6BA8"/>
            </a:solidFill>
            <a:prstDash val="solid"/>
          </a:ln>
        </p:spPr>
      </p:sp>
      <p:pic>
        <p:nvPicPr>
          <p:cNvPr id="10" name="Image 0" descr="preencoded.png">    </p:cNvPr>
          <p:cNvPicPr>
            <a:picLocks noChangeAspect="1"/>
          </p:cNvPicPr>
          <p:nvPr/>
        </p:nvPicPr>
        <p:blipFill>
          <a:blip r:embed="rId1"/>
          <a:stretch>
            <a:fillRect/>
          </a:stretch>
        </p:blipFill>
        <p:spPr>
          <a:xfrm>
            <a:off x="905256" y="2157984"/>
            <a:ext cx="246888" cy="246888"/>
          </a:xfrm>
          <a:prstGeom prst="rect">
            <a:avLst/>
          </a:prstGeom>
        </p:spPr>
      </p:pic>
      <p:sp>
        <p:nvSpPr>
          <p:cNvPr id="11" name="Text 7"/>
          <p:cNvSpPr txBox="1"/>
          <p:nvPr/>
        </p:nvSpPr>
        <p:spPr>
          <a:xfrm>
            <a:off x="1371600" y="2148840"/>
            <a:ext cx="4312768" cy="457200"/>
          </a:xfrm>
          <a:prstGeom prst="rect">
            <a:avLst/>
          </a:prstGeom>
          <a:noFill/>
          <a:ln/>
        </p:spPr>
        <p:txBody>
          <a:bodyPr wrap="square" lIns="0" tIns="0" rIns="0" bIns="0" rtlCol="0" anchor="t">
            <a:normAutofit/>
          </a:bodyPr>
          <a:lstStyle/>
          <a:p>
            <a:pPr algn="l" indent="0" marL="0">
              <a:buNone/>
            </a:pPr>
            <a:r>
              <a:rPr lang="en-US" sz="2000" b="1" dirty="0">
                <a:solidFill>
                  <a:srgbClr val="3B6BA8"/>
                </a:solidFill>
                <a:latin typeface="Georgia" pitchFamily="34" charset="0"/>
                <a:ea typeface="Georgia" pitchFamily="34" charset="-122"/>
                <a:cs typeface="Georgia" pitchFamily="34" charset="-120"/>
              </a:rPr>
              <a:t>People hold</a:t>
            </a:r>
            <a:endParaRPr lang="en-US" sz="2000" dirty="0"/>
          </a:p>
        </p:txBody>
      </p:sp>
      <p:sp>
        <p:nvSpPr>
          <p:cNvPr id="12" name="Shape 8"/>
          <p:cNvSpPr/>
          <p:nvPr/>
        </p:nvSpPr>
        <p:spPr>
          <a:xfrm>
            <a:off x="822960" y="2743200"/>
            <a:ext cx="292608" cy="292608"/>
          </a:xfrm>
          <a:prstGeom prst="ellipse">
            <a:avLst/>
          </a:prstGeom>
          <a:solidFill>
            <a:srgbClr val="3B6BA8"/>
          </a:solidFill>
          <a:ln w="12700">
            <a:solidFill>
              <a:srgbClr val="3B6BA8"/>
            </a:solidFill>
            <a:prstDash val="solid"/>
          </a:ln>
        </p:spPr>
      </p:sp>
      <p:pic>
        <p:nvPicPr>
          <p:cNvPr id="13" name="Image 1" descr="preencoded.png">    </p:cNvPr>
          <p:cNvPicPr>
            <a:picLocks noChangeAspect="1"/>
          </p:cNvPicPr>
          <p:nvPr/>
        </p:nvPicPr>
        <p:blipFill>
          <a:blip r:embed="rId2"/>
          <a:stretch>
            <a:fillRect/>
          </a:stretch>
        </p:blipFill>
        <p:spPr>
          <a:xfrm>
            <a:off x="881482" y="2801722"/>
            <a:ext cx="175565" cy="175565"/>
          </a:xfrm>
          <a:prstGeom prst="rect">
            <a:avLst/>
          </a:prstGeom>
        </p:spPr>
      </p:pic>
      <p:sp>
        <p:nvSpPr>
          <p:cNvPr id="14" name="Text 9"/>
          <p:cNvSpPr txBox="1"/>
          <p:nvPr/>
        </p:nvSpPr>
        <p:spPr>
          <a:xfrm>
            <a:off x="1280160" y="2697480"/>
            <a:ext cx="44042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What to build and which decision stands</a:t>
            </a:r>
            <a:endParaRPr lang="en-US" sz="1500" dirty="0"/>
          </a:p>
        </p:txBody>
      </p:sp>
      <p:sp>
        <p:nvSpPr>
          <p:cNvPr id="15" name="Shape 10"/>
          <p:cNvSpPr/>
          <p:nvPr/>
        </p:nvSpPr>
        <p:spPr>
          <a:xfrm>
            <a:off x="822960" y="3291840"/>
            <a:ext cx="292608" cy="292608"/>
          </a:xfrm>
          <a:prstGeom prst="ellipse">
            <a:avLst/>
          </a:prstGeom>
          <a:solidFill>
            <a:srgbClr val="3B6BA8"/>
          </a:solidFill>
          <a:ln w="12700">
            <a:solidFill>
              <a:srgbClr val="3B6BA8"/>
            </a:solidFill>
            <a:prstDash val="solid"/>
          </a:ln>
        </p:spPr>
      </p:sp>
      <p:pic>
        <p:nvPicPr>
          <p:cNvPr id="16" name="Image 2" descr="preencoded.png">    </p:cNvPr>
          <p:cNvPicPr>
            <a:picLocks noChangeAspect="1"/>
          </p:cNvPicPr>
          <p:nvPr/>
        </p:nvPicPr>
        <p:blipFill>
          <a:blip r:embed="rId3"/>
          <a:stretch>
            <a:fillRect/>
          </a:stretch>
        </p:blipFill>
        <p:spPr>
          <a:xfrm>
            <a:off x="881482" y="3350362"/>
            <a:ext cx="175565" cy="175565"/>
          </a:xfrm>
          <a:prstGeom prst="rect">
            <a:avLst/>
          </a:prstGeom>
        </p:spPr>
      </p:pic>
      <p:sp>
        <p:nvSpPr>
          <p:cNvPr id="17" name="Text 11"/>
          <p:cNvSpPr txBox="1"/>
          <p:nvPr/>
        </p:nvSpPr>
        <p:spPr>
          <a:xfrm>
            <a:off x="1280160" y="3246120"/>
            <a:ext cx="44042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Approval that turns a draft into authority</a:t>
            </a:r>
            <a:endParaRPr lang="en-US" sz="1500" dirty="0"/>
          </a:p>
        </p:txBody>
      </p:sp>
      <p:sp>
        <p:nvSpPr>
          <p:cNvPr id="18" name="Shape 12"/>
          <p:cNvSpPr/>
          <p:nvPr/>
        </p:nvSpPr>
        <p:spPr>
          <a:xfrm>
            <a:off x="822960" y="3840480"/>
            <a:ext cx="292608" cy="292608"/>
          </a:xfrm>
          <a:prstGeom prst="ellipse">
            <a:avLst/>
          </a:prstGeom>
          <a:solidFill>
            <a:srgbClr val="3B6BA8"/>
          </a:solidFill>
          <a:ln w="12700">
            <a:solidFill>
              <a:srgbClr val="3B6BA8"/>
            </a:solidFill>
            <a:prstDash val="solid"/>
          </a:ln>
        </p:spPr>
      </p:sp>
      <p:pic>
        <p:nvPicPr>
          <p:cNvPr id="19" name="Image 3" descr="preencoded.png">    </p:cNvPr>
          <p:cNvPicPr>
            <a:picLocks noChangeAspect="1"/>
          </p:cNvPicPr>
          <p:nvPr/>
        </p:nvPicPr>
        <p:blipFill>
          <a:blip r:embed="rId4"/>
          <a:stretch>
            <a:fillRect/>
          </a:stretch>
        </p:blipFill>
        <p:spPr>
          <a:xfrm>
            <a:off x="881482" y="3899002"/>
            <a:ext cx="175565" cy="175565"/>
          </a:xfrm>
          <a:prstGeom prst="rect">
            <a:avLst/>
          </a:prstGeom>
        </p:spPr>
      </p:pic>
      <p:sp>
        <p:nvSpPr>
          <p:cNvPr id="20" name="Text 13"/>
          <p:cNvSpPr txBox="1"/>
          <p:nvPr/>
        </p:nvSpPr>
        <p:spPr>
          <a:xfrm>
            <a:off x="1280160" y="3794760"/>
            <a:ext cx="44042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When the work is complete</a:t>
            </a:r>
            <a:endParaRPr lang="en-US" sz="1500" dirty="0"/>
          </a:p>
        </p:txBody>
      </p:sp>
      <p:sp>
        <p:nvSpPr>
          <p:cNvPr id="21" name="Shape 14"/>
          <p:cNvSpPr/>
          <p:nvPr/>
        </p:nvSpPr>
        <p:spPr>
          <a:xfrm>
            <a:off x="822960" y="4389120"/>
            <a:ext cx="292608" cy="292608"/>
          </a:xfrm>
          <a:prstGeom prst="ellipse">
            <a:avLst/>
          </a:prstGeom>
          <a:solidFill>
            <a:srgbClr val="3B6BA8"/>
          </a:solidFill>
          <a:ln w="12700">
            <a:solidFill>
              <a:srgbClr val="3B6BA8"/>
            </a:solidFill>
            <a:prstDash val="solid"/>
          </a:ln>
        </p:spPr>
      </p:sp>
      <p:pic>
        <p:nvPicPr>
          <p:cNvPr id="22" name="Image 4" descr="preencoded.png">    </p:cNvPr>
          <p:cNvPicPr>
            <a:picLocks noChangeAspect="1"/>
          </p:cNvPicPr>
          <p:nvPr/>
        </p:nvPicPr>
        <p:blipFill>
          <a:blip r:embed="rId5"/>
          <a:stretch>
            <a:fillRect/>
          </a:stretch>
        </p:blipFill>
        <p:spPr>
          <a:xfrm>
            <a:off x="881482" y="4447642"/>
            <a:ext cx="175565" cy="175565"/>
          </a:xfrm>
          <a:prstGeom prst="rect">
            <a:avLst/>
          </a:prstGeom>
        </p:spPr>
      </p:pic>
      <p:sp>
        <p:nvSpPr>
          <p:cNvPr id="23" name="Text 15"/>
          <p:cNvSpPr txBox="1"/>
          <p:nvPr/>
        </p:nvSpPr>
        <p:spPr>
          <a:xfrm>
            <a:off x="1280160" y="4343400"/>
            <a:ext cx="44042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How much runs unasked, a three-position dial</a:t>
            </a:r>
            <a:endParaRPr lang="en-US" sz="1500" dirty="0"/>
          </a:p>
        </p:txBody>
      </p:sp>
      <p:sp>
        <p:nvSpPr>
          <p:cNvPr id="24" name="Shape 16"/>
          <p:cNvSpPr/>
          <p:nvPr/>
        </p:nvSpPr>
        <p:spPr>
          <a:xfrm>
            <a:off x="6233008" y="1965960"/>
            <a:ext cx="5410048" cy="3108960"/>
          </a:xfrm>
          <a:prstGeom prst="roundRect">
            <a:avLst>
              <a:gd name="adj" fmla="val 2941"/>
            </a:avLst>
          </a:prstGeom>
          <a:solidFill>
            <a:srgbClr val="F3F5F8"/>
          </a:solidFill>
          <a:ln w="9525">
            <a:solidFill>
              <a:srgbClr val="D6DCE4"/>
            </a:solidFill>
            <a:prstDash val="solid"/>
          </a:ln>
        </p:spPr>
      </p:sp>
      <p:sp>
        <p:nvSpPr>
          <p:cNvPr id="25" name="Shape 17"/>
          <p:cNvSpPr/>
          <p:nvPr/>
        </p:nvSpPr>
        <p:spPr>
          <a:xfrm>
            <a:off x="6507328" y="2075688"/>
            <a:ext cx="411480" cy="411480"/>
          </a:xfrm>
          <a:prstGeom prst="ellipse">
            <a:avLst/>
          </a:prstGeom>
          <a:solidFill>
            <a:srgbClr val="55606D"/>
          </a:solidFill>
          <a:ln w="12700">
            <a:solidFill>
              <a:srgbClr val="55606D"/>
            </a:solidFill>
            <a:prstDash val="solid"/>
          </a:ln>
        </p:spPr>
      </p:sp>
      <p:pic>
        <p:nvPicPr>
          <p:cNvPr id="26" name="Image 5" descr="preencoded.png">    </p:cNvPr>
          <p:cNvPicPr>
            <a:picLocks noChangeAspect="1"/>
          </p:cNvPicPr>
          <p:nvPr/>
        </p:nvPicPr>
        <p:blipFill>
          <a:blip r:embed="rId6"/>
          <a:stretch>
            <a:fillRect/>
          </a:stretch>
        </p:blipFill>
        <p:spPr>
          <a:xfrm>
            <a:off x="6589624" y="2157984"/>
            <a:ext cx="246888" cy="246888"/>
          </a:xfrm>
          <a:prstGeom prst="rect">
            <a:avLst/>
          </a:prstGeom>
        </p:spPr>
      </p:pic>
      <p:sp>
        <p:nvSpPr>
          <p:cNvPr id="27" name="Text 18"/>
          <p:cNvSpPr txBox="1"/>
          <p:nvPr/>
        </p:nvSpPr>
        <p:spPr>
          <a:xfrm>
            <a:off x="7055968" y="2148840"/>
            <a:ext cx="4312768" cy="457200"/>
          </a:xfrm>
          <a:prstGeom prst="rect">
            <a:avLst/>
          </a:prstGeom>
          <a:noFill/>
          <a:ln/>
        </p:spPr>
        <p:txBody>
          <a:bodyPr wrap="square" lIns="0" tIns="0" rIns="0" bIns="0" rtlCol="0" anchor="t">
            <a:normAutofit/>
          </a:bodyPr>
          <a:lstStyle/>
          <a:p>
            <a:pPr algn="l" indent="0" marL="0">
              <a:buNone/>
            </a:pPr>
            <a:r>
              <a:rPr lang="en-US" sz="2000" b="1" dirty="0">
                <a:solidFill>
                  <a:srgbClr val="55606D"/>
                </a:solidFill>
                <a:latin typeface="Georgia" pitchFamily="34" charset="0"/>
                <a:ea typeface="Georgia" pitchFamily="34" charset="-122"/>
                <a:cs typeface="Georgia" pitchFamily="34" charset="-120"/>
              </a:rPr>
              <a:t>Agents hold</a:t>
            </a:r>
            <a:endParaRPr lang="en-US" sz="2000" dirty="0"/>
          </a:p>
        </p:txBody>
      </p:sp>
      <p:sp>
        <p:nvSpPr>
          <p:cNvPr id="28" name="Text 19"/>
          <p:cNvSpPr txBox="1"/>
          <p:nvPr/>
        </p:nvSpPr>
        <p:spPr>
          <a:xfrm>
            <a:off x="6507328" y="2697480"/>
            <a:ext cx="48614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Drafting every document in its template</a:t>
            </a:r>
            <a:endParaRPr lang="en-US" sz="1500" dirty="0"/>
          </a:p>
        </p:txBody>
      </p:sp>
      <p:sp>
        <p:nvSpPr>
          <p:cNvPr id="29" name="Text 20"/>
          <p:cNvSpPr txBox="1"/>
          <p:nvPr/>
        </p:nvSpPr>
        <p:spPr>
          <a:xfrm>
            <a:off x="6507328" y="3246120"/>
            <a:ext cx="48614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Checking each draft against the layer above</a:t>
            </a:r>
            <a:endParaRPr lang="en-US" sz="1500" dirty="0"/>
          </a:p>
        </p:txBody>
      </p:sp>
      <p:sp>
        <p:nvSpPr>
          <p:cNvPr id="30" name="Text 21"/>
          <p:cNvSpPr txBox="1"/>
          <p:nvPr/>
        </p:nvSpPr>
        <p:spPr>
          <a:xfrm>
            <a:off x="6507328" y="3794760"/>
            <a:ext cx="48614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Surfacing drift, contradictions, and gaps</a:t>
            </a:r>
            <a:endParaRPr lang="en-US" sz="1500" dirty="0"/>
          </a:p>
        </p:txBody>
      </p:sp>
      <p:sp>
        <p:nvSpPr>
          <p:cNvPr id="31" name="Text 22"/>
          <p:cNvSpPr txBox="1"/>
          <p:nvPr/>
        </p:nvSpPr>
        <p:spPr>
          <a:xfrm>
            <a:off x="6507328" y="4343400"/>
            <a:ext cx="4861408" cy="411480"/>
          </a:xfrm>
          <a:prstGeom prst="rect">
            <a:avLst/>
          </a:prstGeom>
          <a:noFill/>
          <a:ln/>
        </p:spPr>
        <p:txBody>
          <a:bodyPr wrap="square" lIns="0" tIns="0" rIns="0" bIns="0" rtlCol="0" anchor="t">
            <a:normAutofit/>
          </a:bodyPr>
          <a:lstStyle/>
          <a:p>
            <a:pPr algn="l" indent="0" marL="0">
              <a:buNone/>
            </a:pPr>
            <a:r>
              <a:rPr lang="en-US" sz="1500" dirty="0">
                <a:solidFill>
                  <a:srgbClr val="1F2933"/>
                </a:solidFill>
                <a:latin typeface="Arial" pitchFamily="34" charset="0"/>
                <a:ea typeface="Arial" pitchFamily="34" charset="-122"/>
                <a:cs typeface="Arial" pitchFamily="34" charset="-120"/>
              </a:rPr>
              <a:t>Stopping at the triggers and handing judgment back</a:t>
            </a:r>
            <a:endParaRPr lang="en-US" sz="1500" dirty="0"/>
          </a:p>
        </p:txBody>
      </p:sp>
      <p:sp>
        <p:nvSpPr>
          <p:cNvPr id="32" name="Text 23"/>
          <p:cNvSpPr txBox="1"/>
          <p:nvPr/>
        </p:nvSpPr>
        <p:spPr>
          <a:xfrm>
            <a:off x="548640" y="5257800"/>
            <a:ext cx="11094415" cy="548640"/>
          </a:xfrm>
          <a:prstGeom prst="rect">
            <a:avLst/>
          </a:prstGeom>
          <a:noFill/>
          <a:ln/>
        </p:spPr>
        <p:txBody>
          <a:bodyPr wrap="square" lIns="0" tIns="0" rIns="0" bIns="0" rtlCol="0" anchor="ctr">
            <a:normAutofit/>
          </a:bodyPr>
          <a:lstStyle/>
          <a:p>
            <a:pPr algn="l" indent="0" marL="0">
              <a:buNone/>
            </a:pPr>
            <a:r>
              <a:rPr lang="en-US" sz="1500" b="1" dirty="0">
                <a:solidFill>
                  <a:srgbClr val="C44B2F"/>
                </a:solidFill>
                <a:latin typeface="Arial" pitchFamily="34" charset="0"/>
                <a:ea typeface="Arial" pitchFamily="34" charset="-122"/>
                <a:cs typeface="Arial" pitchFamily="34" charset="-120"/>
              </a:rPr>
              <a:t>Verdict: every hand-off has an owner, and HELIX ships no runtime or tracker and approves nothing</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1F"/>
        </a:solidFill>
      </p:bgPr>
    </p:bg>
    <p:spTree>
      <p:nvGrpSpPr>
        <p:cNvPr id="1" name=""/>
        <p:cNvGrpSpPr/>
        <p:nvPr/>
      </p:nvGrpSpPr>
      <p:grpSpPr>
        <a:xfrm>
          <a:off x="0" y="0"/>
          <a:ext cx="0" cy="0"/>
          <a:chOff x="0" y="0"/>
          <a:chExt cx="0" cy="0"/>
        </a:xfrm>
      </p:grpSpPr>
      <p:sp>
        <p:nvSpPr>
          <p:cNvPr id="2" name="Shape 0"/>
          <p:cNvSpPr/>
          <p:nvPr/>
        </p:nvSpPr>
        <p:spPr>
          <a:xfrm>
            <a:off x="548640" y="658368"/>
            <a:ext cx="502920" cy="502920"/>
          </a:xfrm>
          <a:prstGeom prst="ellipse">
            <a:avLst/>
          </a:prstGeom>
          <a:solidFill>
            <a:srgbClr val="E07A5F"/>
          </a:solidFill>
          <a:ln w="12700">
            <a:solidFill>
              <a:srgbClr val="E07A5F"/>
            </a:solidFill>
            <a:prstDash val="solid"/>
          </a:ln>
        </p:spPr>
      </p:sp>
      <p:sp>
        <p:nvSpPr>
          <p:cNvPr id="3" name="Text 1"/>
          <p:cNvSpPr txBox="1"/>
          <p:nvPr/>
        </p:nvSpPr>
        <p:spPr>
          <a:xfrm>
            <a:off x="548640" y="6583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11</a:t>
            </a:r>
            <a:endParaRPr lang="en-US" sz="1600" dirty="0"/>
          </a:p>
        </p:txBody>
      </p:sp>
      <p:sp>
        <p:nvSpPr>
          <p:cNvPr id="4" name="Text 2"/>
          <p:cNvSpPr txBox="1"/>
          <p:nvPr/>
        </p:nvSpPr>
        <p:spPr>
          <a:xfrm>
            <a:off x="1325880" y="548640"/>
            <a:ext cx="10317175" cy="1188720"/>
          </a:xfrm>
          <a:prstGeom prst="rect">
            <a:avLst/>
          </a:prstGeom>
          <a:noFill/>
          <a:ln/>
        </p:spPr>
        <p:txBody>
          <a:bodyPr wrap="square" lIns="0" tIns="0" rIns="0" bIns="0" rtlCol="0" anchor="t">
            <a:normAutofit/>
          </a:bodyPr>
          <a:lstStyle/>
          <a:p>
            <a:pPr algn="l" indent="0" marL="0">
              <a:buNone/>
            </a:pPr>
            <a:r>
              <a:rPr lang="en-US" sz="3600" b="1" dirty="0">
                <a:solidFill>
                  <a:srgbClr val="EEF2F7"/>
                </a:solidFill>
                <a:latin typeface="Georgia" pitchFamily="34" charset="0"/>
                <a:ea typeface="Georgia" pitchFamily="34" charset="-122"/>
                <a:cs typeface="Georgia" pitchFamily="34" charset="-120"/>
              </a:rPr>
              <a:t>Pilot HELIX for one quarter</a:t>
            </a:r>
            <a:endParaRPr lang="en-US" sz="3600" dirty="0"/>
          </a:p>
          <a:p>
            <a:pPr algn="l" indent="0" marL="0">
              <a:buNone/>
            </a:pPr>
            <a:r>
              <a:rPr lang="en-US" sz="3600" b="1" dirty="0">
                <a:solidFill>
                  <a:srgbClr val="EEF2F7"/>
                </a:solidFill>
                <a:latin typeface="Georgia" pitchFamily="34" charset="0"/>
                <a:ea typeface="Georgia" pitchFamily="34" charset="-122"/>
                <a:cs typeface="Georgia" pitchFamily="34" charset="-120"/>
              </a:rPr>
              <a:t>and count what gates catch</a:t>
            </a:r>
            <a:endParaRPr lang="en-US" sz="3600" dirty="0"/>
          </a:p>
        </p:txBody>
      </p:sp>
      <p:sp>
        <p:nvSpPr>
          <p:cNvPr id="5" name="Text 3"/>
          <p:cNvSpPr txBox="1"/>
          <p:nvPr/>
        </p:nvSpPr>
        <p:spPr>
          <a:xfrm>
            <a:off x="548640" y="6035040"/>
            <a:ext cx="7315200" cy="274320"/>
          </a:xfrm>
          <a:prstGeom prst="rect">
            <a:avLst/>
          </a:prstGeom>
          <a:noFill/>
          <a:ln/>
        </p:spPr>
        <p:txBody>
          <a:bodyPr wrap="square" lIns="0" tIns="0" rIns="0" bIns="0" rtlCol="0" anchor="b"/>
          <a:lstStyle/>
          <a:p>
            <a:pPr indent="0" marL="0">
              <a:buNone/>
            </a:pPr>
            <a:r>
              <a:rPr lang="en-US" sz="900" dirty="0">
                <a:solidFill>
                  <a:srgbClr val="B9C2CF"/>
                </a:solidFill>
                <a:latin typeface="Arial" pitchFamily="34" charset="0"/>
                <a:ea typeface="Arial" pitchFamily="34" charset="-122"/>
                <a:cs typeface="Arial" pitchFamily="34" charset="-120"/>
              </a:rPr>
              <a:t>Sources: S7, S18 (appendix)</a:t>
            </a:r>
            <a:endParaRPr lang="en-US" sz="900" dirty="0"/>
          </a:p>
        </p:txBody>
      </p:sp>
      <p:sp>
        <p:nvSpPr>
          <p:cNvPr id="6" name="Text 4"/>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B9C2CF"/>
                </a:solidFill>
                <a:latin typeface="Arial" pitchFamily="34" charset="0"/>
                <a:ea typeface="Arial" pitchFamily="34" charset="-122"/>
                <a:cs typeface="Arial" pitchFamily="34" charset="-120"/>
              </a:rPr>
              <a:t>11</a:t>
            </a:r>
            <a:endParaRPr lang="en-US" sz="1000" dirty="0"/>
          </a:p>
        </p:txBody>
      </p:sp>
      <p:sp>
        <p:nvSpPr>
          <p:cNvPr id="8" name="Shape 5"/>
          <p:cNvSpPr/>
          <p:nvPr/>
        </p:nvSpPr>
        <p:spPr>
          <a:xfrm>
            <a:off x="548640" y="1965960"/>
            <a:ext cx="11094415" cy="777240"/>
          </a:xfrm>
          <a:prstGeom prst="roundRect">
            <a:avLst>
              <a:gd name="adj" fmla="val 11765"/>
            </a:avLst>
          </a:prstGeom>
          <a:solidFill>
            <a:srgbClr val="E07A5F"/>
          </a:solidFill>
          <a:ln w="9525">
            <a:solidFill>
              <a:srgbClr val="E07A5F"/>
            </a:solidFill>
            <a:prstDash val="solid"/>
          </a:ln>
        </p:spPr>
      </p:sp>
      <p:sp>
        <p:nvSpPr>
          <p:cNvPr id="9" name="Text 6"/>
          <p:cNvSpPr txBox="1"/>
          <p:nvPr/>
        </p:nvSpPr>
        <p:spPr>
          <a:xfrm>
            <a:off x="822960" y="1965960"/>
            <a:ext cx="10545775" cy="777240"/>
          </a:xfrm>
          <a:prstGeom prst="rect">
            <a:avLst/>
          </a:prstGeom>
          <a:noFill/>
          <a:ln/>
        </p:spPr>
        <p:txBody>
          <a:bodyPr wrap="square" lIns="0" tIns="0" rIns="0" bIns="0" rtlCol="0" anchor="ctr">
            <a:normAutofit/>
          </a:bodyPr>
          <a:lstStyle/>
          <a:p>
            <a:pPr algn="l" indent="0" marL="0">
              <a:buNone/>
            </a:pPr>
            <a:r>
              <a:rPr lang="en-US" sz="1800" b="1" dirty="0">
                <a:solidFill>
                  <a:srgbClr val="14181F"/>
                </a:solidFill>
                <a:latin typeface="Arial" pitchFamily="34" charset="0"/>
                <a:ea typeface="Arial" pitchFamily="34" charset="-122"/>
                <a:cs typeface="Arial" pitchFamily="34" charset="-120"/>
              </a:rPr>
              <a:t>Run HELIX on one project for one quarter and count the findings the team accepts as real</a:t>
            </a:r>
            <a:endParaRPr lang="en-US" sz="1800" dirty="0"/>
          </a:p>
        </p:txBody>
      </p:sp>
      <p:sp>
        <p:nvSpPr>
          <p:cNvPr id="10" name="Text 7"/>
          <p:cNvSpPr txBox="1"/>
          <p:nvPr/>
        </p:nvSpPr>
        <p:spPr>
          <a:xfrm>
            <a:off x="1188720" y="3017520"/>
            <a:ext cx="6664757" cy="274320"/>
          </a:xfrm>
          <a:prstGeom prst="rect">
            <a:avLst/>
          </a:prstGeom>
          <a:noFill/>
          <a:ln/>
        </p:spPr>
        <p:txBody>
          <a:bodyPr wrap="square" lIns="0" tIns="0" rIns="0" bIns="0" rtlCol="0" anchor="t">
            <a:normAutofit/>
          </a:bodyPr>
          <a:lstStyle/>
          <a:p>
            <a:pPr algn="l" indent="0" marL="0">
              <a:buNone/>
            </a:pPr>
            <a:r>
              <a:rPr lang="en-US" sz="1200" b="1" dirty="0">
                <a:solidFill>
                  <a:srgbClr val="B9C2CF"/>
                </a:solidFill>
                <a:latin typeface="Arial" pitchFamily="34" charset="0"/>
                <a:ea typeface="Arial" pitchFamily="34" charset="-122"/>
                <a:cs typeface="Arial" pitchFamily="34" charset="-120"/>
              </a:rPr>
              <a:t>Step</a:t>
            </a:r>
            <a:endParaRPr lang="en-US" sz="1200" dirty="0"/>
          </a:p>
        </p:txBody>
      </p:sp>
      <p:sp>
        <p:nvSpPr>
          <p:cNvPr id="11" name="Text 8"/>
          <p:cNvSpPr txBox="1"/>
          <p:nvPr/>
        </p:nvSpPr>
        <p:spPr>
          <a:xfrm>
            <a:off x="8127797" y="3017520"/>
            <a:ext cx="1620469" cy="274320"/>
          </a:xfrm>
          <a:prstGeom prst="rect">
            <a:avLst/>
          </a:prstGeom>
          <a:noFill/>
          <a:ln/>
        </p:spPr>
        <p:txBody>
          <a:bodyPr wrap="square" lIns="0" tIns="0" rIns="0" bIns="0" rtlCol="0" anchor="t">
            <a:normAutofit/>
          </a:bodyPr>
          <a:lstStyle/>
          <a:p>
            <a:pPr algn="l" indent="0" marL="0">
              <a:buNone/>
            </a:pPr>
            <a:r>
              <a:rPr lang="en-US" sz="1200" b="1" dirty="0">
                <a:solidFill>
                  <a:srgbClr val="B9C2CF"/>
                </a:solidFill>
                <a:latin typeface="Arial" pitchFamily="34" charset="0"/>
                <a:ea typeface="Arial" pitchFamily="34" charset="-122"/>
                <a:cs typeface="Arial" pitchFamily="34" charset="-120"/>
              </a:rPr>
              <a:t>Owner</a:t>
            </a:r>
            <a:endParaRPr lang="en-US" sz="1200" dirty="0"/>
          </a:p>
        </p:txBody>
      </p:sp>
      <p:sp>
        <p:nvSpPr>
          <p:cNvPr id="12" name="Text 9"/>
          <p:cNvSpPr txBox="1"/>
          <p:nvPr/>
        </p:nvSpPr>
        <p:spPr>
          <a:xfrm>
            <a:off x="10022586" y="3017520"/>
            <a:ext cx="1620469" cy="274320"/>
          </a:xfrm>
          <a:prstGeom prst="rect">
            <a:avLst/>
          </a:prstGeom>
          <a:noFill/>
          <a:ln/>
        </p:spPr>
        <p:txBody>
          <a:bodyPr wrap="square" lIns="0" tIns="0" rIns="0" bIns="0" rtlCol="0" anchor="t">
            <a:normAutofit/>
          </a:bodyPr>
          <a:lstStyle/>
          <a:p>
            <a:pPr algn="l" indent="0" marL="0">
              <a:buNone/>
            </a:pPr>
            <a:r>
              <a:rPr lang="en-US" sz="1200" b="1" dirty="0">
                <a:solidFill>
                  <a:srgbClr val="B9C2CF"/>
                </a:solidFill>
                <a:latin typeface="Arial" pitchFamily="34" charset="0"/>
                <a:ea typeface="Arial" pitchFamily="34" charset="-122"/>
                <a:cs typeface="Arial" pitchFamily="34" charset="-120"/>
              </a:rPr>
              <a:t>Date</a:t>
            </a:r>
            <a:endParaRPr lang="en-US" sz="1200" dirty="0"/>
          </a:p>
        </p:txBody>
      </p:sp>
      <p:sp>
        <p:nvSpPr>
          <p:cNvPr id="13" name="Shape 10"/>
          <p:cNvSpPr/>
          <p:nvPr/>
        </p:nvSpPr>
        <p:spPr>
          <a:xfrm>
            <a:off x="548640" y="3474720"/>
            <a:ext cx="411480" cy="411480"/>
          </a:xfrm>
          <a:prstGeom prst="ellipse">
            <a:avLst/>
          </a:prstGeom>
          <a:solidFill>
            <a:srgbClr val="E07A5F"/>
          </a:solidFill>
          <a:ln w="12700">
            <a:solidFill>
              <a:srgbClr val="E07A5F"/>
            </a:solidFill>
            <a:prstDash val="solid"/>
          </a:ln>
        </p:spPr>
      </p:sp>
      <p:pic>
        <p:nvPicPr>
          <p:cNvPr id="14" name="Image 0" descr="preencoded.png">    </p:cNvPr>
          <p:cNvPicPr>
            <a:picLocks noChangeAspect="1"/>
          </p:cNvPicPr>
          <p:nvPr/>
        </p:nvPicPr>
        <p:blipFill>
          <a:blip r:embed="rId1"/>
          <a:stretch>
            <a:fillRect/>
          </a:stretch>
        </p:blipFill>
        <p:spPr>
          <a:xfrm>
            <a:off x="630936" y="3557016"/>
            <a:ext cx="246888" cy="246888"/>
          </a:xfrm>
          <a:prstGeom prst="rect">
            <a:avLst/>
          </a:prstGeom>
        </p:spPr>
      </p:pic>
      <p:sp>
        <p:nvSpPr>
          <p:cNvPr id="15" name="Text 11"/>
          <p:cNvSpPr txBox="1"/>
          <p:nvPr/>
        </p:nvSpPr>
        <p:spPr>
          <a:xfrm>
            <a:off x="1188720" y="3383280"/>
            <a:ext cx="6664757" cy="502920"/>
          </a:xfrm>
          <a:prstGeom prst="rect">
            <a:avLst/>
          </a:prstGeom>
          <a:noFill/>
          <a:ln/>
        </p:spPr>
        <p:txBody>
          <a:bodyPr wrap="square" lIns="0" tIns="0" rIns="0" bIns="0" rtlCol="0" anchor="ctr">
            <a:normAutofit/>
          </a:bodyPr>
          <a:lstStyle/>
          <a:p>
            <a:pPr algn="l" indent="0" marL="0">
              <a:buNone/>
            </a:pPr>
            <a:r>
              <a:rPr lang="en-US" sz="1500" dirty="0">
                <a:solidFill>
                  <a:srgbClr val="EEF2F7"/>
                </a:solidFill>
                <a:latin typeface="Arial" pitchFamily="34" charset="0"/>
                <a:ea typeface="Arial" pitchFamily="34" charset="-122"/>
                <a:cs typeface="Arial" pitchFamily="34" charset="-120"/>
              </a:rPr>
              <a:t>Pick one active project with an agent already in the loop</a:t>
            </a:r>
            <a:endParaRPr lang="en-US" sz="1500" dirty="0"/>
          </a:p>
        </p:txBody>
      </p:sp>
      <p:sp>
        <p:nvSpPr>
          <p:cNvPr id="16" name="Text 12"/>
          <p:cNvSpPr txBox="1"/>
          <p:nvPr/>
        </p:nvSpPr>
        <p:spPr>
          <a:xfrm>
            <a:off x="8127797" y="3383280"/>
            <a:ext cx="1620469" cy="502920"/>
          </a:xfrm>
          <a:prstGeom prst="rect">
            <a:avLst/>
          </a:prstGeom>
          <a:noFill/>
          <a:ln/>
        </p:spPr>
        <p:txBody>
          <a:bodyPr wrap="square" lIns="0" tIns="0" rIns="0" bIns="0" rtlCol="0" anchor="ctr">
            <a:normAutofit/>
          </a:bodyPr>
          <a:lstStyle/>
          <a:p>
            <a:pPr algn="l" indent="0" marL="0">
              <a:buNone/>
            </a:pPr>
            <a:r>
              <a:rPr lang="en-US" sz="1400" dirty="0">
                <a:solidFill>
                  <a:srgbClr val="EEF2F7"/>
                </a:solidFill>
                <a:latin typeface="Arial" pitchFamily="34" charset="0"/>
                <a:ea typeface="Arial" pitchFamily="34" charset="-122"/>
                <a:cs typeface="Arial" pitchFamily="34" charset="-120"/>
              </a:rPr>
              <a:t>head of platform</a:t>
            </a:r>
            <a:endParaRPr lang="en-US" sz="1400" dirty="0"/>
          </a:p>
        </p:txBody>
      </p:sp>
      <p:sp>
        <p:nvSpPr>
          <p:cNvPr id="17" name="Text 13"/>
          <p:cNvSpPr txBox="1"/>
          <p:nvPr/>
        </p:nvSpPr>
        <p:spPr>
          <a:xfrm>
            <a:off x="10022586" y="3383280"/>
            <a:ext cx="1620469" cy="502920"/>
          </a:xfrm>
          <a:prstGeom prst="rect">
            <a:avLst/>
          </a:prstGeom>
          <a:noFill/>
          <a:ln/>
        </p:spPr>
        <p:txBody>
          <a:bodyPr wrap="square" lIns="0" tIns="0" rIns="0" bIns="0" rtlCol="0" anchor="ctr">
            <a:normAutofit/>
          </a:bodyPr>
          <a:lstStyle/>
          <a:p>
            <a:pPr algn="l" indent="0" marL="0">
              <a:buNone/>
            </a:pPr>
            <a:r>
              <a:rPr lang="en-US" sz="1400" dirty="0">
                <a:solidFill>
                  <a:srgbClr val="EEF2F7"/>
                </a:solidFill>
                <a:latin typeface="Arial" pitchFamily="34" charset="0"/>
                <a:ea typeface="Arial" pitchFamily="34" charset="-122"/>
                <a:cs typeface="Arial" pitchFamily="34" charset="-120"/>
              </a:rPr>
              <a:t>this week</a:t>
            </a:r>
            <a:endParaRPr lang="en-US" sz="1400" dirty="0"/>
          </a:p>
        </p:txBody>
      </p:sp>
      <p:sp>
        <p:nvSpPr>
          <p:cNvPr id="18" name="Shape 14"/>
          <p:cNvSpPr/>
          <p:nvPr/>
        </p:nvSpPr>
        <p:spPr>
          <a:xfrm>
            <a:off x="548640" y="4069080"/>
            <a:ext cx="411480" cy="411480"/>
          </a:xfrm>
          <a:prstGeom prst="ellipse">
            <a:avLst/>
          </a:prstGeom>
          <a:solidFill>
            <a:srgbClr val="E07A5F"/>
          </a:solidFill>
          <a:ln w="12700">
            <a:solidFill>
              <a:srgbClr val="E07A5F"/>
            </a:solidFill>
            <a:prstDash val="solid"/>
          </a:ln>
        </p:spPr>
      </p:sp>
      <p:pic>
        <p:nvPicPr>
          <p:cNvPr id="19" name="Image 1" descr="preencoded.png">    </p:cNvPr>
          <p:cNvPicPr>
            <a:picLocks noChangeAspect="1"/>
          </p:cNvPicPr>
          <p:nvPr/>
        </p:nvPicPr>
        <p:blipFill>
          <a:blip r:embed="rId2"/>
          <a:stretch>
            <a:fillRect/>
          </a:stretch>
        </p:blipFill>
        <p:spPr>
          <a:xfrm>
            <a:off x="630936" y="4151376"/>
            <a:ext cx="246888" cy="246888"/>
          </a:xfrm>
          <a:prstGeom prst="rect">
            <a:avLst/>
          </a:prstGeom>
        </p:spPr>
      </p:pic>
      <p:sp>
        <p:nvSpPr>
          <p:cNvPr id="20" name="Text 15"/>
          <p:cNvSpPr txBox="1"/>
          <p:nvPr/>
        </p:nvSpPr>
        <p:spPr>
          <a:xfrm>
            <a:off x="1188720" y="3977640"/>
            <a:ext cx="6664757" cy="502920"/>
          </a:xfrm>
          <a:prstGeom prst="rect">
            <a:avLst/>
          </a:prstGeom>
          <a:noFill/>
          <a:ln/>
        </p:spPr>
        <p:txBody>
          <a:bodyPr wrap="square" lIns="0" tIns="0" rIns="0" bIns="0" rtlCol="0" anchor="ctr">
            <a:normAutofit/>
          </a:bodyPr>
          <a:lstStyle/>
          <a:p>
            <a:pPr algn="l" indent="0" marL="0">
              <a:buNone/>
            </a:pPr>
            <a:r>
              <a:rPr lang="en-US" sz="1500" dirty="0">
                <a:solidFill>
                  <a:srgbClr val="EEF2F7"/>
                </a:solidFill>
                <a:latin typeface="Arial" pitchFamily="34" charset="0"/>
                <a:ea typeface="Arial" pitchFamily="34" charset="-122"/>
                <a:cs typeface="Arial" pitchFamily="34" charset="-120"/>
              </a:rPr>
              <a:t>Adopt the templates and run one alignment check on its documents</a:t>
            </a:r>
            <a:endParaRPr lang="en-US" sz="1500" dirty="0"/>
          </a:p>
        </p:txBody>
      </p:sp>
      <p:sp>
        <p:nvSpPr>
          <p:cNvPr id="21" name="Text 16"/>
          <p:cNvSpPr txBox="1"/>
          <p:nvPr/>
        </p:nvSpPr>
        <p:spPr>
          <a:xfrm>
            <a:off x="8127797" y="3977640"/>
            <a:ext cx="1620469" cy="502920"/>
          </a:xfrm>
          <a:prstGeom prst="rect">
            <a:avLst/>
          </a:prstGeom>
          <a:noFill/>
          <a:ln/>
        </p:spPr>
        <p:txBody>
          <a:bodyPr wrap="square" lIns="0" tIns="0" rIns="0" bIns="0" rtlCol="0" anchor="ctr">
            <a:normAutofit/>
          </a:bodyPr>
          <a:lstStyle/>
          <a:p>
            <a:pPr algn="l" indent="0" marL="0">
              <a:buNone/>
            </a:pPr>
            <a:r>
              <a:rPr lang="en-US" sz="1400" dirty="0">
                <a:solidFill>
                  <a:srgbClr val="EEF2F7"/>
                </a:solidFill>
                <a:latin typeface="Arial" pitchFamily="34" charset="0"/>
                <a:ea typeface="Arial" pitchFamily="34" charset="-122"/>
                <a:cs typeface="Arial" pitchFamily="34" charset="-120"/>
              </a:rPr>
              <a:t>the project's team lead</a:t>
            </a:r>
            <a:endParaRPr lang="en-US" sz="1400" dirty="0"/>
          </a:p>
        </p:txBody>
      </p:sp>
      <p:sp>
        <p:nvSpPr>
          <p:cNvPr id="22" name="Text 17"/>
          <p:cNvSpPr txBox="1"/>
          <p:nvPr/>
        </p:nvSpPr>
        <p:spPr>
          <a:xfrm>
            <a:off x="10022586" y="3977640"/>
            <a:ext cx="1620469" cy="502920"/>
          </a:xfrm>
          <a:prstGeom prst="rect">
            <a:avLst/>
          </a:prstGeom>
          <a:noFill/>
          <a:ln/>
        </p:spPr>
        <p:txBody>
          <a:bodyPr wrap="square" lIns="0" tIns="0" rIns="0" bIns="0" rtlCol="0" anchor="ctr">
            <a:normAutofit/>
          </a:bodyPr>
          <a:lstStyle/>
          <a:p>
            <a:pPr algn="l" indent="0" marL="0">
              <a:buNone/>
            </a:pPr>
            <a:r>
              <a:rPr lang="en-US" sz="1400" dirty="0">
                <a:solidFill>
                  <a:srgbClr val="EEF2F7"/>
                </a:solidFill>
                <a:latin typeface="Arial" pitchFamily="34" charset="0"/>
                <a:ea typeface="Arial" pitchFamily="34" charset="-122"/>
                <a:cs typeface="Arial" pitchFamily="34" charset="-120"/>
              </a:rPr>
              <a:t>sprint one</a:t>
            </a:r>
            <a:endParaRPr lang="en-US" sz="1400" dirty="0"/>
          </a:p>
        </p:txBody>
      </p:sp>
      <p:sp>
        <p:nvSpPr>
          <p:cNvPr id="23" name="Shape 18"/>
          <p:cNvSpPr/>
          <p:nvPr/>
        </p:nvSpPr>
        <p:spPr>
          <a:xfrm>
            <a:off x="548640" y="4663440"/>
            <a:ext cx="411480" cy="411480"/>
          </a:xfrm>
          <a:prstGeom prst="ellipse">
            <a:avLst/>
          </a:prstGeom>
          <a:solidFill>
            <a:srgbClr val="E07A5F"/>
          </a:solidFill>
          <a:ln w="12700">
            <a:solidFill>
              <a:srgbClr val="E07A5F"/>
            </a:solidFill>
            <a:prstDash val="solid"/>
          </a:ln>
        </p:spPr>
      </p:sp>
      <p:pic>
        <p:nvPicPr>
          <p:cNvPr id="24" name="Image 2" descr="preencoded.png">    </p:cNvPr>
          <p:cNvPicPr>
            <a:picLocks noChangeAspect="1"/>
          </p:cNvPicPr>
          <p:nvPr/>
        </p:nvPicPr>
        <p:blipFill>
          <a:blip r:embed="rId3"/>
          <a:stretch>
            <a:fillRect/>
          </a:stretch>
        </p:blipFill>
        <p:spPr>
          <a:xfrm>
            <a:off x="630936" y="4745736"/>
            <a:ext cx="246888" cy="246888"/>
          </a:xfrm>
          <a:prstGeom prst="rect">
            <a:avLst/>
          </a:prstGeom>
        </p:spPr>
      </p:pic>
      <p:sp>
        <p:nvSpPr>
          <p:cNvPr id="25" name="Text 19"/>
          <p:cNvSpPr txBox="1"/>
          <p:nvPr/>
        </p:nvSpPr>
        <p:spPr>
          <a:xfrm>
            <a:off x="1188720" y="4572000"/>
            <a:ext cx="6664757" cy="502920"/>
          </a:xfrm>
          <a:prstGeom prst="rect">
            <a:avLst/>
          </a:prstGeom>
          <a:noFill/>
          <a:ln/>
        </p:spPr>
        <p:txBody>
          <a:bodyPr wrap="square" lIns="0" tIns="0" rIns="0" bIns="0" rtlCol="0" anchor="ctr">
            <a:normAutofit/>
          </a:bodyPr>
          <a:lstStyle/>
          <a:p>
            <a:pPr algn="l" indent="0" marL="0">
              <a:buNone/>
            </a:pPr>
            <a:r>
              <a:rPr lang="en-US" sz="1500" dirty="0">
                <a:solidFill>
                  <a:srgbClr val="EEF2F7"/>
                </a:solidFill>
                <a:latin typeface="Arial" pitchFamily="34" charset="0"/>
                <a:ea typeface="Arial" pitchFamily="34" charset="-122"/>
                <a:cs typeface="Arial" pitchFamily="34" charset="-120"/>
              </a:rPr>
              <a:t>Review the findings the team accepts as real, and what each would have cost in review</a:t>
            </a:r>
            <a:endParaRPr lang="en-US" sz="1500" dirty="0"/>
          </a:p>
        </p:txBody>
      </p:sp>
      <p:sp>
        <p:nvSpPr>
          <p:cNvPr id="26" name="Text 20"/>
          <p:cNvSpPr txBox="1"/>
          <p:nvPr/>
        </p:nvSpPr>
        <p:spPr>
          <a:xfrm>
            <a:off x="8127797" y="4572000"/>
            <a:ext cx="1620469" cy="502920"/>
          </a:xfrm>
          <a:prstGeom prst="rect">
            <a:avLst/>
          </a:prstGeom>
          <a:noFill/>
          <a:ln/>
        </p:spPr>
        <p:txBody>
          <a:bodyPr wrap="square" lIns="0" tIns="0" rIns="0" bIns="0" rtlCol="0" anchor="ctr">
            <a:normAutofit/>
          </a:bodyPr>
          <a:lstStyle/>
          <a:p>
            <a:pPr algn="l" indent="0" marL="0">
              <a:buNone/>
            </a:pPr>
            <a:r>
              <a:rPr lang="en-US" sz="1400" dirty="0">
                <a:solidFill>
                  <a:srgbClr val="EEF2F7"/>
                </a:solidFill>
                <a:latin typeface="Arial" pitchFamily="34" charset="0"/>
                <a:ea typeface="Arial" pitchFamily="34" charset="-122"/>
                <a:cs typeface="Arial" pitchFamily="34" charset="-120"/>
              </a:rPr>
              <a:t>both of us</a:t>
            </a:r>
            <a:endParaRPr lang="en-US" sz="1400" dirty="0"/>
          </a:p>
        </p:txBody>
      </p:sp>
      <p:sp>
        <p:nvSpPr>
          <p:cNvPr id="27" name="Text 21"/>
          <p:cNvSpPr txBox="1"/>
          <p:nvPr/>
        </p:nvSpPr>
        <p:spPr>
          <a:xfrm>
            <a:off x="10022586" y="4572000"/>
            <a:ext cx="1620469" cy="502920"/>
          </a:xfrm>
          <a:prstGeom prst="rect">
            <a:avLst/>
          </a:prstGeom>
          <a:noFill/>
          <a:ln/>
        </p:spPr>
        <p:txBody>
          <a:bodyPr wrap="square" lIns="0" tIns="0" rIns="0" bIns="0" rtlCol="0" anchor="ctr">
            <a:normAutofit/>
          </a:bodyPr>
          <a:lstStyle/>
          <a:p>
            <a:pPr algn="l" indent="0" marL="0">
              <a:buNone/>
            </a:pPr>
            <a:r>
              <a:rPr lang="en-US" sz="1400" dirty="0">
                <a:solidFill>
                  <a:srgbClr val="EEF2F7"/>
                </a:solidFill>
                <a:latin typeface="Arial" pitchFamily="34" charset="0"/>
                <a:ea typeface="Arial" pitchFamily="34" charset="-122"/>
                <a:cs typeface="Arial" pitchFamily="34" charset="-120"/>
              </a:rPr>
              <a:t>week four</a:t>
            </a:r>
            <a:endParaRPr lang="en-US" sz="1400" dirty="0"/>
          </a:p>
        </p:txBody>
      </p:sp>
      <p:sp>
        <p:nvSpPr>
          <p:cNvPr id="28" name="Text 22"/>
          <p:cNvSpPr txBox="1"/>
          <p:nvPr/>
        </p:nvSpPr>
        <p:spPr>
          <a:xfrm>
            <a:off x="548640" y="5349240"/>
            <a:ext cx="11094415" cy="457200"/>
          </a:xfrm>
          <a:prstGeom prst="rect">
            <a:avLst/>
          </a:prstGeom>
          <a:noFill/>
          <a:ln/>
        </p:spPr>
        <p:txBody>
          <a:bodyPr wrap="square" lIns="0" tIns="0" rIns="0" bIns="0" rtlCol="0" anchor="b">
            <a:normAutofit/>
          </a:bodyPr>
          <a:lstStyle/>
          <a:p>
            <a:pPr algn="l" indent="0" marL="0">
              <a:buNone/>
            </a:pPr>
            <a:r>
              <a:rPr lang="en-US" sz="1300" dirty="0">
                <a:solidFill>
                  <a:srgbClr val="B9C2CF"/>
                </a:solidFill>
                <a:latin typeface="Arial" pitchFamily="34" charset="0"/>
                <a:ea typeface="Arial" pitchFamily="34" charset="-122"/>
                <a:cs typeface="Arial" pitchFamily="34" charset="-120"/>
              </a:rPr>
              <a:t>Without a trial the practice stays improvised and drift keeps surfacing in review</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Sources</a:t>
            </a:r>
            <a:endParaRPr lang="en-US" sz="3600" dirty="0"/>
          </a:p>
        </p:txBody>
      </p:sp>
      <p:sp>
        <p:nvSpPr>
          <p:cNvPr id="3" name="Text 1"/>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12</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502920"/>
                <a:gridCol w="6354897"/>
                <a:gridCol w="4236598"/>
              </a:tblGrid>
              <a:tr h="329184">
                <a:tc>
                  <a:txBody>
                    <a:bodyPr/>
                    <a:lstStyle/>
                    <a:p>
                      <a:pPr indent="0" marL="0">
                        <a:buNone/>
                      </a:pPr>
                      <a:r>
                        <a:rPr lang="en-US" sz="12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Claim or figure</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Governing artifact and section</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32918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 methodology and artifact catalog for AI-assisted teams: templates plus one skill</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docs/helix/00-discover/product-vision.md#mission-statement</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S2</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AI-assisted development went from novelty to default; most developers ship AI-touched code daily</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docs/helix/00-discover/product-vision.md#why-now</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S3</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Three failure modes: artifact drift, inconsistent agent behavior, lossy session boundaries</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docs/helix/01-frame/prd.md#problem</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S4</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Templates for 53 artifact types plus a single routing skill; no CLI, tracker, or execution loop</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docs/helix/01-frame/prd.md#summary</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69494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S5</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The seven activities, the artifact loop, and the authority hierarchy</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workflows/README.md#activities, workflows/README.md#authority-hierarchy, workflows/artifact-hierarchy.md</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S6</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Twenty-one routed modes in the routing table; alignment is the required mode</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skills/helix/SKILL.md#routing-rules, docs/helix/01-frame/prd.md#goals</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S7</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Four-step contract: write the brief, check alignment, plan the work, run it</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docs/helix/01-frame/prd.md#core-workflow-contract</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Sources (continued)</a:t>
            </a:r>
            <a:endParaRPr lang="en-US" sz="3600" dirty="0"/>
          </a:p>
        </p:txBody>
      </p:sp>
      <p:sp>
        <p:nvSpPr>
          <p:cNvPr id="3" name="Text 1"/>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502920"/>
                <a:gridCol w="6354897"/>
                <a:gridCol w="4236598"/>
              </a:tblGrid>
              <a:tr h="329184">
                <a:tc>
                  <a:txBody>
                    <a:bodyPr/>
                    <a:lstStyle/>
                    <a:p>
                      <a:pPr indent="0" marL="0">
                        <a:buNone/>
                      </a:pPr>
                      <a:r>
                        <a:rPr lang="en-US" sz="12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Claim or figure</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Governing artifact and section</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51206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S8</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OAuth example: three specs and two designs affected, one decision in conflict, four stories missing</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docs/helix/00-discover/product-vision.md#user-experience</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S9</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Concerns propagate practices downstream; the project's active concerns and slots; 50 concerns in the library</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workflows/README.md#cross-cutting-context, docs/helix/01-frame/concerns.md, workflows/concerns</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S10</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Seven principles, from spec is the contract to deliverable over machinery, with tension resolution</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workflows/principles.md#principles, docs/helix/01-frame/principles.md</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S11</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Artifact honesty: phantom claims block; verification evidence comes from the running system</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docs/helix/01-frame/features/FEAT-016-artifact-honesty.md, workflows/concerns/verification/practices.md</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S12</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Tests cite the criterion they cover; quality floors never slide back</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docs/helix/02-design/adr/ADR-009-acceptance-criteria-ownership.md, workflows/ratchets.md</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S13</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Non-goals: no CLI, tracker, queue, or engine; no imposed technology; judgment stays with people</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docs/helix/01-frame/prd.md#non-goals</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Sources (continued)</a:t>
            </a:r>
            <a:endParaRPr lang="en-US" sz="3600" dirty="0"/>
          </a:p>
        </p:txBody>
      </p:sp>
      <p:sp>
        <p:nvSpPr>
          <p:cNvPr id="3" name="Text 1"/>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502920"/>
                <a:gridCol w="6354897"/>
                <a:gridCol w="4236598"/>
              </a:tblGrid>
              <a:tr h="329184">
                <a:tc>
                  <a:txBody>
                    <a:bodyPr/>
                    <a:lstStyle/>
                    <a:p>
                      <a:pPr indent="0" marL="0">
                        <a:buNone/>
                      </a:pPr>
                      <a:r>
                        <a:rPr lang="en-US" sz="12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Claim or figure</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Governing artifact and section</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51206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S14</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Six install surfaces: DDx, Claude Code, Codex, Copilot, Databricks Genie, Grok Build</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docs/helix/01-frame/features/FEAT-013-runtime-install-coverage.md, docs/install/README.md</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S15</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Autonomy is a three-position spectrum with a hard-stop floor at every level</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docs/helix/02-design/adr/ADR-003-autonomy-spectrum.md</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S16</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Roadmap, iteration plan, status report; a client cut may subset but never contradict</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docs/helix/01-frame/features/FEAT-017-iteration-documentation.md</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S17</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Deliverables projected from governed artifacts, every number sourced, gated and inspected</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workflows/modes/present.md, workflows/activities/06-iterate/artifacts/deliverable/meta.yml</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S18</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Targets: &lt; 3 findings per run; 3 runtimes in 12 months; 50+ repos in 18 months</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docs/helix/00-discover/product-vision.md#success-definition, docs/helix/01-frame/prd.md#success-metrics</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S19</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Layers are the control: each layer governs the next; a change enters at the top layer it affects; rules live in a layer, not a prompt</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workflows/principles.md#layers-are-the-control</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S20</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The hierarchy as control loop: authority flows down, concerns cross layers, gates sit between layers, humans hold the hand-offs</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workflows/artifact-hierarchy.md#the-hierarchy-is-the-control-loop</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48640"/>
            <a:ext cx="11094415" cy="1188720"/>
          </a:xfrm>
          <a:prstGeom prst="rect">
            <a:avLst/>
          </a:prstGeom>
          <a:noFill/>
          <a:ln/>
        </p:spPr>
        <p:txBody>
          <a:bodyPr wrap="square" lIns="0" tIns="0" rIns="0" bIns="0" rtlCol="0" anchor="t">
            <a:normAutofit/>
          </a:bodyPr>
          <a:lstStyle/>
          <a:p>
            <a:pPr algn="l" indent="0" marL="0">
              <a:buNone/>
            </a:pPr>
            <a:r>
              <a:rPr lang="en-US" sz="3600" b="1" dirty="0">
                <a:solidFill>
                  <a:srgbClr val="1F2933"/>
                </a:solidFill>
                <a:latin typeface="Georgia" pitchFamily="34" charset="0"/>
                <a:ea typeface="Georgia" pitchFamily="34" charset="-122"/>
                <a:cs typeface="Georgia" pitchFamily="34" charset="-120"/>
              </a:rPr>
              <a:t>Sources (continued)</a:t>
            </a:r>
            <a:endParaRPr lang="en-US" sz="3600" dirty="0"/>
          </a:p>
        </p:txBody>
      </p:sp>
      <p:sp>
        <p:nvSpPr>
          <p:cNvPr id="3" name="Text 1"/>
          <p:cNvSpPr txBox="1"/>
          <p:nvPr/>
        </p:nvSpPr>
        <p:spPr>
          <a:xfrm>
            <a:off x="11094415" y="6035040"/>
            <a:ext cx="548640" cy="274320"/>
          </a:xfrm>
          <a:prstGeom prst="rect">
            <a:avLst/>
          </a:prstGeom>
          <a:noFill/>
          <a:ln/>
        </p:spPr>
        <p:txBody>
          <a:bodyPr wrap="square" lIns="0" tIns="0" rIns="0" bIns="0" rtlCol="0" anchor="b"/>
          <a:lstStyle/>
          <a:p>
            <a:pPr algn="r" indent="0" marL="0">
              <a:buNone/>
            </a:pPr>
            <a:r>
              <a:rPr lang="en-US" sz="1000" dirty="0">
                <a:solidFill>
                  <a:srgbClr val="55606D"/>
                </a:solidFill>
                <a:latin typeface="Arial" pitchFamily="34" charset="0"/>
                <a:ea typeface="Arial" pitchFamily="34" charset="-122"/>
                <a:cs typeface="Arial" pitchFamily="34" charset="-120"/>
              </a:rPr>
              <a:t>15</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502920"/>
                <a:gridCol w="6354897"/>
                <a:gridCol w="4236598"/>
              </a:tblGrid>
              <a:tr h="329184">
                <a:tc>
                  <a:txBody>
                    <a:bodyPr/>
                    <a:lstStyle/>
                    <a:p>
                      <a:pPr indent="0" marL="0">
                        <a:buNone/>
                      </a:pPr>
                      <a:r>
                        <a:rPr lang="en-US" sz="1200" b="1" dirty="0">
                          <a:solidFill>
                            <a:srgbClr val="FFFFFF"/>
                          </a:solidFill>
                          <a:latin typeface="Arial" pitchFamily="34" charset="0"/>
                          <a:ea typeface="Arial" pitchFamily="34" charset="-122"/>
                          <a:cs typeface="Arial" pitchFamily="34" charset="-120"/>
                        </a:rPr>
                        <a:t>Id</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Claim or figure</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Governing artifact and section</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3B6BA8"/>
                    </a:solidFill>
                  </a:tcPr>
                </a:tc>
              </a:tr>
              <a:tr h="51206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S21</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Humans decide, agents draft: people own intent, judgment, approval; agents own drafting, checking, surfacing, recording; every hand-off has an owner and a rule</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workflows/principles.md#humans-decide-agents-draft</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55606D"/>
                          </a:solidFill>
                          <a:latin typeface="Arial" pitchFamily="34" charset="0"/>
                          <a:ea typeface="Arial" pitchFamily="34" charset="-122"/>
                          <a:cs typeface="Arial" pitchFamily="34" charset="-120"/>
                        </a:rPr>
                        <a:t>S22</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Hand-off table: approval, autonomy level, stop triggers, escalation, surfaced judgment, and the rule behind each</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c>
                  <a:txBody>
                    <a:bodyPr/>
                    <a:lstStyle/>
                    <a:p>
                      <a:pPr indent="0" marL="0">
                        <a:buNone/>
                      </a:pPr>
                      <a:r>
                        <a:rPr lang="en-US" sz="1200" dirty="0">
                          <a:solidFill>
                            <a:srgbClr val="1F2933"/>
                          </a:solidFill>
                          <a:latin typeface="Arial" pitchFamily="34" charset="0"/>
                          <a:ea typeface="Arial" pitchFamily="34" charset="-122"/>
                          <a:cs typeface="Arial" pitchFamily="34" charset="-120"/>
                        </a:rPr>
                        <a:t>workflows/README.md#human-ai-collaboration, docs/helix/00-discover/product-vision.md#key-value-propositions</a:t>
                      </a:r>
                      <a:endParaRPr lang="en-US" sz="1200" dirty="0">
                        <a:latin typeface="Arial" charset="0"/>
                        <a:ea typeface="Arial" charset="0"/>
                        <a:cs typeface="Arial" charset="0"/>
                      </a:endParaRPr>
                    </a:p>
                  </a:txBody>
                  <a:tcPr marL="45720" marR="45720" marT="45720" marB="45720" anchor="ctr">
                    <a:lnL w="9525" cap="flat" cmpd="sng" algn="ctr">
                      <a:solidFill>
                        <a:srgbClr val="D6DCE4"/>
                      </a:solidFill>
                      <a:prstDash val="solid"/>
                      <a:round/>
                      <a:headEnd type="none" w="med" len="med"/>
                      <a:tailEnd type="none" w="med" len="med"/>
                    </a:lnL>
                    <a:lnR w="9525" cap="flat" cmpd="sng" algn="ctr">
                      <a:solidFill>
                        <a:srgbClr val="D6DCE4"/>
                      </a:solidFill>
                      <a:prstDash val="solid"/>
                      <a:round/>
                      <a:headEnd type="none" w="med" len="med"/>
                      <a:tailEnd type="none" w="med" len="med"/>
                    </a:lnR>
                    <a:lnT w="9525" cap="flat" cmpd="sng" algn="ctr">
                      <a:solidFill>
                        <a:srgbClr val="D6DCE4"/>
                      </a:solidFill>
                      <a:prstDash val="solid"/>
                      <a:round/>
                      <a:headEnd type="none" w="med" len="med"/>
                      <a:tailEnd type="none" w="med" len="med"/>
                    </a:lnT>
                    <a:lnB w="9525" cap="flat" cmpd="sng" algn="ctr">
                      <a:solidFill>
                        <a:srgbClr val="D6DCE4"/>
                      </a:solidFill>
                      <a:prstDash val="solid"/>
                      <a:round/>
                      <a:headEnd type="none" w="med" len="med"/>
                      <a:tailEnd type="none" w="med" len="me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One discipline governs agent work from intent to release</dc:title>
  <dc:subject>PptxGenJS Presentation</dc:subject>
  <dc:creator>HELIX</dc:creator>
  <cp:lastModifiedBy>HELIX</cp:lastModifiedBy>
  <cp:revision>1</cp:revision>
  <dcterms:created xsi:type="dcterms:W3CDTF">2026-09-16T01:58:57Z</dcterms:created>
  <dcterms:modified xsi:type="dcterms:W3CDTF">2026-09-16T01:58:57Z</dcterms:modified>
</cp:coreProperties>
</file>