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takeaway once, then say the ask comes on the last slide and is one project for one quarter. Do not explain HELIX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change; do not argue it. This audience lives it. The missing third milestone is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 modes the requirements document names. Each shows up late, in review or in production, which is why the cost is high. Ask which one the audience saw last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HELIX is a method you adopt, not a platform you join. Each template carries an authoring prompt and quality criteria, and the templates rank: vision governs requirements, requirements govern designs, designs govern tests and code. Every one of the 53 is optional; teams adopt one type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never invokes a HELIX command, because there is none. They invoke their agent, and the agent invokes the skill. The four panels are the modes this audience will use first; the rest are in the appendix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four-step contract the requirements document commits to. On one OAuth change in the vision's worked example, the alignment check found three affected specs, one conflicting decision, and four missing stories before anyone wrote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keeps a team's agents consistent with each other as well as with the specs. The team selects a concern once during framing; it then propagates and nobody re-decides it per task. Slots are why two agents cannot pick two frontend frameworks.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artifact-honesty rule: any assertion of a test, a coverage figure, or a metric that does not exist is a blocking finding, not a style note. A quality floor, once reached, never slides back. The templates' own checks now run as 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non-goals from the requirements document, and the autonomy decision: low asks before each step, medium pauses on ambiguity, high records assumptions and proceeds, and a hard floor of stop triggers holds at every level. This answers the objection every platform team is forming by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is not only for engineers. The iteration documents exist for people who coordinate, and the present mode exists for people outside the project. Say that this deck is the worked example: its script, its sources, and its inspection record are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after the ask. The bar is a target the product sets for itself, not a result; say so. If asked about cost, the trial needs one champion and no new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F"/>
        </a:solidFill>
      </p:bgPr>
    </p:bg>
    <p:spTree>
      <p:nvGrpSpPr>
        <p:cNvPr id="1" name=""/>
        <p:cNvGrpSpPr/>
        <p:nvPr/>
      </p:nvGrpSpPr>
      <p:grpSpPr>
        <a:xfrm>
          <a:off x="0" y="0"/>
          <a:ext cx="0" cy="0"/>
          <a:chOff x="0" y="0"/>
          <a:chExt cx="0" cy="0"/>
        </a:xfrm>
      </p:grpSpPr>
      <p:sp>
        <p:nvSpPr>
          <p:cNvPr id="2" name="Text 0"/>
          <p:cNvSpPr txBox="1"/>
          <p:nvPr/>
        </p:nvSpPr>
        <p:spPr>
          <a:xfrm>
            <a:off x="548640" y="1371600"/>
            <a:ext cx="7304837" cy="2286000"/>
          </a:xfrm>
          <a:prstGeom prst="rect">
            <a:avLst/>
          </a:prstGeom>
          <a:noFill/>
          <a:ln/>
        </p:spPr>
        <p:txBody>
          <a:bodyPr wrap="square" lIns="0" tIns="0" rIns="0" bIns="0" rtlCol="0" anchor="b">
            <a:normAutofit/>
          </a:bodyPr>
          <a:lstStyle/>
          <a:p>
            <a:pPr algn="l" indent="0" marL="0">
              <a:buNone/>
            </a:pPr>
            <a:r>
              <a:rPr lang="en-US" sz="4000" b="1" dirty="0">
                <a:solidFill>
                  <a:srgbClr val="EEF2F7"/>
                </a:solidFill>
                <a:latin typeface="Georgia" pitchFamily="34" charset="0"/>
                <a:ea typeface="Georgia" pitchFamily="34" charset="-122"/>
                <a:cs typeface="Georgia" pitchFamily="34" charset="-120"/>
              </a:rPr>
              <a:t>One document discipline governs agent work from intent to release</a:t>
            </a:r>
            <a:endParaRPr lang="en-US" sz="4000" dirty="0"/>
          </a:p>
        </p:txBody>
      </p:sp>
      <p:sp>
        <p:nvSpPr>
          <p:cNvPr id="3" name="Text 1"/>
          <p:cNvSpPr txBox="1"/>
          <p:nvPr/>
        </p:nvSpPr>
        <p:spPr>
          <a:xfrm>
            <a:off x="548640" y="3840480"/>
            <a:ext cx="7304837" cy="914400"/>
          </a:xfrm>
          <a:prstGeom prst="rect">
            <a:avLst/>
          </a:prstGeom>
          <a:noFill/>
          <a:ln/>
        </p:spPr>
        <p:txBody>
          <a:bodyPr wrap="square" lIns="0" tIns="0" rIns="0" bIns="0" rtlCol="0" anchor="t">
            <a:normAutofit/>
          </a:bodyPr>
          <a:lstStyle/>
          <a:p>
            <a:pPr algn="l" indent="0" marL="0">
              <a:buNone/>
            </a:pPr>
            <a:r>
              <a:rPr lang="en-US" sz="2000" dirty="0">
                <a:solidFill>
                  <a:srgbClr val="B9C2CF"/>
                </a:solidFill>
                <a:latin typeface="Arial" pitchFamily="34" charset="0"/>
                <a:ea typeface="Arial" pitchFamily="34" charset="-122"/>
                <a:cs typeface="Arial" pitchFamily="34" charset="-120"/>
              </a:rPr>
              <a:t>An evaluation briefing for engineering leaders whose teams build with AI agents</a:t>
            </a:r>
            <a:endParaRPr lang="en-US" sz="2000" dirty="0"/>
          </a:p>
        </p:txBody>
      </p:sp>
      <p:sp>
        <p:nvSpPr>
          <p:cNvPr id="4" name="Text 2"/>
          <p:cNvSpPr txBox="1"/>
          <p:nvPr/>
        </p:nvSpPr>
        <p:spPr>
          <a:xfrm>
            <a:off x="548640" y="5669280"/>
            <a:ext cx="5486400" cy="320040"/>
          </a:xfrm>
          <a:prstGeom prst="rect">
            <a:avLst/>
          </a:prstGeom>
          <a:noFill/>
          <a:ln/>
        </p:spPr>
        <p:txBody>
          <a:bodyPr wrap="square" lIns="0" tIns="0" rIns="0" bIns="0" rtlCol="0" anchor="b">
            <a:normAutofit/>
          </a:bodyPr>
          <a:lstStyle/>
          <a:p>
            <a:pPr algn="l" indent="0" marL="0">
              <a:buNone/>
            </a:pPr>
            <a:r>
              <a:rPr lang="en-US" sz="1200" dirty="0">
                <a:solidFill>
                  <a:srgbClr val="B9C2CF"/>
                </a:solidFill>
                <a:latin typeface="Arial" pitchFamily="34" charset="0"/>
                <a:ea typeface="Arial" pitchFamily="34" charset="-122"/>
                <a:cs typeface="Arial" pitchFamily="34" charset="-120"/>
              </a:rPr>
              <a:t>September 2026</a:t>
            </a:r>
            <a:endParaRPr lang="en-US" sz="1200" dirty="0"/>
          </a:p>
        </p:txBody>
      </p:sp>
      <p:sp>
        <p:nvSpPr>
          <p:cNvPr id="5" name="Shape 3"/>
          <p:cNvSpPr/>
          <p:nvPr/>
        </p:nvSpPr>
        <p:spPr>
          <a:xfrm>
            <a:off x="8716975" y="1965960"/>
            <a:ext cx="2926080" cy="2926080"/>
          </a:xfrm>
          <a:prstGeom prst="ellipse">
            <a:avLst/>
          </a:prstGeom>
          <a:solidFill>
            <a:srgbClr val="14181F"/>
          </a:solidFill>
          <a:ln w="50800">
            <a:solidFill>
              <a:srgbClr val="E07A5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Agents now write most production code without a shared practice</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S2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2</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Most professional developers ship agent-written code every day</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output is locally good and globally inconsistent</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document disciplines human teams built never reached the agents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Every practice era gets its equivalent of test-driven development</a:t>
            </a:r>
            <a:endParaRPr lang="en-US" sz="1800" dirty="0"/>
          </a:p>
        </p:txBody>
      </p:sp>
      <p:sp>
        <p:nvSpPr>
          <p:cNvPr id="9" name="Shape 6"/>
          <p:cNvSpPr/>
          <p:nvPr/>
        </p:nvSpPr>
        <p:spPr>
          <a:xfrm>
            <a:off x="5834253" y="3502152"/>
            <a:ext cx="5260162" cy="0"/>
          </a:xfrm>
          <a:prstGeom prst="line">
            <a:avLst/>
          </a:prstGeom>
          <a:noFill/>
          <a:ln w="38100">
            <a:solidFill>
              <a:srgbClr val="D6DCE4"/>
            </a:solidFill>
            <a:prstDash val="solid"/>
            <a:headEnd type="none"/>
            <a:tailEnd type="none"/>
          </a:ln>
        </p:spPr>
      </p:sp>
      <p:sp>
        <p:nvSpPr>
          <p:cNvPr id="10" name="Shape 7"/>
          <p:cNvSpPr/>
          <p:nvPr/>
        </p:nvSpPr>
        <p:spPr>
          <a:xfrm>
            <a:off x="5697093" y="3364992"/>
            <a:ext cx="274320" cy="274320"/>
          </a:xfrm>
          <a:prstGeom prst="ellipse">
            <a:avLst/>
          </a:prstGeom>
          <a:solidFill>
            <a:srgbClr val="3B6BA8"/>
          </a:solidFill>
          <a:ln w="12700">
            <a:solidFill>
              <a:srgbClr val="3B6BA8"/>
            </a:solidFill>
            <a:prstDash val="solid"/>
          </a:ln>
        </p:spPr>
      </p:sp>
      <p:sp>
        <p:nvSpPr>
          <p:cNvPr id="11" name="Text 8"/>
          <p:cNvSpPr txBox="1"/>
          <p:nvPr/>
        </p:nvSpPr>
        <p:spPr>
          <a:xfrm>
            <a:off x="5285613" y="2633472"/>
            <a:ext cx="2538641" cy="640080"/>
          </a:xfrm>
          <a:prstGeom prst="rect">
            <a:avLst/>
          </a:prstGeom>
          <a:noFill/>
          <a:ln/>
        </p:spPr>
        <p:txBody>
          <a:bodyPr wrap="square" lIns="0" tIns="0" rIns="0" bIns="0" rtlCol="0" anchor="b">
            <a:normAutofit/>
          </a:bodyPr>
          <a:lstStyle/>
          <a:p>
            <a:pPr algn="ctr" indent="0" marL="0">
              <a:buNone/>
            </a:pPr>
            <a:r>
              <a:rPr lang="en-US" sz="1400" dirty="0">
                <a:solidFill>
                  <a:srgbClr val="1F2933"/>
                </a:solidFill>
                <a:latin typeface="Arial" pitchFamily="34" charset="0"/>
                <a:ea typeface="Arial" pitchFamily="34" charset="-122"/>
                <a:cs typeface="Arial" pitchFamily="34" charset="-120"/>
              </a:rPr>
              <a:t>agents as novelty</a:t>
            </a:r>
            <a:endParaRPr lang="en-US" sz="1400" dirty="0"/>
          </a:p>
        </p:txBody>
      </p:sp>
      <p:sp>
        <p:nvSpPr>
          <p:cNvPr id="12" name="Shape 9"/>
          <p:cNvSpPr/>
          <p:nvPr/>
        </p:nvSpPr>
        <p:spPr>
          <a:xfrm>
            <a:off x="8327174" y="3364992"/>
            <a:ext cx="274320" cy="274320"/>
          </a:xfrm>
          <a:prstGeom prst="ellipse">
            <a:avLst/>
          </a:prstGeom>
          <a:solidFill>
            <a:srgbClr val="C44B2F"/>
          </a:solidFill>
          <a:ln w="12700">
            <a:solidFill>
              <a:srgbClr val="C44B2F"/>
            </a:solidFill>
            <a:prstDash val="solid"/>
          </a:ln>
        </p:spPr>
      </p:sp>
      <p:sp>
        <p:nvSpPr>
          <p:cNvPr id="13" name="Text 10"/>
          <p:cNvSpPr txBox="1"/>
          <p:nvPr/>
        </p:nvSpPr>
        <p:spPr>
          <a:xfrm>
            <a:off x="7195014" y="3730752"/>
            <a:ext cx="2538641" cy="640080"/>
          </a:xfrm>
          <a:prstGeom prst="rect">
            <a:avLst/>
          </a:prstGeom>
          <a:noFill/>
          <a:ln/>
        </p:spPr>
        <p:txBody>
          <a:bodyPr wrap="square" lIns="0" tIns="0" rIns="0" bIns="0" rtlCol="0" anchor="t">
            <a:normAutofit/>
          </a:bodyPr>
          <a:lstStyle/>
          <a:p>
            <a:pPr algn="ctr" indent="0" marL="0">
              <a:buNone/>
            </a:pPr>
            <a:r>
              <a:rPr lang="en-US" sz="1400" b="1" dirty="0">
                <a:solidFill>
                  <a:srgbClr val="C44B2F"/>
                </a:solidFill>
                <a:latin typeface="Arial" pitchFamily="34" charset="0"/>
                <a:ea typeface="Arial" pitchFamily="34" charset="-122"/>
                <a:cs typeface="Arial" pitchFamily="34" charset="-120"/>
              </a:rPr>
              <a:t>agents as default practice</a:t>
            </a:r>
            <a:endParaRPr lang="en-US" sz="1400" dirty="0"/>
          </a:p>
        </p:txBody>
      </p:sp>
      <p:sp>
        <p:nvSpPr>
          <p:cNvPr id="14" name="Shape 11"/>
          <p:cNvSpPr/>
          <p:nvPr/>
        </p:nvSpPr>
        <p:spPr>
          <a:xfrm>
            <a:off x="8464334" y="4370832"/>
            <a:ext cx="0" cy="274320"/>
          </a:xfrm>
          <a:prstGeom prst="line">
            <a:avLst/>
          </a:prstGeom>
          <a:noFill/>
          <a:ln w="25400">
            <a:solidFill>
              <a:srgbClr val="C44B2F"/>
            </a:solidFill>
            <a:prstDash val="dash"/>
            <a:headEnd type="none"/>
            <a:tailEnd type="none"/>
          </a:ln>
        </p:spPr>
      </p:sp>
      <p:sp>
        <p:nvSpPr>
          <p:cNvPr id="15" name="Text 12"/>
          <p:cNvSpPr txBox="1"/>
          <p:nvPr/>
        </p:nvSpPr>
        <p:spPr>
          <a:xfrm>
            <a:off x="6829254" y="4690872"/>
            <a:ext cx="3270161" cy="457200"/>
          </a:xfrm>
          <a:prstGeom prst="rect">
            <a:avLst/>
          </a:prstGeom>
          <a:noFill/>
          <a:ln/>
        </p:spPr>
        <p:txBody>
          <a:bodyPr wrap="square" lIns="0" tIns="0" rIns="0" bIns="0" rtlCol="0" anchor="t">
            <a:normAutofit/>
          </a:bodyPr>
          <a:lstStyle/>
          <a:p>
            <a:pPr algn="ctr" indent="0" marL="0">
              <a:buNone/>
            </a:pPr>
            <a:r>
              <a:rPr lang="en-US" sz="1300" b="1" dirty="0">
                <a:solidFill>
                  <a:srgbClr val="C44B2F"/>
                </a:solidFill>
                <a:latin typeface="Arial" pitchFamily="34" charset="0"/>
                <a:ea typeface="Arial" pitchFamily="34" charset="-122"/>
                <a:cs typeface="Arial" pitchFamily="34" charset="-120"/>
              </a:rPr>
              <a:t>no shared practice yet</a:t>
            </a:r>
            <a:endParaRPr lang="en-US" sz="1300" dirty="0"/>
          </a:p>
        </p:txBody>
      </p:sp>
      <p:sp>
        <p:nvSpPr>
          <p:cNvPr id="16" name="Shape 13"/>
          <p:cNvSpPr/>
          <p:nvPr/>
        </p:nvSpPr>
        <p:spPr>
          <a:xfrm>
            <a:off x="10957255" y="3364992"/>
            <a:ext cx="274320" cy="274320"/>
          </a:xfrm>
          <a:prstGeom prst="ellipse">
            <a:avLst/>
          </a:prstGeom>
          <a:solidFill>
            <a:srgbClr val="3B6BA8"/>
          </a:solidFill>
          <a:ln w="12700">
            <a:solidFill>
              <a:srgbClr val="3B6BA8"/>
            </a:solidFill>
            <a:prstDash val="solid"/>
          </a:ln>
        </p:spPr>
      </p:sp>
      <p:sp>
        <p:nvSpPr>
          <p:cNvPr id="17" name="Text 14"/>
          <p:cNvSpPr txBox="1"/>
          <p:nvPr/>
        </p:nvSpPr>
        <p:spPr>
          <a:xfrm>
            <a:off x="9104414" y="2633472"/>
            <a:ext cx="2538641" cy="640080"/>
          </a:xfrm>
          <a:prstGeom prst="rect">
            <a:avLst/>
          </a:prstGeom>
          <a:noFill/>
          <a:ln/>
        </p:spPr>
        <p:txBody>
          <a:bodyPr wrap="square" lIns="0" tIns="0" rIns="0" bIns="0" rtlCol="0" anchor="b">
            <a:normAutofit/>
          </a:bodyPr>
          <a:lstStyle/>
          <a:p>
            <a:pPr algn="ctr" indent="0" marL="0">
              <a:buNone/>
            </a:pPr>
            <a:r>
              <a:rPr lang="en-US" sz="1400" dirty="0">
                <a:solidFill>
                  <a:srgbClr val="1F2933"/>
                </a:solidFill>
                <a:latin typeface="Arial" pitchFamily="34" charset="0"/>
                <a:ea typeface="Arial" pitchFamily="34" charset="-122"/>
                <a:cs typeface="Arial" pitchFamily="34" charset="-120"/>
              </a:rPr>
              <a:t>a shared practice for agents</a:t>
            </a:r>
            <a:endParaRPr lang="en-US" sz="1400" dirty="0"/>
          </a:p>
        </p:txBody>
      </p:sp>
      <p:sp>
        <p:nvSpPr>
          <p:cNvPr id="18" name="Text 15"/>
          <p:cNvSpPr txBox="1"/>
          <p:nvPr/>
        </p:nvSpPr>
        <p:spPr>
          <a:xfrm>
            <a:off x="5468493" y="5303520"/>
            <a:ext cx="5991682" cy="457200"/>
          </a:xfrm>
          <a:prstGeom prst="rect">
            <a:avLst/>
          </a:prstGeom>
          <a:noFill/>
          <a:ln/>
        </p:spPr>
        <p:txBody>
          <a:bodyPr wrap="square" lIns="0" tIns="0" rIns="0" bIns="0" rtlCol="0" anchor="b">
            <a:normAutofit/>
          </a:bodyPr>
          <a:lstStyle/>
          <a:p>
            <a:pPr algn="ctr" indent="0" marL="0">
              <a:buNone/>
            </a:pPr>
            <a:r>
              <a:rPr lang="en-US" sz="1200" dirty="0">
                <a:solidFill>
                  <a:srgbClr val="55606D"/>
                </a:solidFill>
                <a:latin typeface="Arial" pitchFamily="34" charset="0"/>
                <a:ea typeface="Arial" pitchFamily="34" charset="-122"/>
                <a:cs typeface="Arial" pitchFamily="34" charset="-120"/>
              </a:rPr>
              <a:t>how agent-written code became the default before any discipline caught up</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Without that practice, agent code drifts from its governing documents</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S3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3</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Specs, designs, and tests fall out of sync because nobody walks them between sessions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 feature ships whose design contradicts a decision recorded months earlier</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Each new conversation re-improvises the workflow, so reviews that should happen do not</a:t>
            </a:r>
            <a:endParaRPr lang="en-US" sz="1800" dirty="0"/>
          </a:p>
        </p:txBody>
      </p:sp>
      <p:sp>
        <p:nvSpPr>
          <p:cNvPr id="9" name="Shape 6"/>
          <p:cNvSpPr/>
          <p:nvPr/>
        </p:nvSpPr>
        <p:spPr>
          <a:xfrm>
            <a:off x="5285613" y="1965960"/>
            <a:ext cx="1936267" cy="3840480"/>
          </a:xfrm>
          <a:prstGeom prst="roundRect">
            <a:avLst>
              <a:gd name="adj" fmla="val 4722"/>
            </a:avLst>
          </a:prstGeom>
          <a:solidFill>
            <a:srgbClr val="F3F5F8"/>
          </a:solidFill>
          <a:ln w="9525">
            <a:solidFill>
              <a:srgbClr val="D6DCE4"/>
            </a:solidFill>
            <a:prstDash val="solid"/>
          </a:ln>
        </p:spPr>
      </p:sp>
      <p:sp>
        <p:nvSpPr>
          <p:cNvPr id="10" name="Shape 7"/>
          <p:cNvSpPr/>
          <p:nvPr/>
        </p:nvSpPr>
        <p:spPr>
          <a:xfrm>
            <a:off x="5818087" y="2423160"/>
            <a:ext cx="871320" cy="871320"/>
          </a:xfrm>
          <a:prstGeom prst="ellipse">
            <a:avLst/>
          </a:prstGeom>
          <a:solidFill>
            <a:srgbClr val="3B6BA8"/>
          </a:solidFill>
          <a:ln w="12700">
            <a:solidFill>
              <a:srgbClr val="3B6BA8"/>
            </a:solidFill>
            <a:prstDash val="solid"/>
          </a:ln>
        </p:spPr>
      </p:sp>
      <p:sp>
        <p:nvSpPr>
          <p:cNvPr id="11" name="Text 8"/>
          <p:cNvSpPr txBox="1"/>
          <p:nvPr/>
        </p:nvSpPr>
        <p:spPr>
          <a:xfrm>
            <a:off x="5818087" y="2423160"/>
            <a:ext cx="871320" cy="871320"/>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12" name="Text 9"/>
          <p:cNvSpPr txBox="1"/>
          <p:nvPr/>
        </p:nvSpPr>
        <p:spPr>
          <a:xfrm>
            <a:off x="5358765" y="3523080"/>
            <a:ext cx="1789963"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Drift</a:t>
            </a:r>
            <a:endParaRPr lang="en-US" sz="1600" dirty="0"/>
          </a:p>
        </p:txBody>
      </p:sp>
      <p:sp>
        <p:nvSpPr>
          <p:cNvPr id="13" name="Text 10"/>
          <p:cNvSpPr txBox="1"/>
          <p:nvPr/>
        </p:nvSpPr>
        <p:spPr>
          <a:xfrm>
            <a:off x="5422773" y="4026000"/>
            <a:ext cx="1661947" cy="159756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specs and code diverge between sessions</a:t>
            </a:r>
            <a:endParaRPr lang="en-US" sz="1300" dirty="0"/>
          </a:p>
        </p:txBody>
      </p:sp>
      <p:sp>
        <p:nvSpPr>
          <p:cNvPr id="14" name="Shape 11"/>
          <p:cNvSpPr/>
          <p:nvPr/>
        </p:nvSpPr>
        <p:spPr>
          <a:xfrm>
            <a:off x="7496200" y="1965960"/>
            <a:ext cx="1936267" cy="3840480"/>
          </a:xfrm>
          <a:prstGeom prst="roundRect">
            <a:avLst>
              <a:gd name="adj" fmla="val 4722"/>
            </a:avLst>
          </a:prstGeom>
          <a:solidFill>
            <a:srgbClr val="F3F5F8"/>
          </a:solidFill>
          <a:ln w="9525">
            <a:solidFill>
              <a:srgbClr val="D6DCE4"/>
            </a:solidFill>
            <a:prstDash val="solid"/>
          </a:ln>
        </p:spPr>
      </p:sp>
      <p:sp>
        <p:nvSpPr>
          <p:cNvPr id="15" name="Shape 12"/>
          <p:cNvSpPr/>
          <p:nvPr/>
        </p:nvSpPr>
        <p:spPr>
          <a:xfrm>
            <a:off x="8028674" y="2423160"/>
            <a:ext cx="871320" cy="871320"/>
          </a:xfrm>
          <a:prstGeom prst="ellipse">
            <a:avLst/>
          </a:prstGeom>
          <a:solidFill>
            <a:srgbClr val="6842A8"/>
          </a:solidFill>
          <a:ln w="12700">
            <a:solidFill>
              <a:srgbClr val="6842A8"/>
            </a:solidFill>
            <a:prstDash val="solid"/>
          </a:ln>
        </p:spPr>
      </p:sp>
      <p:sp>
        <p:nvSpPr>
          <p:cNvPr id="16" name="Text 13"/>
          <p:cNvSpPr txBox="1"/>
          <p:nvPr/>
        </p:nvSpPr>
        <p:spPr>
          <a:xfrm>
            <a:off x="8028674" y="2423160"/>
            <a:ext cx="871320" cy="871320"/>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17" name="Text 14"/>
          <p:cNvSpPr txBox="1"/>
          <p:nvPr/>
        </p:nvSpPr>
        <p:spPr>
          <a:xfrm>
            <a:off x="7569352" y="3523080"/>
            <a:ext cx="1789963"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Contradiction</a:t>
            </a:r>
            <a:endParaRPr lang="en-US" sz="1600" dirty="0"/>
          </a:p>
        </p:txBody>
      </p:sp>
      <p:sp>
        <p:nvSpPr>
          <p:cNvPr id="18" name="Text 15"/>
          <p:cNvSpPr txBox="1"/>
          <p:nvPr/>
        </p:nvSpPr>
        <p:spPr>
          <a:xfrm>
            <a:off x="7633360" y="4026000"/>
            <a:ext cx="1661947" cy="159756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a design ignores an earlier decision</a:t>
            </a:r>
            <a:endParaRPr lang="en-US" sz="1300" dirty="0"/>
          </a:p>
        </p:txBody>
      </p:sp>
      <p:sp>
        <p:nvSpPr>
          <p:cNvPr id="19" name="Shape 16"/>
          <p:cNvSpPr/>
          <p:nvPr/>
        </p:nvSpPr>
        <p:spPr>
          <a:xfrm>
            <a:off x="9706788" y="1965960"/>
            <a:ext cx="1936267" cy="3840480"/>
          </a:xfrm>
          <a:prstGeom prst="roundRect">
            <a:avLst>
              <a:gd name="adj" fmla="val 4722"/>
            </a:avLst>
          </a:prstGeom>
          <a:solidFill>
            <a:srgbClr val="F3F5F8"/>
          </a:solidFill>
          <a:ln w="9525">
            <a:solidFill>
              <a:srgbClr val="D6DCE4"/>
            </a:solidFill>
            <a:prstDash val="solid"/>
          </a:ln>
        </p:spPr>
      </p:sp>
      <p:sp>
        <p:nvSpPr>
          <p:cNvPr id="20" name="Shape 17"/>
          <p:cNvSpPr/>
          <p:nvPr/>
        </p:nvSpPr>
        <p:spPr>
          <a:xfrm>
            <a:off x="10239261" y="2423160"/>
            <a:ext cx="871320" cy="871320"/>
          </a:xfrm>
          <a:prstGeom prst="ellipse">
            <a:avLst/>
          </a:prstGeom>
          <a:solidFill>
            <a:srgbClr val="C44B2F"/>
          </a:solidFill>
          <a:ln w="12700">
            <a:solidFill>
              <a:srgbClr val="C44B2F"/>
            </a:solidFill>
            <a:prstDash val="solid"/>
          </a:ln>
        </p:spPr>
      </p:sp>
      <p:sp>
        <p:nvSpPr>
          <p:cNvPr id="21" name="Text 18"/>
          <p:cNvSpPr txBox="1"/>
          <p:nvPr/>
        </p:nvSpPr>
        <p:spPr>
          <a:xfrm>
            <a:off x="10239261" y="2423160"/>
            <a:ext cx="871320" cy="871320"/>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22" name="Text 19"/>
          <p:cNvSpPr txBox="1"/>
          <p:nvPr/>
        </p:nvSpPr>
        <p:spPr>
          <a:xfrm>
            <a:off x="9779940" y="3523080"/>
            <a:ext cx="1789963"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Lost context</a:t>
            </a:r>
            <a:endParaRPr lang="en-US" sz="1600" dirty="0"/>
          </a:p>
        </p:txBody>
      </p:sp>
      <p:sp>
        <p:nvSpPr>
          <p:cNvPr id="23" name="Text 20"/>
          <p:cNvSpPr txBox="1"/>
          <p:nvPr/>
        </p:nvSpPr>
        <p:spPr>
          <a:xfrm>
            <a:off x="9843948" y="4026000"/>
            <a:ext cx="1661947" cy="159756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every session starts from zero</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HELIX answers with 53 document templates across a seven-activity loop</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S4, S5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3328325"/>
                <a:gridCol w="7766091"/>
              </a:tblGrid>
              <a:tr h="474345">
                <a:tc>
                  <a:txBody>
                    <a:bodyPr/>
                    <a:lstStyle/>
                    <a:p>
                      <a:pPr indent="0" marL="0">
                        <a:buNone/>
                      </a:pPr>
                      <a:r>
                        <a:rPr lang="en-US" sz="1500" b="1" dirty="0">
                          <a:solidFill>
                            <a:srgbClr val="FFFFFF"/>
                          </a:solidFill>
                          <a:latin typeface="Arial" pitchFamily="34" charset="0"/>
                          <a:ea typeface="Arial" pitchFamily="34" charset="-122"/>
                          <a:cs typeface="Arial" pitchFamily="34" charset="-120"/>
                        </a:rPr>
                        <a:t>Activity</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What the templates produce</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474345">
                <a:tc>
                  <a:txBody>
                    <a:bodyPr/>
                    <a:lstStyle/>
                    <a:p>
                      <a:pPr indent="0" marL="0">
                        <a:buNone/>
                      </a:pPr>
                      <a:r>
                        <a:rPr lang="en-US" sz="1500" b="1" dirty="0">
                          <a:solidFill>
                            <a:srgbClr val="55606D"/>
                          </a:solidFill>
                          <a:latin typeface="Arial" pitchFamily="34" charset="0"/>
                          <a:ea typeface="Arial" pitchFamily="34" charset="-122"/>
                          <a:cs typeface="Arial" pitchFamily="34" charset="-120"/>
                        </a:rPr>
                        <a:t>Discover</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vision, business case, market and competitive analysis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474345">
                <a:tc>
                  <a:txBody>
                    <a:bodyPr/>
                    <a:lstStyle/>
                    <a:p>
                      <a:pPr indent="0" marL="0">
                        <a:buNone/>
                      </a:pPr>
                      <a:r>
                        <a:rPr lang="en-US" sz="1500" b="1" dirty="0">
                          <a:solidFill>
                            <a:srgbClr val="55606D"/>
                          </a:solidFill>
                          <a:latin typeface="Arial" pitchFamily="34" charset="0"/>
                          <a:ea typeface="Arial" pitchFamily="34" charset="-122"/>
                          <a:cs typeface="Arial" pitchFamily="34" charset="-120"/>
                        </a:rPr>
                        <a:t>Frame</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requirements, features, user stories, concerns, principles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3F5F8"/>
                    </a:solidFill>
                  </a:tcPr>
                </a:tc>
              </a:tr>
              <a:tr h="474345">
                <a:tc>
                  <a:txBody>
                    <a:bodyPr/>
                    <a:lstStyle/>
                    <a:p>
                      <a:pPr indent="0" marL="0">
                        <a:buNone/>
                      </a:pPr>
                      <a:r>
                        <a:rPr lang="en-US" sz="1500" b="1" dirty="0">
                          <a:solidFill>
                            <a:srgbClr val="55606D"/>
                          </a:solidFill>
                          <a:latin typeface="Arial" pitchFamily="34" charset="0"/>
                          <a:ea typeface="Arial" pitchFamily="34" charset="-122"/>
                          <a:cs typeface="Arial" pitchFamily="34" charset="-120"/>
                        </a:rPr>
                        <a:t>Design</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architecture, decisions, contracts, solution and technical designs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474345">
                <a:tc>
                  <a:txBody>
                    <a:bodyPr/>
                    <a:lstStyle/>
                    <a:p>
                      <a:pPr indent="0" marL="0">
                        <a:buNone/>
                      </a:pPr>
                      <a:r>
                        <a:rPr lang="en-US" sz="1500" b="1" dirty="0">
                          <a:solidFill>
                            <a:srgbClr val="55606D"/>
                          </a:solidFill>
                          <a:latin typeface="Arial" pitchFamily="34" charset="0"/>
                          <a:ea typeface="Arial" pitchFamily="34" charset="-122"/>
                          <a:cs typeface="Arial" pitchFamily="34" charset="-120"/>
                        </a:rPr>
                        <a:t>Test</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test plans and quality expectations, written before code</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474345">
                <a:tc>
                  <a:txBody>
                    <a:bodyPr/>
                    <a:lstStyle/>
                    <a:p>
                      <a:pPr indent="0" marL="0">
                        <a:buNone/>
                      </a:pPr>
                      <a:r>
                        <a:rPr lang="en-US" sz="1500" b="1" dirty="0">
                          <a:solidFill>
                            <a:srgbClr val="55606D"/>
                          </a:solidFill>
                          <a:latin typeface="Arial" pitchFamily="34" charset="0"/>
                          <a:ea typeface="Arial" pitchFamily="34" charset="-122"/>
                          <a:cs typeface="Arial" pitchFamily="34" charset="-120"/>
                        </a:rPr>
                        <a:t>Build</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implementation plans against those tests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474345">
                <a:tc>
                  <a:txBody>
                    <a:bodyPr/>
                    <a:lstStyle/>
                    <a:p>
                      <a:pPr indent="0" marL="0">
                        <a:buNone/>
                      </a:pPr>
                      <a:r>
                        <a:rPr lang="en-US" sz="1500" b="1" dirty="0">
                          <a:solidFill>
                            <a:srgbClr val="55606D"/>
                          </a:solidFill>
                          <a:latin typeface="Arial" pitchFamily="34" charset="0"/>
                          <a:ea typeface="Arial" pitchFamily="34" charset="-122"/>
                          <a:cs typeface="Arial" pitchFamily="34" charset="-120"/>
                        </a:rPr>
                        <a:t>Deploy</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checklists, runbooks, monitoring, release notes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474345">
                <a:tc>
                  <a:txBody>
                    <a:bodyPr/>
                    <a:lstStyle/>
                    <a:p>
                      <a:pPr indent="0" marL="0">
                        <a:buNone/>
                      </a:pPr>
                      <a:r>
                        <a:rPr lang="en-US" sz="1500" b="1" dirty="0">
                          <a:solidFill>
                            <a:srgbClr val="55606D"/>
                          </a:solidFill>
                          <a:latin typeface="Arial" pitchFamily="34" charset="0"/>
                          <a:ea typeface="Arial" pitchFamily="34" charset="-122"/>
                          <a:cs typeface="Arial" pitchFamily="34" charset="-120"/>
                        </a:rPr>
                        <a:t>Iterate</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metrics, backlog, iteration plans, status reports, deliverables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One skill routes twenty-one modes over those documents</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S4, S6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5</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 single skill installs on the agent runtime and reads the same documents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It routes each request to one mode: frame, align, evolve, review, present, and more</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Alignment is the required mode; it finds drift and hands back a plan</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skill body is portable: no runtime commands, so it loads on any host</a:t>
            </a:r>
            <a:endParaRPr lang="en-US" sz="1800" dirty="0"/>
          </a:p>
        </p:txBody>
      </p:sp>
      <p:sp>
        <p:nvSpPr>
          <p:cNvPr id="9" name="Shape 6"/>
          <p:cNvSpPr/>
          <p:nvPr/>
        </p:nvSpPr>
        <p:spPr>
          <a:xfrm>
            <a:off x="5285613" y="1965960"/>
            <a:ext cx="1383621" cy="3840480"/>
          </a:xfrm>
          <a:prstGeom prst="roundRect">
            <a:avLst>
              <a:gd name="adj" fmla="val 6609"/>
            </a:avLst>
          </a:prstGeom>
          <a:solidFill>
            <a:srgbClr val="F3F5F8"/>
          </a:solidFill>
          <a:ln w="9525">
            <a:solidFill>
              <a:srgbClr val="D6DCE4"/>
            </a:solidFill>
            <a:prstDash val="solid"/>
          </a:ln>
        </p:spPr>
      </p:sp>
      <p:sp>
        <p:nvSpPr>
          <p:cNvPr id="10" name="Shape 7"/>
          <p:cNvSpPr/>
          <p:nvPr/>
        </p:nvSpPr>
        <p:spPr>
          <a:xfrm>
            <a:off x="5666109" y="2423160"/>
            <a:ext cx="622629" cy="622629"/>
          </a:xfrm>
          <a:prstGeom prst="ellipse">
            <a:avLst/>
          </a:prstGeom>
          <a:solidFill>
            <a:srgbClr val="3B6BA8"/>
          </a:solidFill>
          <a:ln w="12700">
            <a:solidFill>
              <a:srgbClr val="3B6BA8"/>
            </a:solidFill>
            <a:prstDash val="solid"/>
          </a:ln>
        </p:spPr>
      </p:sp>
      <p:sp>
        <p:nvSpPr>
          <p:cNvPr id="11" name="Text 8"/>
          <p:cNvSpPr txBox="1"/>
          <p:nvPr/>
        </p:nvSpPr>
        <p:spPr>
          <a:xfrm>
            <a:off x="5666109"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12" name="Text 9"/>
          <p:cNvSpPr txBox="1"/>
          <p:nvPr/>
        </p:nvSpPr>
        <p:spPr>
          <a:xfrm>
            <a:off x="5358765"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Frame</a:t>
            </a:r>
            <a:endParaRPr lang="en-US" sz="1600" dirty="0"/>
          </a:p>
        </p:txBody>
      </p:sp>
      <p:sp>
        <p:nvSpPr>
          <p:cNvPr id="13" name="Text 10"/>
          <p:cNvSpPr txBox="1"/>
          <p:nvPr/>
        </p:nvSpPr>
        <p:spPr>
          <a:xfrm>
            <a:off x="5422773"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vision, requirements, stories</a:t>
            </a:r>
            <a:endParaRPr lang="en-US" sz="1300" dirty="0"/>
          </a:p>
        </p:txBody>
      </p:sp>
      <p:sp>
        <p:nvSpPr>
          <p:cNvPr id="14" name="Shape 11"/>
          <p:cNvSpPr/>
          <p:nvPr/>
        </p:nvSpPr>
        <p:spPr>
          <a:xfrm>
            <a:off x="6943554" y="1965960"/>
            <a:ext cx="1383621" cy="3840480"/>
          </a:xfrm>
          <a:prstGeom prst="roundRect">
            <a:avLst>
              <a:gd name="adj" fmla="val 6609"/>
            </a:avLst>
          </a:prstGeom>
          <a:solidFill>
            <a:srgbClr val="F3F5F8"/>
          </a:solidFill>
          <a:ln w="9525">
            <a:solidFill>
              <a:srgbClr val="D6DCE4"/>
            </a:solidFill>
            <a:prstDash val="solid"/>
          </a:ln>
        </p:spPr>
      </p:sp>
      <p:sp>
        <p:nvSpPr>
          <p:cNvPr id="15" name="Shape 12"/>
          <p:cNvSpPr/>
          <p:nvPr/>
        </p:nvSpPr>
        <p:spPr>
          <a:xfrm>
            <a:off x="7324049" y="2423160"/>
            <a:ext cx="622629" cy="622629"/>
          </a:xfrm>
          <a:prstGeom prst="ellipse">
            <a:avLst/>
          </a:prstGeom>
          <a:solidFill>
            <a:srgbClr val="6842A8"/>
          </a:solidFill>
          <a:ln w="12700">
            <a:solidFill>
              <a:srgbClr val="6842A8"/>
            </a:solidFill>
            <a:prstDash val="solid"/>
          </a:ln>
        </p:spPr>
      </p:sp>
      <p:sp>
        <p:nvSpPr>
          <p:cNvPr id="16" name="Text 13"/>
          <p:cNvSpPr txBox="1"/>
          <p:nvPr/>
        </p:nvSpPr>
        <p:spPr>
          <a:xfrm>
            <a:off x="7324049"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17" name="Text 14"/>
          <p:cNvSpPr txBox="1"/>
          <p:nvPr/>
        </p:nvSpPr>
        <p:spPr>
          <a:xfrm>
            <a:off x="7016706"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Align</a:t>
            </a:r>
            <a:endParaRPr lang="en-US" sz="1600" dirty="0"/>
          </a:p>
        </p:txBody>
      </p:sp>
      <p:sp>
        <p:nvSpPr>
          <p:cNvPr id="18" name="Text 15"/>
          <p:cNvSpPr txBox="1"/>
          <p:nvPr/>
        </p:nvSpPr>
        <p:spPr>
          <a:xfrm>
            <a:off x="7080714"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drift, gaps, contradictions</a:t>
            </a:r>
            <a:endParaRPr lang="en-US" sz="1300" dirty="0"/>
          </a:p>
        </p:txBody>
      </p:sp>
      <p:sp>
        <p:nvSpPr>
          <p:cNvPr id="19" name="Shape 16"/>
          <p:cNvSpPr/>
          <p:nvPr/>
        </p:nvSpPr>
        <p:spPr>
          <a:xfrm>
            <a:off x="8601494" y="1965960"/>
            <a:ext cx="1383621" cy="3840480"/>
          </a:xfrm>
          <a:prstGeom prst="roundRect">
            <a:avLst>
              <a:gd name="adj" fmla="val 6609"/>
            </a:avLst>
          </a:prstGeom>
          <a:solidFill>
            <a:srgbClr val="F3F5F8"/>
          </a:solidFill>
          <a:ln w="9525">
            <a:solidFill>
              <a:srgbClr val="D6DCE4"/>
            </a:solidFill>
            <a:prstDash val="solid"/>
          </a:ln>
        </p:spPr>
      </p:sp>
      <p:sp>
        <p:nvSpPr>
          <p:cNvPr id="20" name="Shape 17"/>
          <p:cNvSpPr/>
          <p:nvPr/>
        </p:nvSpPr>
        <p:spPr>
          <a:xfrm>
            <a:off x="8981990" y="2423160"/>
            <a:ext cx="622629" cy="622629"/>
          </a:xfrm>
          <a:prstGeom prst="ellipse">
            <a:avLst/>
          </a:prstGeom>
          <a:solidFill>
            <a:srgbClr val="C44B2F"/>
          </a:solidFill>
          <a:ln w="12700">
            <a:solidFill>
              <a:srgbClr val="C44B2F"/>
            </a:solidFill>
            <a:prstDash val="solid"/>
          </a:ln>
        </p:spPr>
      </p:sp>
      <p:sp>
        <p:nvSpPr>
          <p:cNvPr id="21" name="Text 18"/>
          <p:cNvSpPr txBox="1"/>
          <p:nvPr/>
        </p:nvSpPr>
        <p:spPr>
          <a:xfrm>
            <a:off x="8981990"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22" name="Text 19"/>
          <p:cNvSpPr txBox="1"/>
          <p:nvPr/>
        </p:nvSpPr>
        <p:spPr>
          <a:xfrm>
            <a:off x="8674646"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Evolve</a:t>
            </a:r>
            <a:endParaRPr lang="en-US" sz="1600" dirty="0"/>
          </a:p>
        </p:txBody>
      </p:sp>
      <p:sp>
        <p:nvSpPr>
          <p:cNvPr id="23" name="Text 20"/>
          <p:cNvSpPr txBox="1"/>
          <p:nvPr/>
        </p:nvSpPr>
        <p:spPr>
          <a:xfrm>
            <a:off x="8738654"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thread one change through</a:t>
            </a:r>
            <a:endParaRPr lang="en-US" sz="1300" dirty="0"/>
          </a:p>
        </p:txBody>
      </p:sp>
      <p:sp>
        <p:nvSpPr>
          <p:cNvPr id="24" name="Shape 21"/>
          <p:cNvSpPr/>
          <p:nvPr/>
        </p:nvSpPr>
        <p:spPr>
          <a:xfrm>
            <a:off x="10259435" y="1965960"/>
            <a:ext cx="1383621" cy="3840480"/>
          </a:xfrm>
          <a:prstGeom prst="roundRect">
            <a:avLst>
              <a:gd name="adj" fmla="val 6609"/>
            </a:avLst>
          </a:prstGeom>
          <a:solidFill>
            <a:srgbClr val="F3F5F8"/>
          </a:solidFill>
          <a:ln w="9525">
            <a:solidFill>
              <a:srgbClr val="D6DCE4"/>
            </a:solidFill>
            <a:prstDash val="solid"/>
          </a:ln>
        </p:spPr>
      </p:sp>
      <p:sp>
        <p:nvSpPr>
          <p:cNvPr id="25" name="Shape 22"/>
          <p:cNvSpPr/>
          <p:nvPr/>
        </p:nvSpPr>
        <p:spPr>
          <a:xfrm>
            <a:off x="10639930" y="2423160"/>
            <a:ext cx="622629" cy="622629"/>
          </a:xfrm>
          <a:prstGeom prst="ellipse">
            <a:avLst/>
          </a:prstGeom>
          <a:solidFill>
            <a:srgbClr val="3B6BA8"/>
          </a:solidFill>
          <a:ln w="12700">
            <a:solidFill>
              <a:srgbClr val="3B6BA8"/>
            </a:solidFill>
            <a:prstDash val="solid"/>
          </a:ln>
        </p:spPr>
      </p:sp>
      <p:sp>
        <p:nvSpPr>
          <p:cNvPr id="26" name="Text 23"/>
          <p:cNvSpPr txBox="1"/>
          <p:nvPr/>
        </p:nvSpPr>
        <p:spPr>
          <a:xfrm>
            <a:off x="10639930"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4</a:t>
            </a:r>
            <a:endParaRPr lang="en-US" sz="2400" dirty="0"/>
          </a:p>
        </p:txBody>
      </p:sp>
      <p:sp>
        <p:nvSpPr>
          <p:cNvPr id="27" name="Text 24"/>
          <p:cNvSpPr txBox="1"/>
          <p:nvPr/>
        </p:nvSpPr>
        <p:spPr>
          <a:xfrm>
            <a:off x="10332587"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Present</a:t>
            </a:r>
            <a:endParaRPr lang="en-US" sz="1600" dirty="0"/>
          </a:p>
        </p:txBody>
      </p:sp>
      <p:sp>
        <p:nvSpPr>
          <p:cNvPr id="28" name="Text 25"/>
          <p:cNvSpPr txBox="1"/>
          <p:nvPr/>
        </p:nvSpPr>
        <p:spPr>
          <a:xfrm>
            <a:off x="10396595"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decks, briefs, reports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The alignment check reads those documents before anyone codes</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S7, S8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6</a:t>
            </a:r>
            <a:endParaRPr lang="en-US" sz="1000" dirty="0"/>
          </a:p>
        </p:txBody>
      </p:sp>
      <p:sp>
        <p:nvSpPr>
          <p:cNvPr id="8" name="Shape 5"/>
          <p:cNvSpPr/>
          <p:nvPr/>
        </p:nvSpPr>
        <p:spPr>
          <a:xfrm>
            <a:off x="548640" y="2788920"/>
            <a:ext cx="2718740" cy="1051560"/>
          </a:xfrm>
          <a:prstGeom prst="chevron">
            <a:avLst/>
          </a:prstGeom>
          <a:solidFill>
            <a:srgbClr val="3B6BA8"/>
          </a:solidFill>
          <a:ln w="19050">
            <a:solidFill>
              <a:srgbClr val="FFFFFF"/>
            </a:solidFill>
            <a:prstDash val="solid"/>
          </a:ln>
        </p:spPr>
      </p:sp>
      <p:sp>
        <p:nvSpPr>
          <p:cNvPr id="9" name="Text 6"/>
          <p:cNvSpPr txBox="1"/>
          <p:nvPr/>
        </p:nvSpPr>
        <p:spPr>
          <a:xfrm>
            <a:off x="1126998" y="2880360"/>
            <a:ext cx="1562024" cy="868680"/>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Write the brief</a:t>
            </a:r>
            <a:endParaRPr lang="en-US" sz="1600" dirty="0"/>
          </a:p>
        </p:txBody>
      </p:sp>
      <p:sp>
        <p:nvSpPr>
          <p:cNvPr id="10" name="Text 7"/>
          <p:cNvSpPr txBox="1"/>
          <p:nvPr/>
        </p:nvSpPr>
        <p:spPr>
          <a:xfrm>
            <a:off x="640080" y="4023360"/>
            <a:ext cx="2535860" cy="914400"/>
          </a:xfrm>
          <a:prstGeom prst="rect">
            <a:avLst/>
          </a:prstGeom>
          <a:noFill/>
          <a:ln/>
        </p:spPr>
        <p:txBody>
          <a:bodyPr wrap="square" lIns="0" tIns="0" rIns="0" bIns="0" rtlCol="0" anchor="t">
            <a:normAutofit/>
          </a:bodyPr>
          <a:lstStyle/>
          <a:p>
            <a:pPr algn="ctr" indent="0" marL="0">
              <a:buNone/>
            </a:pPr>
            <a:r>
              <a:rPr lang="en-US" sz="1400" dirty="0">
                <a:solidFill>
                  <a:srgbClr val="55606D"/>
                </a:solidFill>
                <a:latin typeface="Arial" pitchFamily="34" charset="0"/>
                <a:ea typeface="Arial" pitchFamily="34" charset="-122"/>
                <a:cs typeface="Arial" pitchFamily="34" charset="-120"/>
              </a:rPr>
              <a:t>intent, requirements, constraints, decisions</a:t>
            </a:r>
            <a:endParaRPr lang="en-US" sz="1400" dirty="0"/>
          </a:p>
        </p:txBody>
      </p:sp>
      <p:sp>
        <p:nvSpPr>
          <p:cNvPr id="11" name="Shape 8"/>
          <p:cNvSpPr/>
          <p:nvPr/>
        </p:nvSpPr>
        <p:spPr>
          <a:xfrm>
            <a:off x="3340532" y="2788920"/>
            <a:ext cx="2718740" cy="1051560"/>
          </a:xfrm>
          <a:prstGeom prst="chevron">
            <a:avLst/>
          </a:prstGeom>
          <a:solidFill>
            <a:srgbClr val="C44B2F"/>
          </a:solidFill>
          <a:ln w="19050">
            <a:solidFill>
              <a:srgbClr val="FFFFFF"/>
            </a:solidFill>
            <a:prstDash val="solid"/>
          </a:ln>
        </p:spPr>
      </p:sp>
      <p:sp>
        <p:nvSpPr>
          <p:cNvPr id="12" name="Text 9"/>
          <p:cNvSpPr txBox="1"/>
          <p:nvPr/>
        </p:nvSpPr>
        <p:spPr>
          <a:xfrm>
            <a:off x="3918890" y="2880360"/>
            <a:ext cx="1562024" cy="868680"/>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Check alignment</a:t>
            </a:r>
            <a:endParaRPr lang="en-US" sz="1600" dirty="0"/>
          </a:p>
        </p:txBody>
      </p:sp>
      <p:sp>
        <p:nvSpPr>
          <p:cNvPr id="13" name="Text 10"/>
          <p:cNvSpPr txBox="1"/>
          <p:nvPr/>
        </p:nvSpPr>
        <p:spPr>
          <a:xfrm>
            <a:off x="3431972" y="4023360"/>
            <a:ext cx="2535860" cy="914400"/>
          </a:xfrm>
          <a:prstGeom prst="rect">
            <a:avLst/>
          </a:prstGeom>
          <a:noFill/>
          <a:ln/>
        </p:spPr>
        <p:txBody>
          <a:bodyPr wrap="square" lIns="0" tIns="0" rIns="0" bIns="0" rtlCol="0" anchor="t">
            <a:normAutofit/>
          </a:bodyPr>
          <a:lstStyle/>
          <a:p>
            <a:pPr algn="ctr" indent="0" marL="0">
              <a:buNone/>
            </a:pPr>
            <a:r>
              <a:rPr lang="en-US" sz="1400" dirty="0">
                <a:solidFill>
                  <a:srgbClr val="55606D"/>
                </a:solidFill>
                <a:latin typeface="Arial" pitchFamily="34" charset="0"/>
                <a:ea typeface="Arial" pitchFamily="34" charset="-122"/>
                <a:cs typeface="Arial" pitchFamily="34" charset="-120"/>
              </a:rPr>
              <a:t>drift, contradictions, stale assumptions</a:t>
            </a:r>
            <a:endParaRPr lang="en-US" sz="1400" dirty="0"/>
          </a:p>
        </p:txBody>
      </p:sp>
      <p:sp>
        <p:nvSpPr>
          <p:cNvPr id="14" name="Text 11"/>
          <p:cNvSpPr txBox="1"/>
          <p:nvPr/>
        </p:nvSpPr>
        <p:spPr>
          <a:xfrm>
            <a:off x="2974772" y="5029200"/>
            <a:ext cx="3450260" cy="548640"/>
          </a:xfrm>
          <a:prstGeom prst="rect">
            <a:avLst/>
          </a:prstGeom>
          <a:noFill/>
          <a:ln/>
        </p:spPr>
        <p:txBody>
          <a:bodyPr wrap="square" lIns="0" tIns="0" rIns="0" bIns="0" rtlCol="0" anchor="t">
            <a:normAutofit/>
          </a:bodyPr>
          <a:lstStyle/>
          <a:p>
            <a:pPr algn="ctr" indent="0" marL="0">
              <a:buNone/>
            </a:pPr>
            <a:r>
              <a:rPr lang="en-US" sz="1400" b="1" dirty="0">
                <a:solidFill>
                  <a:srgbClr val="C44B2F"/>
                </a:solidFill>
                <a:latin typeface="Arial" pitchFamily="34" charset="0"/>
                <a:ea typeface="Arial" pitchFamily="34" charset="-122"/>
                <a:cs typeface="Arial" pitchFamily="34" charset="-120"/>
              </a:rPr>
              <a:t>the step nobody does by hand today</a:t>
            </a:r>
            <a:endParaRPr lang="en-US" sz="1400" dirty="0"/>
          </a:p>
        </p:txBody>
      </p:sp>
      <p:sp>
        <p:nvSpPr>
          <p:cNvPr id="15" name="Shape 12"/>
          <p:cNvSpPr/>
          <p:nvPr/>
        </p:nvSpPr>
        <p:spPr>
          <a:xfrm>
            <a:off x="6132424" y="2788920"/>
            <a:ext cx="2718740" cy="1051560"/>
          </a:xfrm>
          <a:prstGeom prst="chevron">
            <a:avLst/>
          </a:prstGeom>
          <a:solidFill>
            <a:srgbClr val="3B6BA8"/>
          </a:solidFill>
          <a:ln w="19050">
            <a:solidFill>
              <a:srgbClr val="FFFFFF"/>
            </a:solidFill>
            <a:prstDash val="solid"/>
          </a:ln>
        </p:spPr>
      </p:sp>
      <p:sp>
        <p:nvSpPr>
          <p:cNvPr id="16" name="Text 13"/>
          <p:cNvSpPr txBox="1"/>
          <p:nvPr/>
        </p:nvSpPr>
        <p:spPr>
          <a:xfrm>
            <a:off x="6710782" y="2880360"/>
            <a:ext cx="1562024" cy="868680"/>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Plan the work</a:t>
            </a:r>
            <a:endParaRPr lang="en-US" sz="1600" dirty="0"/>
          </a:p>
        </p:txBody>
      </p:sp>
      <p:sp>
        <p:nvSpPr>
          <p:cNvPr id="17" name="Text 14"/>
          <p:cNvSpPr txBox="1"/>
          <p:nvPr/>
        </p:nvSpPr>
        <p:spPr>
          <a:xfrm>
            <a:off x="6223864" y="4023360"/>
            <a:ext cx="2535860" cy="914400"/>
          </a:xfrm>
          <a:prstGeom prst="rect">
            <a:avLst/>
          </a:prstGeom>
          <a:noFill/>
          <a:ln/>
        </p:spPr>
        <p:txBody>
          <a:bodyPr wrap="square" lIns="0" tIns="0" rIns="0" bIns="0" rtlCol="0" anchor="t">
            <a:normAutofit/>
          </a:bodyPr>
          <a:lstStyle/>
          <a:p>
            <a:pPr algn="ctr" indent="0" marL="0">
              <a:buNone/>
            </a:pPr>
            <a:r>
              <a:rPr lang="en-US" sz="1400" dirty="0">
                <a:solidFill>
                  <a:srgbClr val="55606D"/>
                </a:solidFill>
                <a:latin typeface="Arial" pitchFamily="34" charset="0"/>
                <a:ea typeface="Arial" pitchFamily="34" charset="-122"/>
                <a:cs typeface="Arial" pitchFamily="34" charset="-120"/>
              </a:rPr>
              <a:t>bounded items with scope and evidence</a:t>
            </a:r>
            <a:endParaRPr lang="en-US" sz="1400" dirty="0"/>
          </a:p>
        </p:txBody>
      </p:sp>
      <p:sp>
        <p:nvSpPr>
          <p:cNvPr id="18" name="Shape 15"/>
          <p:cNvSpPr/>
          <p:nvPr/>
        </p:nvSpPr>
        <p:spPr>
          <a:xfrm>
            <a:off x="8924315" y="2788920"/>
            <a:ext cx="2718740" cy="1051560"/>
          </a:xfrm>
          <a:prstGeom prst="chevron">
            <a:avLst/>
          </a:prstGeom>
          <a:solidFill>
            <a:srgbClr val="3B6BA8"/>
          </a:solidFill>
          <a:ln w="19050">
            <a:solidFill>
              <a:srgbClr val="FFFFFF"/>
            </a:solidFill>
            <a:prstDash val="solid"/>
          </a:ln>
        </p:spPr>
      </p:sp>
      <p:sp>
        <p:nvSpPr>
          <p:cNvPr id="19" name="Text 16"/>
          <p:cNvSpPr txBox="1"/>
          <p:nvPr/>
        </p:nvSpPr>
        <p:spPr>
          <a:xfrm>
            <a:off x="9502673" y="2880360"/>
            <a:ext cx="1562024" cy="868680"/>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Run it</a:t>
            </a:r>
            <a:endParaRPr lang="en-US" sz="1600" dirty="0"/>
          </a:p>
        </p:txBody>
      </p:sp>
      <p:sp>
        <p:nvSpPr>
          <p:cNvPr id="20" name="Text 17"/>
          <p:cNvSpPr txBox="1"/>
          <p:nvPr/>
        </p:nvSpPr>
        <p:spPr>
          <a:xfrm>
            <a:off x="9015755" y="4023360"/>
            <a:ext cx="2535860" cy="914400"/>
          </a:xfrm>
          <a:prstGeom prst="rect">
            <a:avLst/>
          </a:prstGeom>
          <a:noFill/>
          <a:ln/>
        </p:spPr>
        <p:txBody>
          <a:bodyPr wrap="square" lIns="0" tIns="0" rIns="0" bIns="0" rtlCol="0" anchor="t">
            <a:normAutofit/>
          </a:bodyPr>
          <a:lstStyle/>
          <a:p>
            <a:pPr algn="ctr" indent="0" marL="0">
              <a:buNone/>
            </a:pPr>
            <a:r>
              <a:rPr lang="en-US" sz="1400" dirty="0">
                <a:solidFill>
                  <a:srgbClr val="55606D"/>
                </a:solidFill>
                <a:latin typeface="Arial" pitchFamily="34" charset="0"/>
                <a:ea typeface="Arial" pitchFamily="34" charset="-122"/>
                <a:cs typeface="Arial" pitchFamily="34" charset="-120"/>
              </a:rPr>
              <a:t>your own runtime executes, measures, reports back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Fifty concerns carry shared practices into every document</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S9, S10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7</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 concern is a cross-cutting rule set: accessibility, security, verification, data quality</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Each concern names the practices every downstream document and task inherits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Principles settle tensions the same way each time, starting with spec is the contract</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Exclusive slots hold one choice each: one frontend framework, one runtime, one auth provider</a:t>
            </a:r>
            <a:endParaRPr lang="en-US" sz="1800" dirty="0"/>
          </a:p>
        </p:txBody>
      </p:sp>
      <p:sp>
        <p:nvSpPr>
          <p:cNvPr id="9" name="Shape 6"/>
          <p:cNvSpPr/>
          <p:nvPr/>
        </p:nvSpPr>
        <p:spPr>
          <a:xfrm>
            <a:off x="5285613" y="1965960"/>
            <a:ext cx="1383621" cy="3840480"/>
          </a:xfrm>
          <a:prstGeom prst="roundRect">
            <a:avLst>
              <a:gd name="adj" fmla="val 6609"/>
            </a:avLst>
          </a:prstGeom>
          <a:solidFill>
            <a:srgbClr val="F3F5F8"/>
          </a:solidFill>
          <a:ln w="9525">
            <a:solidFill>
              <a:srgbClr val="D6DCE4"/>
            </a:solidFill>
            <a:prstDash val="solid"/>
          </a:ln>
        </p:spPr>
      </p:sp>
      <p:sp>
        <p:nvSpPr>
          <p:cNvPr id="10" name="Shape 7"/>
          <p:cNvSpPr/>
          <p:nvPr/>
        </p:nvSpPr>
        <p:spPr>
          <a:xfrm>
            <a:off x="5666109" y="2423160"/>
            <a:ext cx="622629" cy="622629"/>
          </a:xfrm>
          <a:prstGeom prst="ellipse">
            <a:avLst/>
          </a:prstGeom>
          <a:solidFill>
            <a:srgbClr val="3B6BA8"/>
          </a:solidFill>
          <a:ln w="12700">
            <a:solidFill>
              <a:srgbClr val="3B6BA8"/>
            </a:solidFill>
            <a:prstDash val="solid"/>
          </a:ln>
        </p:spPr>
      </p:sp>
      <p:sp>
        <p:nvSpPr>
          <p:cNvPr id="11" name="Text 8"/>
          <p:cNvSpPr txBox="1"/>
          <p:nvPr/>
        </p:nvSpPr>
        <p:spPr>
          <a:xfrm>
            <a:off x="5666109"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12" name="Text 9"/>
          <p:cNvSpPr txBox="1"/>
          <p:nvPr/>
        </p:nvSpPr>
        <p:spPr>
          <a:xfrm>
            <a:off x="5358765"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Concerns</a:t>
            </a:r>
            <a:endParaRPr lang="en-US" sz="1600" dirty="0"/>
          </a:p>
        </p:txBody>
      </p:sp>
      <p:sp>
        <p:nvSpPr>
          <p:cNvPr id="13" name="Text 10"/>
          <p:cNvSpPr txBox="1"/>
          <p:nvPr/>
        </p:nvSpPr>
        <p:spPr>
          <a:xfrm>
            <a:off x="5422773"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50 cross-cutting rule sets</a:t>
            </a:r>
            <a:endParaRPr lang="en-US" sz="1300" dirty="0"/>
          </a:p>
        </p:txBody>
      </p:sp>
      <p:sp>
        <p:nvSpPr>
          <p:cNvPr id="14" name="Shape 11"/>
          <p:cNvSpPr/>
          <p:nvPr/>
        </p:nvSpPr>
        <p:spPr>
          <a:xfrm>
            <a:off x="6943554" y="1965960"/>
            <a:ext cx="1383621" cy="3840480"/>
          </a:xfrm>
          <a:prstGeom prst="roundRect">
            <a:avLst>
              <a:gd name="adj" fmla="val 6609"/>
            </a:avLst>
          </a:prstGeom>
          <a:solidFill>
            <a:srgbClr val="F3F5F8"/>
          </a:solidFill>
          <a:ln w="9525">
            <a:solidFill>
              <a:srgbClr val="D6DCE4"/>
            </a:solidFill>
            <a:prstDash val="solid"/>
          </a:ln>
        </p:spPr>
      </p:sp>
      <p:sp>
        <p:nvSpPr>
          <p:cNvPr id="15" name="Shape 12"/>
          <p:cNvSpPr/>
          <p:nvPr/>
        </p:nvSpPr>
        <p:spPr>
          <a:xfrm>
            <a:off x="7324049" y="2423160"/>
            <a:ext cx="622629" cy="622629"/>
          </a:xfrm>
          <a:prstGeom prst="ellipse">
            <a:avLst/>
          </a:prstGeom>
          <a:solidFill>
            <a:srgbClr val="6842A8"/>
          </a:solidFill>
          <a:ln w="12700">
            <a:solidFill>
              <a:srgbClr val="6842A8"/>
            </a:solidFill>
            <a:prstDash val="solid"/>
          </a:ln>
        </p:spPr>
      </p:sp>
      <p:sp>
        <p:nvSpPr>
          <p:cNvPr id="16" name="Text 13"/>
          <p:cNvSpPr txBox="1"/>
          <p:nvPr/>
        </p:nvSpPr>
        <p:spPr>
          <a:xfrm>
            <a:off x="7324049"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17" name="Text 14"/>
          <p:cNvSpPr txBox="1"/>
          <p:nvPr/>
        </p:nvSpPr>
        <p:spPr>
          <a:xfrm>
            <a:off x="7016706"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Principles</a:t>
            </a:r>
            <a:endParaRPr lang="en-US" sz="1600" dirty="0"/>
          </a:p>
        </p:txBody>
      </p:sp>
      <p:sp>
        <p:nvSpPr>
          <p:cNvPr id="18" name="Text 15"/>
          <p:cNvSpPr txBox="1"/>
          <p:nvPr/>
        </p:nvSpPr>
        <p:spPr>
          <a:xfrm>
            <a:off x="7080714"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how tensions get resolved</a:t>
            </a:r>
            <a:endParaRPr lang="en-US" sz="1300" dirty="0"/>
          </a:p>
        </p:txBody>
      </p:sp>
      <p:sp>
        <p:nvSpPr>
          <p:cNvPr id="19" name="Shape 16"/>
          <p:cNvSpPr/>
          <p:nvPr/>
        </p:nvSpPr>
        <p:spPr>
          <a:xfrm>
            <a:off x="8601494" y="1965960"/>
            <a:ext cx="1383621" cy="3840480"/>
          </a:xfrm>
          <a:prstGeom prst="roundRect">
            <a:avLst>
              <a:gd name="adj" fmla="val 6609"/>
            </a:avLst>
          </a:prstGeom>
          <a:solidFill>
            <a:srgbClr val="F3F5F8"/>
          </a:solidFill>
          <a:ln w="9525">
            <a:solidFill>
              <a:srgbClr val="D6DCE4"/>
            </a:solidFill>
            <a:prstDash val="solid"/>
          </a:ln>
        </p:spPr>
      </p:sp>
      <p:sp>
        <p:nvSpPr>
          <p:cNvPr id="20" name="Shape 17"/>
          <p:cNvSpPr/>
          <p:nvPr/>
        </p:nvSpPr>
        <p:spPr>
          <a:xfrm>
            <a:off x="8981990" y="2423160"/>
            <a:ext cx="622629" cy="622629"/>
          </a:xfrm>
          <a:prstGeom prst="ellipse">
            <a:avLst/>
          </a:prstGeom>
          <a:solidFill>
            <a:srgbClr val="C44B2F"/>
          </a:solidFill>
          <a:ln w="12700">
            <a:solidFill>
              <a:srgbClr val="C44B2F"/>
            </a:solidFill>
            <a:prstDash val="solid"/>
          </a:ln>
        </p:spPr>
      </p:sp>
      <p:sp>
        <p:nvSpPr>
          <p:cNvPr id="21" name="Text 18"/>
          <p:cNvSpPr txBox="1"/>
          <p:nvPr/>
        </p:nvSpPr>
        <p:spPr>
          <a:xfrm>
            <a:off x="8981990"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22" name="Text 19"/>
          <p:cNvSpPr txBox="1"/>
          <p:nvPr/>
        </p:nvSpPr>
        <p:spPr>
          <a:xfrm>
            <a:off x="8674646"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Slots</a:t>
            </a:r>
            <a:endParaRPr lang="en-US" sz="1600" dirty="0"/>
          </a:p>
        </p:txBody>
      </p:sp>
      <p:sp>
        <p:nvSpPr>
          <p:cNvPr id="23" name="Text 20"/>
          <p:cNvSpPr txBox="1"/>
          <p:nvPr/>
        </p:nvSpPr>
        <p:spPr>
          <a:xfrm>
            <a:off x="8738654"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one filler per exclusive position</a:t>
            </a:r>
            <a:endParaRPr lang="en-US" sz="1300" dirty="0"/>
          </a:p>
        </p:txBody>
      </p:sp>
      <p:sp>
        <p:nvSpPr>
          <p:cNvPr id="24" name="Shape 21"/>
          <p:cNvSpPr/>
          <p:nvPr/>
        </p:nvSpPr>
        <p:spPr>
          <a:xfrm>
            <a:off x="10259435" y="1965960"/>
            <a:ext cx="1383621" cy="3840480"/>
          </a:xfrm>
          <a:prstGeom prst="roundRect">
            <a:avLst>
              <a:gd name="adj" fmla="val 6609"/>
            </a:avLst>
          </a:prstGeom>
          <a:solidFill>
            <a:srgbClr val="F3F5F8"/>
          </a:solidFill>
          <a:ln w="9525">
            <a:solidFill>
              <a:srgbClr val="D6DCE4"/>
            </a:solidFill>
            <a:prstDash val="solid"/>
          </a:ln>
        </p:spPr>
      </p:sp>
      <p:sp>
        <p:nvSpPr>
          <p:cNvPr id="25" name="Shape 22"/>
          <p:cNvSpPr/>
          <p:nvPr/>
        </p:nvSpPr>
        <p:spPr>
          <a:xfrm>
            <a:off x="10639930" y="2423160"/>
            <a:ext cx="622629" cy="622629"/>
          </a:xfrm>
          <a:prstGeom prst="ellipse">
            <a:avLst/>
          </a:prstGeom>
          <a:solidFill>
            <a:srgbClr val="3B6BA8"/>
          </a:solidFill>
          <a:ln w="12700">
            <a:solidFill>
              <a:srgbClr val="3B6BA8"/>
            </a:solidFill>
            <a:prstDash val="solid"/>
          </a:ln>
        </p:spPr>
      </p:sp>
      <p:sp>
        <p:nvSpPr>
          <p:cNvPr id="26" name="Text 23"/>
          <p:cNvSpPr txBox="1"/>
          <p:nvPr/>
        </p:nvSpPr>
        <p:spPr>
          <a:xfrm>
            <a:off x="10639930"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4</a:t>
            </a:r>
            <a:endParaRPr lang="en-US" sz="2400" dirty="0"/>
          </a:p>
        </p:txBody>
      </p:sp>
      <p:sp>
        <p:nvSpPr>
          <p:cNvPr id="27" name="Text 24"/>
          <p:cNvSpPr txBox="1"/>
          <p:nvPr/>
        </p:nvSpPr>
        <p:spPr>
          <a:xfrm>
            <a:off x="10332587"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Spread</a:t>
            </a:r>
            <a:endParaRPr lang="en-US" sz="1600" dirty="0"/>
          </a:p>
        </p:txBody>
      </p:sp>
      <p:sp>
        <p:nvSpPr>
          <p:cNvPr id="28" name="Text 25"/>
          <p:cNvSpPr txBox="1"/>
          <p:nvPr/>
        </p:nvSpPr>
        <p:spPr>
          <a:xfrm>
            <a:off x="10396595"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into every document and task</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Every shared practice ends in evidence a validator can check</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S11, S12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8</a:t>
            </a:r>
            <a:endParaRPr lang="en-US" sz="1000" dirty="0"/>
          </a:p>
        </p:txBody>
      </p:sp>
      <p:sp>
        <p:nvSpPr>
          <p:cNvPr id="8" name="Shape 5"/>
          <p:cNvSpPr/>
          <p:nvPr/>
        </p:nvSpPr>
        <p:spPr>
          <a:xfrm>
            <a:off x="548640" y="1965960"/>
            <a:ext cx="5410048" cy="3108960"/>
          </a:xfrm>
          <a:prstGeom prst="roundRect">
            <a:avLst>
              <a:gd name="adj" fmla="val 2941"/>
            </a:avLst>
          </a:prstGeom>
          <a:solidFill>
            <a:srgbClr val="F3F5F8"/>
          </a:solidFill>
          <a:ln w="9525">
            <a:solidFill>
              <a:srgbClr val="D6DCE4"/>
            </a:solidFill>
            <a:prstDash val="solid"/>
          </a:ln>
        </p:spPr>
      </p:sp>
      <p:sp>
        <p:nvSpPr>
          <p:cNvPr id="9" name="Text 6"/>
          <p:cNvSpPr txBox="1"/>
          <p:nvPr/>
        </p:nvSpPr>
        <p:spPr>
          <a:xfrm>
            <a:off x="822960" y="2148840"/>
            <a:ext cx="4861408" cy="457200"/>
          </a:xfrm>
          <a:prstGeom prst="rect">
            <a:avLst/>
          </a:prstGeom>
          <a:noFill/>
          <a:ln/>
        </p:spPr>
        <p:txBody>
          <a:bodyPr wrap="square" lIns="0" tIns="0" rIns="0" bIns="0" rtlCol="0" anchor="t">
            <a:normAutofit/>
          </a:bodyPr>
          <a:lstStyle/>
          <a:p>
            <a:pPr algn="l" indent="0" marL="0">
              <a:buNone/>
            </a:pPr>
            <a:r>
              <a:rPr lang="en-US" sz="2000" b="1" dirty="0">
                <a:solidFill>
                  <a:srgbClr val="55606D"/>
                </a:solidFill>
                <a:latin typeface="Georgia" pitchFamily="34" charset="0"/>
                <a:ea typeface="Georgia" pitchFamily="34" charset="-122"/>
                <a:cs typeface="Georgia" pitchFamily="34" charset="-120"/>
              </a:rPr>
              <a:t>The claim</a:t>
            </a:r>
            <a:endParaRPr lang="en-US" sz="2000" dirty="0"/>
          </a:p>
        </p:txBody>
      </p:sp>
      <p:sp>
        <p:nvSpPr>
          <p:cNvPr id="10" name="Text 7"/>
          <p:cNvSpPr txBox="1"/>
          <p:nvPr/>
        </p:nvSpPr>
        <p:spPr>
          <a:xfrm>
            <a:off x="822960" y="2697480"/>
            <a:ext cx="48614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A test covers a requirement</a:t>
            </a:r>
            <a:endParaRPr lang="en-US" sz="1500" dirty="0"/>
          </a:p>
        </p:txBody>
      </p:sp>
      <p:sp>
        <p:nvSpPr>
          <p:cNvPr id="11" name="Text 8"/>
          <p:cNvSpPr txBox="1"/>
          <p:nvPr/>
        </p:nvSpPr>
        <p:spPr>
          <a:xfrm>
            <a:off x="822960" y="3429000"/>
            <a:ext cx="48614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The work is complete</a:t>
            </a:r>
            <a:endParaRPr lang="en-US" sz="1500" dirty="0"/>
          </a:p>
        </p:txBody>
      </p:sp>
      <p:sp>
        <p:nvSpPr>
          <p:cNvPr id="12" name="Text 9"/>
          <p:cNvSpPr txBox="1"/>
          <p:nvPr/>
        </p:nvSpPr>
        <p:spPr>
          <a:xfrm>
            <a:off x="822960" y="4160520"/>
            <a:ext cx="48614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Someone promises a metric</a:t>
            </a:r>
            <a:endParaRPr lang="en-US" sz="1500" dirty="0"/>
          </a:p>
        </p:txBody>
      </p:sp>
      <p:sp>
        <p:nvSpPr>
          <p:cNvPr id="13" name="Shape 10"/>
          <p:cNvSpPr/>
          <p:nvPr/>
        </p:nvSpPr>
        <p:spPr>
          <a:xfrm>
            <a:off x="6233008" y="1965960"/>
            <a:ext cx="5410048" cy="3108960"/>
          </a:xfrm>
          <a:prstGeom prst="roundRect">
            <a:avLst>
              <a:gd name="adj" fmla="val 2941"/>
            </a:avLst>
          </a:prstGeom>
          <a:solidFill>
            <a:srgbClr val="FFFFFF"/>
          </a:solidFill>
          <a:ln w="9525">
            <a:solidFill>
              <a:srgbClr val="D6DCE4"/>
            </a:solidFill>
            <a:prstDash val="solid"/>
          </a:ln>
        </p:spPr>
      </p:sp>
      <p:sp>
        <p:nvSpPr>
          <p:cNvPr id="14" name="Text 11"/>
          <p:cNvSpPr txBox="1"/>
          <p:nvPr/>
        </p:nvSpPr>
        <p:spPr>
          <a:xfrm>
            <a:off x="6507328" y="2148840"/>
            <a:ext cx="4861408" cy="457200"/>
          </a:xfrm>
          <a:prstGeom prst="rect">
            <a:avLst/>
          </a:prstGeom>
          <a:noFill/>
          <a:ln/>
        </p:spPr>
        <p:txBody>
          <a:bodyPr wrap="square" lIns="0" tIns="0" rIns="0" bIns="0" rtlCol="0" anchor="t">
            <a:normAutofit/>
          </a:bodyPr>
          <a:lstStyle/>
          <a:p>
            <a:pPr algn="l" indent="0" marL="0">
              <a:buNone/>
            </a:pPr>
            <a:r>
              <a:rPr lang="en-US" sz="2000" b="1" dirty="0">
                <a:solidFill>
                  <a:srgbClr val="3B6BA8"/>
                </a:solidFill>
                <a:latin typeface="Georgia" pitchFamily="34" charset="0"/>
                <a:ea typeface="Georgia" pitchFamily="34" charset="-122"/>
                <a:cs typeface="Georgia" pitchFamily="34" charset="-120"/>
              </a:rPr>
              <a:t>The evidence HELIX requires</a:t>
            </a:r>
            <a:endParaRPr lang="en-US" sz="2000" dirty="0"/>
          </a:p>
        </p:txBody>
      </p:sp>
      <p:sp>
        <p:nvSpPr>
          <p:cNvPr id="15" name="Shape 12"/>
          <p:cNvSpPr/>
          <p:nvPr/>
        </p:nvSpPr>
        <p:spPr>
          <a:xfrm>
            <a:off x="6507328" y="2743200"/>
            <a:ext cx="292608" cy="292608"/>
          </a:xfrm>
          <a:prstGeom prst="ellipse">
            <a:avLst/>
          </a:prstGeom>
          <a:solidFill>
            <a:srgbClr val="3B6BA8"/>
          </a:solidFill>
          <a:ln w="12700">
            <a:solidFill>
              <a:srgbClr val="3B6BA8"/>
            </a:solidFill>
            <a:prstDash val="solid"/>
          </a:ln>
        </p:spPr>
      </p:sp>
      <p:sp>
        <p:nvSpPr>
          <p:cNvPr id="16" name="Text 13"/>
          <p:cNvSpPr txBox="1"/>
          <p:nvPr/>
        </p:nvSpPr>
        <p:spPr>
          <a:xfrm>
            <a:off x="6507328" y="274320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17" name="Text 14"/>
          <p:cNvSpPr txBox="1"/>
          <p:nvPr/>
        </p:nvSpPr>
        <p:spPr>
          <a:xfrm>
            <a:off x="6964528" y="2697480"/>
            <a:ext cx="44042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The test cites the requirement it exercises, by id</a:t>
            </a:r>
            <a:endParaRPr lang="en-US" sz="1500" dirty="0"/>
          </a:p>
        </p:txBody>
      </p:sp>
      <p:sp>
        <p:nvSpPr>
          <p:cNvPr id="18" name="Shape 15"/>
          <p:cNvSpPr/>
          <p:nvPr/>
        </p:nvSpPr>
        <p:spPr>
          <a:xfrm>
            <a:off x="6507328" y="3474720"/>
            <a:ext cx="292608" cy="292608"/>
          </a:xfrm>
          <a:prstGeom prst="ellipse">
            <a:avLst/>
          </a:prstGeom>
          <a:solidFill>
            <a:srgbClr val="3B6BA8"/>
          </a:solidFill>
          <a:ln w="12700">
            <a:solidFill>
              <a:srgbClr val="3B6BA8"/>
            </a:solidFill>
            <a:prstDash val="solid"/>
          </a:ln>
        </p:spPr>
      </p:sp>
      <p:sp>
        <p:nvSpPr>
          <p:cNvPr id="19" name="Text 16"/>
          <p:cNvSpPr txBox="1"/>
          <p:nvPr/>
        </p:nvSpPr>
        <p:spPr>
          <a:xfrm>
            <a:off x="6507328" y="347472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20" name="Text 17"/>
          <p:cNvSpPr txBox="1"/>
          <p:nvPr/>
        </p:nvSpPr>
        <p:spPr>
          <a:xfrm>
            <a:off x="6964528" y="3429000"/>
            <a:ext cx="44042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A validator ran and the record names the command and the guard branches</a:t>
            </a:r>
            <a:endParaRPr lang="en-US" sz="1500" dirty="0"/>
          </a:p>
        </p:txBody>
      </p:sp>
      <p:sp>
        <p:nvSpPr>
          <p:cNvPr id="21" name="Shape 18"/>
          <p:cNvSpPr/>
          <p:nvPr/>
        </p:nvSpPr>
        <p:spPr>
          <a:xfrm>
            <a:off x="6507328" y="4206240"/>
            <a:ext cx="292608" cy="292608"/>
          </a:xfrm>
          <a:prstGeom prst="ellipse">
            <a:avLst/>
          </a:prstGeom>
          <a:solidFill>
            <a:srgbClr val="3B6BA8"/>
          </a:solidFill>
          <a:ln w="12700">
            <a:solidFill>
              <a:srgbClr val="3B6BA8"/>
            </a:solidFill>
            <a:prstDash val="solid"/>
          </a:ln>
        </p:spPr>
      </p:sp>
      <p:sp>
        <p:nvSpPr>
          <p:cNvPr id="22" name="Text 19"/>
          <p:cNvSpPr txBox="1"/>
          <p:nvPr/>
        </p:nvSpPr>
        <p:spPr>
          <a:xfrm>
            <a:off x="6507328" y="42062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23" name="Text 20"/>
          <p:cNvSpPr txBox="1"/>
          <p:nvPr/>
        </p:nvSpPr>
        <p:spPr>
          <a:xfrm>
            <a:off x="6964528" y="4160520"/>
            <a:ext cx="44042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The metric definition and its dashboard row exist</a:t>
            </a:r>
            <a:endParaRPr lang="en-US" sz="1500" dirty="0"/>
          </a:p>
        </p:txBody>
      </p:sp>
      <p:sp>
        <p:nvSpPr>
          <p:cNvPr id="24" name="Text 21"/>
          <p:cNvSpPr txBox="1"/>
          <p:nvPr/>
        </p:nvSpPr>
        <p:spPr>
          <a:xfrm>
            <a:off x="548640" y="5257800"/>
            <a:ext cx="11094415" cy="548640"/>
          </a:xfrm>
          <a:prstGeom prst="rect">
            <a:avLst/>
          </a:prstGeom>
          <a:noFill/>
          <a:ln/>
        </p:spPr>
        <p:txBody>
          <a:bodyPr wrap="square" lIns="0" tIns="0" rIns="0" bIns="0" rtlCol="0" anchor="ctr">
            <a:normAutofit/>
          </a:bodyPr>
          <a:lstStyle/>
          <a:p>
            <a:pPr algn="l" indent="0" marL="0">
              <a:buNone/>
            </a:pPr>
            <a:r>
              <a:rPr lang="en-US" sz="1500" b="1" dirty="0">
                <a:solidFill>
                  <a:srgbClr val="C44B2F"/>
                </a:solidFill>
                <a:latin typeface="Arial" pitchFamily="34" charset="0"/>
                <a:ea typeface="Arial" pitchFamily="34" charset="-122"/>
                <a:cs typeface="Arial" pitchFamily="34" charset="-120"/>
              </a:rPr>
              <a:t>Verdict: a claim without evidence blocks the work as a phantom claim</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9</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HELIX checks your documents and leaves your runtime and stack alone</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S13, S14, S15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9</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No command-line tool, tracker, queue, or execution engine ships with it</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It installs on six hosts today, from Claude Code to Databricks Genie</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Your technology choices stay yours; HELIX imposes none</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How much an agent does without asking is a three-position dial you set</a:t>
            </a:r>
            <a:endParaRPr lang="en-US" sz="1800" dirty="0"/>
          </a:p>
        </p:txBody>
      </p:sp>
      <p:sp>
        <p:nvSpPr>
          <p:cNvPr id="9" name="Shape 6"/>
          <p:cNvSpPr/>
          <p:nvPr/>
        </p:nvSpPr>
        <p:spPr>
          <a:xfrm>
            <a:off x="5285613" y="1965960"/>
            <a:ext cx="6357442" cy="3840480"/>
          </a:xfrm>
          <a:prstGeom prst="roundRect">
            <a:avLst>
              <a:gd name="adj" fmla="val 2381"/>
            </a:avLst>
          </a:prstGeom>
          <a:solidFill>
            <a:srgbClr val="F3F5F8"/>
          </a:solidFill>
          <a:ln w="12700">
            <a:solidFill>
              <a:srgbClr val="D6DCE4"/>
            </a:solidFill>
            <a:prstDash val="solid"/>
          </a:ln>
        </p:spPr>
      </p:sp>
      <p:sp>
        <p:nvSpPr>
          <p:cNvPr id="10" name="Text 7"/>
          <p:cNvSpPr txBox="1"/>
          <p:nvPr/>
        </p:nvSpPr>
        <p:spPr>
          <a:xfrm>
            <a:off x="5559933" y="2148840"/>
            <a:ext cx="5808802" cy="365760"/>
          </a:xfrm>
          <a:prstGeom prst="rect">
            <a:avLst/>
          </a:prstGeom>
          <a:noFill/>
          <a:ln/>
        </p:spPr>
        <p:txBody>
          <a:bodyPr wrap="square" lIns="0" tIns="0" rIns="0" bIns="0" rtlCol="0" anchor="t">
            <a:normAutofit/>
          </a:bodyPr>
          <a:lstStyle/>
          <a:p>
            <a:pPr algn="ctr" indent="0" marL="0">
              <a:buNone/>
            </a:pPr>
            <a:r>
              <a:rPr lang="en-US" sz="1400" b="1" dirty="0">
                <a:solidFill>
                  <a:srgbClr val="55606D"/>
                </a:solidFill>
                <a:latin typeface="Arial" pitchFamily="34" charset="0"/>
                <a:ea typeface="Arial" pitchFamily="34" charset="-122"/>
                <a:cs typeface="Arial" pitchFamily="34" charset="-120"/>
              </a:rPr>
              <a:t>your runtime and tools</a:t>
            </a:r>
            <a:endParaRPr lang="en-US" sz="1400" dirty="0"/>
          </a:p>
        </p:txBody>
      </p:sp>
      <p:sp>
        <p:nvSpPr>
          <p:cNvPr id="11" name="Text 8"/>
          <p:cNvSpPr txBox="1"/>
          <p:nvPr/>
        </p:nvSpPr>
        <p:spPr>
          <a:xfrm>
            <a:off x="5559933" y="2514600"/>
            <a:ext cx="5808802" cy="320040"/>
          </a:xfrm>
          <a:prstGeom prst="rect">
            <a:avLst/>
          </a:prstGeom>
          <a:noFill/>
          <a:ln/>
        </p:spPr>
        <p:txBody>
          <a:bodyPr wrap="square" lIns="0" tIns="0" rIns="0" bIns="0" rtlCol="0" anchor="t">
            <a:normAutofit/>
          </a:bodyPr>
          <a:lstStyle/>
          <a:p>
            <a:pPr algn="ctr" indent="0" marL="0">
              <a:buNone/>
            </a:pPr>
            <a:r>
              <a:rPr lang="en-US" sz="1200" dirty="0">
                <a:solidFill>
                  <a:srgbClr val="55606D"/>
                </a:solidFill>
                <a:latin typeface="Arial" pitchFamily="34" charset="0"/>
                <a:ea typeface="Arial" pitchFamily="34" charset="-122"/>
                <a:cs typeface="Arial" pitchFamily="34" charset="-120"/>
              </a:rPr>
              <a:t>tracker, queue, CI, stack, judgment</a:t>
            </a:r>
            <a:endParaRPr lang="en-US" sz="1200" dirty="0"/>
          </a:p>
        </p:txBody>
      </p:sp>
      <p:sp>
        <p:nvSpPr>
          <p:cNvPr id="12" name="Shape 9"/>
          <p:cNvSpPr/>
          <p:nvPr/>
        </p:nvSpPr>
        <p:spPr>
          <a:xfrm>
            <a:off x="7092734" y="3383280"/>
            <a:ext cx="2743200" cy="1371600"/>
          </a:xfrm>
          <a:prstGeom prst="roundRect">
            <a:avLst>
              <a:gd name="adj" fmla="val 6667"/>
            </a:avLst>
          </a:prstGeom>
          <a:solidFill>
            <a:srgbClr val="3B6BA8"/>
          </a:solidFill>
          <a:ln w="9525">
            <a:solidFill>
              <a:srgbClr val="3B6BA8"/>
            </a:solidFill>
            <a:prstDash val="solid"/>
          </a:ln>
        </p:spPr>
      </p:sp>
      <p:sp>
        <p:nvSpPr>
          <p:cNvPr id="13" name="Text 10"/>
          <p:cNvSpPr txBox="1"/>
          <p:nvPr/>
        </p:nvSpPr>
        <p:spPr>
          <a:xfrm>
            <a:off x="7275614" y="3611880"/>
            <a:ext cx="2377440" cy="457200"/>
          </a:xfrm>
          <a:prstGeom prst="rect">
            <a:avLst/>
          </a:prstGeom>
          <a:noFill/>
          <a:ln/>
        </p:spPr>
        <p:txBody>
          <a:bodyPr wrap="square" lIns="0" tIns="0" rIns="0" bIns="0" rtlCol="0" anchor="t">
            <a:normAutofit/>
          </a:bodyPr>
          <a:lstStyle/>
          <a:p>
            <a:pPr algn="ctr" indent="0" marL="0">
              <a:buNone/>
            </a:pPr>
            <a:r>
              <a:rPr lang="en-US" sz="1800" b="1" dirty="0">
                <a:solidFill>
                  <a:srgbClr val="FFFFFF"/>
                </a:solidFill>
                <a:latin typeface="Georgia" pitchFamily="34" charset="0"/>
                <a:ea typeface="Georgia" pitchFamily="34" charset="-122"/>
                <a:cs typeface="Georgia" pitchFamily="34" charset="-120"/>
              </a:rPr>
              <a:t>HELIX</a:t>
            </a:r>
            <a:endParaRPr lang="en-US" sz="1800" dirty="0"/>
          </a:p>
        </p:txBody>
      </p:sp>
      <p:sp>
        <p:nvSpPr>
          <p:cNvPr id="14" name="Text 11"/>
          <p:cNvSpPr txBox="1"/>
          <p:nvPr/>
        </p:nvSpPr>
        <p:spPr>
          <a:xfrm>
            <a:off x="7275614" y="4114800"/>
            <a:ext cx="2377440" cy="457200"/>
          </a:xfrm>
          <a:prstGeom prst="rect">
            <a:avLst/>
          </a:prstGeom>
          <a:noFill/>
          <a:ln/>
        </p:spPr>
        <p:txBody>
          <a:bodyPr wrap="square" lIns="0" tIns="0" rIns="0" bIns="0" rtlCol="0" anchor="t">
            <a:normAutofit/>
          </a:bodyPr>
          <a:lstStyle/>
          <a:p>
            <a:pPr algn="ctr" indent="0" marL="0">
              <a:buNone/>
            </a:pPr>
            <a:r>
              <a:rPr lang="en-US" sz="1300" dirty="0">
                <a:solidFill>
                  <a:srgbClr val="FFFFFF"/>
                </a:solidFill>
                <a:latin typeface="Arial" pitchFamily="34" charset="0"/>
                <a:ea typeface="Arial" pitchFamily="34" charset="-122"/>
                <a:cs typeface="Arial" pitchFamily="34" charset="-120"/>
              </a:rPr>
              <a:t>templates plus one skill</a:t>
            </a:r>
            <a:endParaRPr lang="en-US" sz="1300" dirty="0"/>
          </a:p>
        </p:txBody>
      </p:sp>
      <p:sp>
        <p:nvSpPr>
          <p:cNvPr id="15" name="Shape 12"/>
          <p:cNvSpPr/>
          <p:nvPr/>
        </p:nvSpPr>
        <p:spPr>
          <a:xfrm>
            <a:off x="9927374" y="4069080"/>
            <a:ext cx="914400" cy="0"/>
          </a:xfrm>
          <a:prstGeom prst="line">
            <a:avLst/>
          </a:prstGeom>
          <a:noFill/>
          <a:ln w="25400">
            <a:solidFill>
              <a:srgbClr val="C44B2F"/>
            </a:solidFill>
            <a:prstDash val="solid"/>
            <a:headEnd type="none"/>
            <a:tailEnd type="triangle"/>
          </a:ln>
        </p:spPr>
      </p:sp>
      <p:sp>
        <p:nvSpPr>
          <p:cNvPr id="16" name="Shape 13"/>
          <p:cNvSpPr/>
          <p:nvPr/>
        </p:nvSpPr>
        <p:spPr>
          <a:xfrm>
            <a:off x="6086894" y="4069080"/>
            <a:ext cx="914400" cy="0"/>
          </a:xfrm>
          <a:prstGeom prst="line">
            <a:avLst/>
          </a:prstGeom>
          <a:noFill/>
          <a:ln w="25400">
            <a:solidFill>
              <a:srgbClr val="C44B2F"/>
            </a:solidFill>
            <a:prstDash val="solid"/>
            <a:headEnd type="triangle"/>
            <a:tailEnd type="none"/>
          </a:ln>
        </p:spPr>
      </p:sp>
      <p:sp>
        <p:nvSpPr>
          <p:cNvPr id="17" name="Text 14"/>
          <p:cNvSpPr txBox="1"/>
          <p:nvPr/>
        </p:nvSpPr>
        <p:spPr>
          <a:xfrm>
            <a:off x="5559933" y="5120640"/>
            <a:ext cx="5808802" cy="548640"/>
          </a:xfrm>
          <a:prstGeom prst="rect">
            <a:avLst/>
          </a:prstGeom>
          <a:noFill/>
          <a:ln/>
        </p:spPr>
        <p:txBody>
          <a:bodyPr wrap="square" lIns="0" tIns="0" rIns="0" bIns="0" rtlCol="0" anchor="b">
            <a:normAutofit/>
          </a:bodyPr>
          <a:lstStyle/>
          <a:p>
            <a:pPr algn="ctr" indent="0" marL="0">
              <a:buNone/>
            </a:pPr>
            <a:r>
              <a:rPr lang="en-US" sz="1200" dirty="0">
                <a:solidFill>
                  <a:srgbClr val="55606D"/>
                </a:solidFill>
                <a:latin typeface="Arial" pitchFamily="34" charset="0"/>
                <a:ea typeface="Arial" pitchFamily="34" charset="-122"/>
                <a:cs typeface="Arial" pitchFamily="34" charset="-120"/>
              </a:rPr>
              <a:t>reads and writes your documents, asks before anything irreversible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10</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Those documents also become the decks and status reports people read</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S16, S17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10</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Roadmaps, iteration plans, and status reports come from the same governed documents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 status report cites evidence per claim; a client cut never contradicts it</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 deck or brief projects the documents in a human voice, every number sourced</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This deck came out of that pipeline, with its own gates and inspection</a:t>
            </a:r>
            <a:endParaRPr lang="en-US" sz="1800" dirty="0"/>
          </a:p>
        </p:txBody>
      </p:sp>
      <p:sp>
        <p:nvSpPr>
          <p:cNvPr id="9" name="Shape 6"/>
          <p:cNvSpPr/>
          <p:nvPr/>
        </p:nvSpPr>
        <p:spPr>
          <a:xfrm>
            <a:off x="5285613" y="1965960"/>
            <a:ext cx="1936267" cy="3840480"/>
          </a:xfrm>
          <a:prstGeom prst="roundRect">
            <a:avLst>
              <a:gd name="adj" fmla="val 4722"/>
            </a:avLst>
          </a:prstGeom>
          <a:solidFill>
            <a:srgbClr val="F3F5F8"/>
          </a:solidFill>
          <a:ln w="9525">
            <a:solidFill>
              <a:srgbClr val="D6DCE4"/>
            </a:solidFill>
            <a:prstDash val="solid"/>
          </a:ln>
        </p:spPr>
      </p:sp>
      <p:sp>
        <p:nvSpPr>
          <p:cNvPr id="10" name="Shape 7"/>
          <p:cNvSpPr/>
          <p:nvPr/>
        </p:nvSpPr>
        <p:spPr>
          <a:xfrm>
            <a:off x="5818087" y="2423160"/>
            <a:ext cx="871320" cy="871320"/>
          </a:xfrm>
          <a:prstGeom prst="ellipse">
            <a:avLst/>
          </a:prstGeom>
          <a:solidFill>
            <a:srgbClr val="3B6BA8"/>
          </a:solidFill>
          <a:ln w="12700">
            <a:solidFill>
              <a:srgbClr val="3B6BA8"/>
            </a:solidFill>
            <a:prstDash val="solid"/>
          </a:ln>
        </p:spPr>
      </p:sp>
      <p:sp>
        <p:nvSpPr>
          <p:cNvPr id="11" name="Text 8"/>
          <p:cNvSpPr txBox="1"/>
          <p:nvPr/>
        </p:nvSpPr>
        <p:spPr>
          <a:xfrm>
            <a:off x="5818087" y="2423160"/>
            <a:ext cx="871320" cy="871320"/>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12" name="Text 9"/>
          <p:cNvSpPr txBox="1"/>
          <p:nvPr/>
        </p:nvSpPr>
        <p:spPr>
          <a:xfrm>
            <a:off x="5358765" y="3523080"/>
            <a:ext cx="1789963"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Status reports</a:t>
            </a:r>
            <a:endParaRPr lang="en-US" sz="1600" dirty="0"/>
          </a:p>
        </p:txBody>
      </p:sp>
      <p:sp>
        <p:nvSpPr>
          <p:cNvPr id="13" name="Text 10"/>
          <p:cNvSpPr txBox="1"/>
          <p:nvPr/>
        </p:nvSpPr>
        <p:spPr>
          <a:xfrm>
            <a:off x="5422773" y="4026000"/>
            <a:ext cx="1661947" cy="159756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evidence per claim against the plan</a:t>
            </a:r>
            <a:endParaRPr lang="en-US" sz="1300" dirty="0"/>
          </a:p>
        </p:txBody>
      </p:sp>
      <p:sp>
        <p:nvSpPr>
          <p:cNvPr id="14" name="Shape 11"/>
          <p:cNvSpPr/>
          <p:nvPr/>
        </p:nvSpPr>
        <p:spPr>
          <a:xfrm>
            <a:off x="7496200" y="1965960"/>
            <a:ext cx="1936267" cy="3840480"/>
          </a:xfrm>
          <a:prstGeom prst="roundRect">
            <a:avLst>
              <a:gd name="adj" fmla="val 4722"/>
            </a:avLst>
          </a:prstGeom>
          <a:solidFill>
            <a:srgbClr val="F3F5F8"/>
          </a:solidFill>
          <a:ln w="9525">
            <a:solidFill>
              <a:srgbClr val="D6DCE4"/>
            </a:solidFill>
            <a:prstDash val="solid"/>
          </a:ln>
        </p:spPr>
      </p:sp>
      <p:sp>
        <p:nvSpPr>
          <p:cNvPr id="15" name="Shape 12"/>
          <p:cNvSpPr/>
          <p:nvPr/>
        </p:nvSpPr>
        <p:spPr>
          <a:xfrm>
            <a:off x="8028674" y="2423160"/>
            <a:ext cx="871320" cy="871320"/>
          </a:xfrm>
          <a:prstGeom prst="ellipse">
            <a:avLst/>
          </a:prstGeom>
          <a:solidFill>
            <a:srgbClr val="6842A8"/>
          </a:solidFill>
          <a:ln w="12700">
            <a:solidFill>
              <a:srgbClr val="6842A8"/>
            </a:solidFill>
            <a:prstDash val="solid"/>
          </a:ln>
        </p:spPr>
      </p:sp>
      <p:sp>
        <p:nvSpPr>
          <p:cNvPr id="16" name="Text 13"/>
          <p:cNvSpPr txBox="1"/>
          <p:nvPr/>
        </p:nvSpPr>
        <p:spPr>
          <a:xfrm>
            <a:off x="8028674" y="2423160"/>
            <a:ext cx="871320" cy="871320"/>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17" name="Text 14"/>
          <p:cNvSpPr txBox="1"/>
          <p:nvPr/>
        </p:nvSpPr>
        <p:spPr>
          <a:xfrm>
            <a:off x="7569352" y="3523080"/>
            <a:ext cx="1789963"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Decks and briefs</a:t>
            </a:r>
            <a:endParaRPr lang="en-US" sz="1600" dirty="0"/>
          </a:p>
        </p:txBody>
      </p:sp>
      <p:sp>
        <p:nvSpPr>
          <p:cNvPr id="18" name="Text 15"/>
          <p:cNvSpPr txBox="1"/>
          <p:nvPr/>
        </p:nvSpPr>
        <p:spPr>
          <a:xfrm>
            <a:off x="7633360" y="4026000"/>
            <a:ext cx="1661947" cy="159756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the human-facing projection</a:t>
            </a:r>
            <a:endParaRPr lang="en-US" sz="1300" dirty="0"/>
          </a:p>
        </p:txBody>
      </p:sp>
      <p:sp>
        <p:nvSpPr>
          <p:cNvPr id="19" name="Shape 16"/>
          <p:cNvSpPr/>
          <p:nvPr/>
        </p:nvSpPr>
        <p:spPr>
          <a:xfrm>
            <a:off x="9706788" y="1965960"/>
            <a:ext cx="1936267" cy="3840480"/>
          </a:xfrm>
          <a:prstGeom prst="roundRect">
            <a:avLst>
              <a:gd name="adj" fmla="val 4722"/>
            </a:avLst>
          </a:prstGeom>
          <a:solidFill>
            <a:srgbClr val="F3F5F8"/>
          </a:solidFill>
          <a:ln w="9525">
            <a:solidFill>
              <a:srgbClr val="D6DCE4"/>
            </a:solidFill>
            <a:prstDash val="solid"/>
          </a:ln>
        </p:spPr>
      </p:sp>
      <p:sp>
        <p:nvSpPr>
          <p:cNvPr id="20" name="Shape 17"/>
          <p:cNvSpPr/>
          <p:nvPr/>
        </p:nvSpPr>
        <p:spPr>
          <a:xfrm>
            <a:off x="10239261" y="2423160"/>
            <a:ext cx="871320" cy="871320"/>
          </a:xfrm>
          <a:prstGeom prst="ellipse">
            <a:avLst/>
          </a:prstGeom>
          <a:solidFill>
            <a:srgbClr val="C44B2F"/>
          </a:solidFill>
          <a:ln w="12700">
            <a:solidFill>
              <a:srgbClr val="C44B2F"/>
            </a:solidFill>
            <a:prstDash val="solid"/>
          </a:ln>
        </p:spPr>
      </p:sp>
      <p:sp>
        <p:nvSpPr>
          <p:cNvPr id="21" name="Text 18"/>
          <p:cNvSpPr txBox="1"/>
          <p:nvPr/>
        </p:nvSpPr>
        <p:spPr>
          <a:xfrm>
            <a:off x="10239261" y="2423160"/>
            <a:ext cx="871320" cy="871320"/>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22" name="Text 19"/>
          <p:cNvSpPr txBox="1"/>
          <p:nvPr/>
        </p:nvSpPr>
        <p:spPr>
          <a:xfrm>
            <a:off x="9779940" y="3523080"/>
            <a:ext cx="1789963"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Release notes</a:t>
            </a:r>
            <a:endParaRPr lang="en-US" sz="1600" dirty="0"/>
          </a:p>
        </p:txBody>
      </p:sp>
      <p:sp>
        <p:nvSpPr>
          <p:cNvPr id="23" name="Text 20"/>
          <p:cNvSpPr txBox="1"/>
          <p:nvPr/>
        </p:nvSpPr>
        <p:spPr>
          <a:xfrm>
            <a:off x="9843948" y="4026000"/>
            <a:ext cx="1661947" cy="159756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from the deploy documents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1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E07A5F"/>
          </a:solidFill>
          <a:ln w="12700">
            <a:solidFill>
              <a:srgbClr val="E07A5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11</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EEF2F7"/>
                </a:solidFill>
                <a:latin typeface="Georgia" pitchFamily="34" charset="0"/>
                <a:ea typeface="Georgia" pitchFamily="34" charset="-122"/>
                <a:cs typeface="Georgia" pitchFamily="34" charset="-120"/>
              </a:rPr>
              <a:t>Pilot HELIX for one quarter and count what the documents catch</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B9C2CF"/>
                </a:solidFill>
                <a:latin typeface="Arial" pitchFamily="34" charset="0"/>
                <a:ea typeface="Arial" pitchFamily="34" charset="-122"/>
                <a:cs typeface="Arial" pitchFamily="34" charset="-120"/>
              </a:rPr>
              <a:t>Sources: S7, S18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B9C2CF"/>
                </a:solidFill>
                <a:latin typeface="Arial" pitchFamily="34" charset="0"/>
                <a:ea typeface="Arial" pitchFamily="34" charset="-122"/>
                <a:cs typeface="Arial" pitchFamily="34" charset="-120"/>
              </a:rPr>
              <a:t>11</a:t>
            </a:r>
            <a:endParaRPr lang="en-US" sz="1000" dirty="0"/>
          </a:p>
        </p:txBody>
      </p:sp>
      <p:sp>
        <p:nvSpPr>
          <p:cNvPr id="8" name="Shape 5"/>
          <p:cNvSpPr/>
          <p:nvPr/>
        </p:nvSpPr>
        <p:spPr>
          <a:xfrm>
            <a:off x="548640" y="1965960"/>
            <a:ext cx="11094415" cy="777240"/>
          </a:xfrm>
          <a:prstGeom prst="roundRect">
            <a:avLst>
              <a:gd name="adj" fmla="val 11765"/>
            </a:avLst>
          </a:prstGeom>
          <a:solidFill>
            <a:srgbClr val="E07A5F"/>
          </a:solidFill>
          <a:ln w="9525">
            <a:solidFill>
              <a:srgbClr val="E07A5F"/>
            </a:solidFill>
            <a:prstDash val="solid"/>
          </a:ln>
        </p:spPr>
      </p:sp>
      <p:sp>
        <p:nvSpPr>
          <p:cNvPr id="9" name="Text 6"/>
          <p:cNvSpPr txBox="1"/>
          <p:nvPr/>
        </p:nvSpPr>
        <p:spPr>
          <a:xfrm>
            <a:off x="822960" y="1965960"/>
            <a:ext cx="10545775" cy="77724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rial" pitchFamily="34" charset="0"/>
                <a:ea typeface="Arial" pitchFamily="34" charset="-122"/>
                <a:cs typeface="Arial" pitchFamily="34" charset="-120"/>
              </a:rPr>
              <a:t>Pilot HELIX for one quarter and count what the documents catch</a:t>
            </a:r>
            <a:endParaRPr lang="en-US" sz="1800" dirty="0"/>
          </a:p>
        </p:txBody>
      </p:sp>
      <p:sp>
        <p:nvSpPr>
          <p:cNvPr id="10" name="Text 7"/>
          <p:cNvSpPr txBox="1"/>
          <p:nvPr/>
        </p:nvSpPr>
        <p:spPr>
          <a:xfrm>
            <a:off x="1188720" y="3017520"/>
            <a:ext cx="6664757" cy="274320"/>
          </a:xfrm>
          <a:prstGeom prst="rect">
            <a:avLst/>
          </a:prstGeom>
          <a:noFill/>
          <a:ln/>
        </p:spPr>
        <p:txBody>
          <a:bodyPr wrap="square" lIns="0" tIns="0" rIns="0" bIns="0" rtlCol="0" anchor="t">
            <a:normAutofit/>
          </a:bodyPr>
          <a:lstStyle/>
          <a:p>
            <a:pPr algn="l" indent="0" marL="0">
              <a:buNone/>
            </a:pPr>
            <a:r>
              <a:rPr lang="en-US" sz="1200" b="1" dirty="0">
                <a:solidFill>
                  <a:srgbClr val="B9C2CF"/>
                </a:solidFill>
                <a:latin typeface="Arial" pitchFamily="34" charset="0"/>
                <a:ea typeface="Arial" pitchFamily="34" charset="-122"/>
                <a:cs typeface="Arial" pitchFamily="34" charset="-120"/>
              </a:rPr>
              <a:t>Step</a:t>
            </a:r>
            <a:endParaRPr lang="en-US" sz="1200" dirty="0"/>
          </a:p>
        </p:txBody>
      </p:sp>
      <p:sp>
        <p:nvSpPr>
          <p:cNvPr id="11" name="Text 8"/>
          <p:cNvSpPr txBox="1"/>
          <p:nvPr/>
        </p:nvSpPr>
        <p:spPr>
          <a:xfrm>
            <a:off x="8127797" y="3017520"/>
            <a:ext cx="1620469" cy="274320"/>
          </a:xfrm>
          <a:prstGeom prst="rect">
            <a:avLst/>
          </a:prstGeom>
          <a:noFill/>
          <a:ln/>
        </p:spPr>
        <p:txBody>
          <a:bodyPr wrap="square" lIns="0" tIns="0" rIns="0" bIns="0" rtlCol="0" anchor="t">
            <a:normAutofit/>
          </a:bodyPr>
          <a:lstStyle/>
          <a:p>
            <a:pPr algn="l" indent="0" marL="0">
              <a:buNone/>
            </a:pPr>
            <a:r>
              <a:rPr lang="en-US" sz="1200" b="1" dirty="0">
                <a:solidFill>
                  <a:srgbClr val="B9C2CF"/>
                </a:solidFill>
                <a:latin typeface="Arial" pitchFamily="34" charset="0"/>
                <a:ea typeface="Arial" pitchFamily="34" charset="-122"/>
                <a:cs typeface="Arial" pitchFamily="34" charset="-120"/>
              </a:rPr>
              <a:t>Owner</a:t>
            </a:r>
            <a:endParaRPr lang="en-US" sz="1200" dirty="0"/>
          </a:p>
        </p:txBody>
      </p:sp>
      <p:sp>
        <p:nvSpPr>
          <p:cNvPr id="12" name="Text 9"/>
          <p:cNvSpPr txBox="1"/>
          <p:nvPr/>
        </p:nvSpPr>
        <p:spPr>
          <a:xfrm>
            <a:off x="10022586" y="3017520"/>
            <a:ext cx="1620469" cy="274320"/>
          </a:xfrm>
          <a:prstGeom prst="rect">
            <a:avLst/>
          </a:prstGeom>
          <a:noFill/>
          <a:ln/>
        </p:spPr>
        <p:txBody>
          <a:bodyPr wrap="square" lIns="0" tIns="0" rIns="0" bIns="0" rtlCol="0" anchor="t">
            <a:normAutofit/>
          </a:bodyPr>
          <a:lstStyle/>
          <a:p>
            <a:pPr algn="l" indent="0" marL="0">
              <a:buNone/>
            </a:pPr>
            <a:r>
              <a:rPr lang="en-US" sz="1200" b="1" dirty="0">
                <a:solidFill>
                  <a:srgbClr val="B9C2CF"/>
                </a:solidFill>
                <a:latin typeface="Arial" pitchFamily="34" charset="0"/>
                <a:ea typeface="Arial" pitchFamily="34" charset="-122"/>
                <a:cs typeface="Arial" pitchFamily="34" charset="-120"/>
              </a:rPr>
              <a:t>Date</a:t>
            </a:r>
            <a:endParaRPr lang="en-US" sz="1200" dirty="0"/>
          </a:p>
        </p:txBody>
      </p:sp>
      <p:sp>
        <p:nvSpPr>
          <p:cNvPr id="13" name="Shape 10"/>
          <p:cNvSpPr/>
          <p:nvPr/>
        </p:nvSpPr>
        <p:spPr>
          <a:xfrm>
            <a:off x="548640" y="3474720"/>
            <a:ext cx="411480" cy="411480"/>
          </a:xfrm>
          <a:prstGeom prst="ellipse">
            <a:avLst/>
          </a:prstGeom>
          <a:solidFill>
            <a:srgbClr val="E07A5F"/>
          </a:solidFill>
          <a:ln w="12700">
            <a:solidFill>
              <a:srgbClr val="E07A5F"/>
            </a:solidFill>
            <a:prstDash val="solid"/>
          </a:ln>
        </p:spPr>
      </p:sp>
      <p:sp>
        <p:nvSpPr>
          <p:cNvPr id="14" name="Text 11"/>
          <p:cNvSpPr txBox="1"/>
          <p:nvPr/>
        </p:nvSpPr>
        <p:spPr>
          <a:xfrm>
            <a:off x="548640" y="3474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15" name="Text 12"/>
          <p:cNvSpPr txBox="1"/>
          <p:nvPr/>
        </p:nvSpPr>
        <p:spPr>
          <a:xfrm>
            <a:off x="1188720" y="3383280"/>
            <a:ext cx="6664757" cy="502920"/>
          </a:xfrm>
          <a:prstGeom prst="rect">
            <a:avLst/>
          </a:prstGeom>
          <a:noFill/>
          <a:ln/>
        </p:spPr>
        <p:txBody>
          <a:bodyPr wrap="square" lIns="0" tIns="0" rIns="0" bIns="0" rtlCol="0" anchor="ctr">
            <a:normAutofit/>
          </a:bodyPr>
          <a:lstStyle/>
          <a:p>
            <a:pPr algn="l" indent="0" marL="0">
              <a:buNone/>
            </a:pPr>
            <a:r>
              <a:rPr lang="en-US" sz="1500" dirty="0">
                <a:solidFill>
                  <a:srgbClr val="EEF2F7"/>
                </a:solidFill>
                <a:latin typeface="Arial" pitchFamily="34" charset="0"/>
                <a:ea typeface="Arial" pitchFamily="34" charset="-122"/>
                <a:cs typeface="Arial" pitchFamily="34" charset="-120"/>
              </a:rPr>
              <a:t>Pick one active project with an agent already in the loop, by the end of this week</a:t>
            </a:r>
            <a:endParaRPr lang="en-US" sz="1500" dirty="0"/>
          </a:p>
        </p:txBody>
      </p:sp>
      <p:sp>
        <p:nvSpPr>
          <p:cNvPr id="16" name="Shape 13"/>
          <p:cNvSpPr/>
          <p:nvPr/>
        </p:nvSpPr>
        <p:spPr>
          <a:xfrm>
            <a:off x="8127797" y="3749040"/>
            <a:ext cx="1620469" cy="0"/>
          </a:xfrm>
          <a:prstGeom prst="line">
            <a:avLst/>
          </a:prstGeom>
          <a:noFill/>
          <a:ln w="9525">
            <a:solidFill>
              <a:srgbClr val="B9C2CF"/>
            </a:solidFill>
            <a:prstDash val="solid"/>
            <a:headEnd type="none"/>
            <a:tailEnd type="none"/>
          </a:ln>
        </p:spPr>
      </p:sp>
      <p:sp>
        <p:nvSpPr>
          <p:cNvPr id="17" name="Shape 14"/>
          <p:cNvSpPr/>
          <p:nvPr/>
        </p:nvSpPr>
        <p:spPr>
          <a:xfrm>
            <a:off x="10022586" y="3749040"/>
            <a:ext cx="1620469" cy="0"/>
          </a:xfrm>
          <a:prstGeom prst="line">
            <a:avLst/>
          </a:prstGeom>
          <a:noFill/>
          <a:ln w="9525">
            <a:solidFill>
              <a:srgbClr val="B9C2CF"/>
            </a:solidFill>
            <a:prstDash val="solid"/>
            <a:headEnd type="none"/>
            <a:tailEnd type="none"/>
          </a:ln>
        </p:spPr>
      </p:sp>
      <p:sp>
        <p:nvSpPr>
          <p:cNvPr id="18" name="Shape 15"/>
          <p:cNvSpPr/>
          <p:nvPr/>
        </p:nvSpPr>
        <p:spPr>
          <a:xfrm>
            <a:off x="548640" y="4069080"/>
            <a:ext cx="411480" cy="411480"/>
          </a:xfrm>
          <a:prstGeom prst="ellipse">
            <a:avLst/>
          </a:prstGeom>
          <a:solidFill>
            <a:srgbClr val="E07A5F"/>
          </a:solidFill>
          <a:ln w="12700">
            <a:solidFill>
              <a:srgbClr val="E07A5F"/>
            </a:solidFill>
            <a:prstDash val="solid"/>
          </a:ln>
        </p:spPr>
      </p:sp>
      <p:sp>
        <p:nvSpPr>
          <p:cNvPr id="19" name="Text 16"/>
          <p:cNvSpPr txBox="1"/>
          <p:nvPr/>
        </p:nvSpPr>
        <p:spPr>
          <a:xfrm>
            <a:off x="548640" y="40690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20" name="Text 17"/>
          <p:cNvSpPr txBox="1"/>
          <p:nvPr/>
        </p:nvSpPr>
        <p:spPr>
          <a:xfrm>
            <a:off x="1188720" y="3977640"/>
            <a:ext cx="6664757" cy="502920"/>
          </a:xfrm>
          <a:prstGeom prst="rect">
            <a:avLst/>
          </a:prstGeom>
          <a:noFill/>
          <a:ln/>
        </p:spPr>
        <p:txBody>
          <a:bodyPr wrap="square" lIns="0" tIns="0" rIns="0" bIns="0" rtlCol="0" anchor="ctr">
            <a:normAutofit/>
          </a:bodyPr>
          <a:lstStyle/>
          <a:p>
            <a:pPr algn="l" indent="0" marL="0">
              <a:buNone/>
            </a:pPr>
            <a:r>
              <a:rPr lang="en-US" sz="1500" dirty="0">
                <a:solidFill>
                  <a:srgbClr val="EEF2F7"/>
                </a:solidFill>
                <a:latin typeface="Arial" pitchFamily="34" charset="0"/>
                <a:ea typeface="Arial" pitchFamily="34" charset="-122"/>
                <a:cs typeface="Arial" pitchFamily="34" charset="-120"/>
              </a:rPr>
              <a:t>Adopt the templates and run one alignment check on its documents in the first sprint</a:t>
            </a:r>
            <a:endParaRPr lang="en-US" sz="1500" dirty="0"/>
          </a:p>
        </p:txBody>
      </p:sp>
      <p:sp>
        <p:nvSpPr>
          <p:cNvPr id="21" name="Shape 18"/>
          <p:cNvSpPr/>
          <p:nvPr/>
        </p:nvSpPr>
        <p:spPr>
          <a:xfrm>
            <a:off x="8127797" y="4343400"/>
            <a:ext cx="1620469" cy="0"/>
          </a:xfrm>
          <a:prstGeom prst="line">
            <a:avLst/>
          </a:prstGeom>
          <a:noFill/>
          <a:ln w="9525">
            <a:solidFill>
              <a:srgbClr val="B9C2CF"/>
            </a:solidFill>
            <a:prstDash val="solid"/>
            <a:headEnd type="none"/>
            <a:tailEnd type="none"/>
          </a:ln>
        </p:spPr>
      </p:sp>
      <p:sp>
        <p:nvSpPr>
          <p:cNvPr id="22" name="Shape 19"/>
          <p:cNvSpPr/>
          <p:nvPr/>
        </p:nvSpPr>
        <p:spPr>
          <a:xfrm>
            <a:off x="10022586" y="4343400"/>
            <a:ext cx="1620469" cy="0"/>
          </a:xfrm>
          <a:prstGeom prst="line">
            <a:avLst/>
          </a:prstGeom>
          <a:noFill/>
          <a:ln w="9525">
            <a:solidFill>
              <a:srgbClr val="B9C2CF"/>
            </a:solidFill>
            <a:prstDash val="solid"/>
            <a:headEnd type="none"/>
            <a:tailEnd type="none"/>
          </a:ln>
        </p:spPr>
      </p:sp>
      <p:sp>
        <p:nvSpPr>
          <p:cNvPr id="23" name="Shape 20"/>
          <p:cNvSpPr/>
          <p:nvPr/>
        </p:nvSpPr>
        <p:spPr>
          <a:xfrm>
            <a:off x="548640" y="4663440"/>
            <a:ext cx="411480" cy="411480"/>
          </a:xfrm>
          <a:prstGeom prst="ellipse">
            <a:avLst/>
          </a:prstGeom>
          <a:solidFill>
            <a:srgbClr val="E07A5F"/>
          </a:solidFill>
          <a:ln w="12700">
            <a:solidFill>
              <a:srgbClr val="E07A5F"/>
            </a:solidFill>
            <a:prstDash val="solid"/>
          </a:ln>
        </p:spPr>
      </p:sp>
      <p:sp>
        <p:nvSpPr>
          <p:cNvPr id="24" name="Text 21"/>
          <p:cNvSpPr txBox="1"/>
          <p:nvPr/>
        </p:nvSpPr>
        <p:spPr>
          <a:xfrm>
            <a:off x="548640" y="4663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25" name="Text 22"/>
          <p:cNvSpPr txBox="1"/>
          <p:nvPr/>
        </p:nvSpPr>
        <p:spPr>
          <a:xfrm>
            <a:off x="1188720" y="4572000"/>
            <a:ext cx="6664757" cy="502920"/>
          </a:xfrm>
          <a:prstGeom prst="rect">
            <a:avLst/>
          </a:prstGeom>
          <a:noFill/>
          <a:ln/>
        </p:spPr>
        <p:txBody>
          <a:bodyPr wrap="square" lIns="0" tIns="0" rIns="0" bIns="0" rtlCol="0" anchor="ctr">
            <a:normAutofit/>
          </a:bodyPr>
          <a:lstStyle/>
          <a:p>
            <a:pPr algn="l" indent="0" marL="0">
              <a:buNone/>
            </a:pPr>
            <a:r>
              <a:rPr lang="en-US" sz="1500" dirty="0">
                <a:solidFill>
                  <a:srgbClr val="EEF2F7"/>
                </a:solidFill>
                <a:latin typeface="Arial" pitchFamily="34" charset="0"/>
                <a:ea typeface="Arial" pitchFamily="34" charset="-122"/>
                <a:cs typeface="Arial" pitchFamily="34" charset="-120"/>
              </a:rPr>
              <a:t>Review the findings together after four weeks against the bar of under 3 drift findings per check</a:t>
            </a:r>
            <a:endParaRPr lang="en-US" sz="1500" dirty="0"/>
          </a:p>
        </p:txBody>
      </p:sp>
      <p:sp>
        <p:nvSpPr>
          <p:cNvPr id="26" name="Shape 23"/>
          <p:cNvSpPr/>
          <p:nvPr/>
        </p:nvSpPr>
        <p:spPr>
          <a:xfrm>
            <a:off x="8127797" y="4937760"/>
            <a:ext cx="1620469" cy="0"/>
          </a:xfrm>
          <a:prstGeom prst="line">
            <a:avLst/>
          </a:prstGeom>
          <a:noFill/>
          <a:ln w="9525">
            <a:solidFill>
              <a:srgbClr val="B9C2CF"/>
            </a:solidFill>
            <a:prstDash val="solid"/>
            <a:headEnd type="none"/>
            <a:tailEnd type="none"/>
          </a:ln>
        </p:spPr>
      </p:sp>
      <p:sp>
        <p:nvSpPr>
          <p:cNvPr id="27" name="Shape 24"/>
          <p:cNvSpPr/>
          <p:nvPr/>
        </p:nvSpPr>
        <p:spPr>
          <a:xfrm>
            <a:off x="10022586" y="4937760"/>
            <a:ext cx="1620469" cy="0"/>
          </a:xfrm>
          <a:prstGeom prst="line">
            <a:avLst/>
          </a:prstGeom>
          <a:noFill/>
          <a:ln w="9525">
            <a:solidFill>
              <a:srgbClr val="B9C2CF"/>
            </a:solidFill>
            <a:prstDash val="solid"/>
            <a:headEnd type="none"/>
            <a:tailEnd type="none"/>
          </a:ln>
        </p:spPr>
      </p:sp>
      <p:sp>
        <p:nvSpPr>
          <p:cNvPr id="28" name="Text 25"/>
          <p:cNvSpPr txBox="1"/>
          <p:nvPr/>
        </p:nvSpPr>
        <p:spPr>
          <a:xfrm>
            <a:off x="548640" y="5349240"/>
            <a:ext cx="11094415" cy="457200"/>
          </a:xfrm>
          <a:prstGeom prst="rect">
            <a:avLst/>
          </a:prstGeom>
          <a:noFill/>
          <a:ln/>
        </p:spPr>
        <p:txBody>
          <a:bodyPr wrap="square" lIns="0" tIns="0" rIns="0" bIns="0" rtlCol="0" anchor="b">
            <a:normAutofit/>
          </a:bodyPr>
          <a:lstStyle/>
          <a:p>
            <a:pPr algn="l" indent="0" marL="0">
              <a:buNone/>
            </a:pPr>
            <a:r>
              <a:rPr lang="en-US" sz="1300" dirty="0">
                <a:solidFill>
                  <a:srgbClr val="B9C2CF"/>
                </a:solidFill>
                <a:latin typeface="Arial" pitchFamily="34" charset="0"/>
                <a:ea typeface="Arial" pitchFamily="34" charset="-122"/>
                <a:cs typeface="Arial" pitchFamily="34" charset="-120"/>
              </a:rPr>
              <a:t>Without a trial the practice stays improvised and drift keeps surfacing in review</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48640"/>
                <a:gridCol w="6538381"/>
                <a:gridCol w="400739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38404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 methodology and artifact catalog for AI-assisted teams: templates plus one skill</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docs/helix/00-discover/product-vision.md#mission-statement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S2</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AI-assisted development went from novelty to default; most developers ship AI-touched code daily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docs/helix/00-discover/product-vision.md#why-now</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S3</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Three failure modes: artifact drift, inconsistent agent behavior, lossy session boundaries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docs/helix/01-frame/prd.md#problem</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S4</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Templates for 53 artifact types plus a single routing skill; no CLI, tracker, or execution loop</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docs/helix/01-frame/prd.md#summary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74980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S5</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The seven activities, the artifact loop, and the authority hierarchy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workflows/README.md#activities, workflows/README.md#authority-hierarchy, workflows/artifact-hierarchy.md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S6</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Twenty-one routed modes in the routing table; alignment is the required mode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skills/helix/SKILL.md#routing-rules, docs/helix/01-frame/prd.md#goals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 (continued)</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48640"/>
                <a:gridCol w="6538381"/>
                <a:gridCol w="400739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38404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S7</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Four-step contract: write the brief, check alignment, plan the work, run it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docs/helix/01-frame/prd.md#core-workflow-contract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S8</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OAuth example: three specs and two designs affected, one decision in conflict, four stories missing</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docs/helix/00-discover/product-vision.md#user-experience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S9</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Concerns propagate practices downstream; the project's active concerns and slots; 50 concerns in the library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workflows/README.md#cross-cutting-context, docs/helix/01-frame/concerns.md, workflows/concerns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S10</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Seven principles, from spec is the contract to deliverable over machinery, with tension resolution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workflows/principles.md#principles, docs/helix/01-frame/principles.md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S11</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Artifact honesty: phantom claims block; verification evidence comes from the running system</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docs/helix/01-frame/features/FEAT-016-artifact-honesty.md, workflows/concerns/verification/practices.md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S12</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Tests cite the criterion they cover; quality floors never slide back</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docs/helix/02-design/adr/ADR-009-acceptance-criteria-ownership.md, workflows/ratchets.md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 (continued)</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48640"/>
                <a:gridCol w="6538381"/>
                <a:gridCol w="400739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S13</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Non-goals: no CLI, tracker, queue, or engine; no imposed technology; judgment stays with people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docs/helix/01-frame/prd.md#non-goals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S14</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Six install surfaces: DDx, Claude Code, Codex, Copilot, Databricks Genie, Grok Build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docs/helix/01-frame/features/FEAT-013-runtime-install-coverage.md, docs/install/README.md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S15</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Autonomy is a three-position spectrum with a hard-stop floor at every level</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docs/helix/02-design/adr/ADR-003-autonomy-spectrum.md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S16</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Roadmap, iteration plan, status report; a client cut may subset but never contradict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docs/helix/01-frame/features/FEAT-017-iteration-documentation.md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S17</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Deliverables projected from governed artifacts, every number sourced, gated and inspected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workflows/modes/present.md, workflows/activities/06-iterate/artifacts/deliverable/meta.yml</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S18</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Targets: &lt; 3 findings per run; 3 runtimes in 12 months; 50+ repos in 18 months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docs/helix/00-discover/product-vision.md#success-definition, docs/helix/01-frame/prd.md#success-metrics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document discipline governs agent work from intent to release</dc:title>
  <dc:subject>PptxGenJS Presentation</dc:subject>
  <dc:creator>HELIX</dc:creator>
  <cp:lastModifiedBy>HELIX</cp:lastModifiedBy>
  <cp:revision>1</cp:revision>
  <dcterms:created xsi:type="dcterms:W3CDTF">2026-09-11T16:18:38Z</dcterms:created>
  <dcterms:modified xsi:type="dcterms:W3CDTF">2026-09-11T16:18:38Z</dcterms:modified>
</cp:coreProperties>
</file>