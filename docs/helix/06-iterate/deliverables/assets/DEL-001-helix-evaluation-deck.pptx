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takeaway once, then say the ask comes on the last slide and is one project for one quarter. Do not explain HELIX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change; do not argue it. This audience lives it. The missing third milestone is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three failure modes the requirements document names. Each shows up late, in review or in production, which is why the cost is high. Ask which one the audience saw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a method you adopt, not a platform you join. Each template carries an authoring prompt and quality criteria, and the templates rank: vision governs requirements, requirements govern designs, designs govern tests and code. Every one of the 53 is optional; teams adopt one type at a time. Name the seven activities around the ring; the table of what each produces is in the appendix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team never invokes a HELIX command, because there is none. They invoke their agent, and the agent invokes the skill. The four spokes are the modes this audience will use first; the rest are in the appendix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not a filing order. An agent may act only within what the layer above authorizes. On one OAuth change the vision's worked example starts with the security architecture, then the specs, then the stories, and no code moves until then; slide 9 shows the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Fifty concerns in the library, each with practices keyed to the activity they apply in. Exclusive slots (one frontend framework, one runtime, one auth provider) are why two agents cannot make two different choices. The artifact-honesty rule closes the loop: a claim without evidence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discipline is not only for engineers. A client cut of a status report may subset the internal one but never contradict it. Say that this deck is the worked example: its script, its sources, and its inspection record are in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worked example in the product vision, not a customer result. Five affected documents: three feature specs and two designs, plus the conflicting decision and the missing stories. The order matters: the plan starts with the security architecture revision, then the specs, then the stories. The bar the product sets for itself, under 3 findings per check on a healthy project, is a target and belongs to the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strands of the helix share one loop with different jobs. Low autonomy asks before each step, medium pauses on ambiguity, high records assumptions and proceeds, and a hard floor of stop triggers holds at every level. Nothing here needs a new tool: no command-line tool, tracker, queue, or execution engine ships with HELIX, and it installs on six hosts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after the ask. The bar is a target the product sets for itself, not a result; say so. If asked about cost, the trial needs one champion and no new tooling.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548640" y="1371600"/>
            <a:ext cx="7304837" cy="2286000"/>
          </a:xfrm>
          <a:prstGeom prst="rect">
            <a:avLst/>
          </a:prstGeom>
          <a:noFill/>
          <a:ln/>
        </p:spPr>
        <p:txBody>
          <a:bodyPr wrap="square" lIns="0" tIns="0" rIns="0" bIns="0" rtlCol="0" anchor="b">
            <a:normAutofit/>
          </a:bodyPr>
          <a:lstStyle/>
          <a:p>
            <a:pPr algn="l" indent="0" marL="0">
              <a:buNone/>
            </a:pPr>
            <a:r>
              <a:rPr lang="en-US" sz="3600" b="1" dirty="0">
                <a:solidFill>
                  <a:srgbClr val="EEF2F7"/>
                </a:solidFill>
                <a:latin typeface="Georgia" pitchFamily="34" charset="0"/>
                <a:ea typeface="Georgia" pitchFamily="34" charset="-122"/>
                <a:cs typeface="Georgia" pitchFamily="34" charset="-120"/>
              </a:rPr>
              <a:t>One discipline governs agent work from intent to release</a:t>
            </a:r>
            <a:endParaRPr lang="en-US" sz="3600" dirty="0"/>
          </a:p>
        </p:txBody>
      </p:sp>
      <p:sp>
        <p:nvSpPr>
          <p:cNvPr id="3" name="Text 1"/>
          <p:cNvSpPr txBox="1"/>
          <p:nvPr/>
        </p:nvSpPr>
        <p:spPr>
          <a:xfrm>
            <a:off x="548640" y="3840480"/>
            <a:ext cx="7304837" cy="914400"/>
          </a:xfrm>
          <a:prstGeom prst="rect">
            <a:avLst/>
          </a:prstGeom>
          <a:noFill/>
          <a:ln/>
        </p:spPr>
        <p:txBody>
          <a:bodyPr wrap="square" lIns="0" tIns="0" rIns="0" bIns="0" rtlCol="0" anchor="t">
            <a:normAutofit/>
          </a:bodyPr>
          <a:lstStyle/>
          <a:p>
            <a:pPr algn="l" indent="0" marL="0">
              <a:buNone/>
            </a:pPr>
            <a:r>
              <a:rPr lang="en-US" sz="2000" dirty="0">
                <a:solidFill>
                  <a:srgbClr val="B9C2CF"/>
                </a:solidFill>
                <a:latin typeface="Arial" pitchFamily="34" charset="0"/>
                <a:ea typeface="Arial" pitchFamily="34" charset="-122"/>
                <a:cs typeface="Arial" pitchFamily="34" charset="-120"/>
              </a:rPr>
              <a:t>An evaluation briefing for engineering leaders whose teams build with AI agents</a:t>
            </a:r>
            <a:endParaRPr lang="en-US" sz="2000" dirty="0"/>
          </a:p>
        </p:txBody>
      </p:sp>
      <p:sp>
        <p:nvSpPr>
          <p:cNvPr id="4" name="Text 2"/>
          <p:cNvSpPr txBox="1"/>
          <p:nvPr/>
        </p:nvSpPr>
        <p:spPr>
          <a:xfrm>
            <a:off x="548640" y="5669280"/>
            <a:ext cx="5486400" cy="320040"/>
          </a:xfrm>
          <a:prstGeom prst="rect">
            <a:avLst/>
          </a:prstGeom>
          <a:noFill/>
          <a:ln/>
        </p:spPr>
        <p:txBody>
          <a:bodyPr wrap="square" lIns="0" tIns="0" rIns="0" bIns="0" rtlCol="0" anchor="b">
            <a:normAutofit/>
          </a:bodyPr>
          <a:lstStyle/>
          <a:p>
            <a:pPr algn="l" indent="0" marL="0">
              <a:buNone/>
            </a:pPr>
            <a:r>
              <a:rPr lang="en-US" sz="1200" dirty="0">
                <a:solidFill>
                  <a:srgbClr val="B9C2CF"/>
                </a:solidFill>
                <a:latin typeface="Arial" pitchFamily="34" charset="0"/>
                <a:ea typeface="Arial" pitchFamily="34" charset="-122"/>
                <a:cs typeface="Arial" pitchFamily="34" charset="-120"/>
              </a:rPr>
              <a:t>September 2026</a:t>
            </a:r>
            <a:endParaRPr lang="en-US" sz="1200" dirty="0"/>
          </a:p>
        </p:txBody>
      </p:sp>
      <p:sp>
        <p:nvSpPr>
          <p:cNvPr id="5" name="Shape 3"/>
          <p:cNvSpPr/>
          <p:nvPr/>
        </p:nvSpPr>
        <p:spPr>
          <a:xfrm>
            <a:off x="8716975" y="1965960"/>
            <a:ext cx="2926080" cy="2926080"/>
          </a:xfrm>
          <a:prstGeom prst="ellipse">
            <a:avLst/>
          </a:prstGeom>
          <a:solidFill>
            <a:srgbClr val="14181F"/>
          </a:solidFill>
          <a:ln w="50800">
            <a:solidFill>
              <a:srgbClr val="E07A5F"/>
            </a:solidFill>
            <a:prstDash val="solid"/>
          </a:ln>
        </p:spPr>
      </p:sp>
      <p:pic>
        <p:nvPicPr>
          <p:cNvPr id="6" name="Image 0" descr="preencoded.png">    </p:cNvPr>
          <p:cNvPicPr>
            <a:picLocks noChangeAspect="1"/>
          </p:cNvPicPr>
          <p:nvPr/>
        </p:nvPicPr>
        <p:blipFill>
          <a:blip r:embed="rId1"/>
          <a:stretch>
            <a:fillRect/>
          </a:stretch>
        </p:blipFill>
        <p:spPr>
          <a:xfrm>
            <a:off x="9507017" y="2756002"/>
            <a:ext cx="1345997" cy="134599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Agents now write most production code</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S2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2</a:t>
            </a:r>
            <a:endParaRPr lang="en-US" sz="1000" dirty="0"/>
          </a:p>
        </p:txBody>
      </p:sp>
      <p:sp>
        <p:nvSpPr>
          <p:cNvPr id="8" name="Text 5"/>
          <p:cNvSpPr txBox="1"/>
          <p:nvPr/>
        </p:nvSpPr>
        <p:spPr>
          <a:xfrm>
            <a:off x="548640" y="1965960"/>
            <a:ext cx="3515258" cy="3840480"/>
          </a:xfrm>
          <a:prstGeom prst="rect">
            <a:avLst/>
          </a:prstGeom>
          <a:noFill/>
          <a:ln/>
        </p:spPr>
        <p:txBody>
          <a:bodyPr wrap="square" lIns="0" tIns="0" rIns="0" bIns="0" rtlCol="0" anchor="t"/>
          <a:lstStyle/>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Most professional developers ship agent-written code every day</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The output is locally good and globally inconsistent</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The document disciplines human teams built never reached the agents</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Every practice era gets its equivalent of test-driven development</a:t>
            </a:r>
            <a:endParaRPr lang="en-US" sz="1800" dirty="0"/>
          </a:p>
        </p:txBody>
      </p:sp>
      <p:sp>
        <p:nvSpPr>
          <p:cNvPr id="9" name="Shape 6"/>
          <p:cNvSpPr/>
          <p:nvPr/>
        </p:nvSpPr>
        <p:spPr>
          <a:xfrm>
            <a:off x="4886858" y="3502152"/>
            <a:ext cx="6207557" cy="0"/>
          </a:xfrm>
          <a:prstGeom prst="line">
            <a:avLst/>
          </a:prstGeom>
          <a:noFill/>
          <a:ln w="38100">
            <a:solidFill>
              <a:srgbClr val="D6DCE4"/>
            </a:solidFill>
            <a:prstDash val="solid"/>
            <a:headEnd type="none"/>
            <a:tailEnd type="none"/>
          </a:ln>
        </p:spPr>
      </p:sp>
      <p:sp>
        <p:nvSpPr>
          <p:cNvPr id="10" name="Shape 7"/>
          <p:cNvSpPr/>
          <p:nvPr/>
        </p:nvSpPr>
        <p:spPr>
          <a:xfrm>
            <a:off x="4749698" y="3364992"/>
            <a:ext cx="274320" cy="274320"/>
          </a:xfrm>
          <a:prstGeom prst="ellipse">
            <a:avLst/>
          </a:prstGeom>
          <a:solidFill>
            <a:srgbClr val="3B6BA8"/>
          </a:solidFill>
          <a:ln w="12700">
            <a:solidFill>
              <a:srgbClr val="3B6BA8"/>
            </a:solidFill>
            <a:prstDash val="solid"/>
          </a:ln>
        </p:spPr>
      </p:sp>
      <p:sp>
        <p:nvSpPr>
          <p:cNvPr id="11" name="Text 8"/>
          <p:cNvSpPr txBox="1"/>
          <p:nvPr/>
        </p:nvSpPr>
        <p:spPr>
          <a:xfrm>
            <a:off x="4338218" y="2633472"/>
            <a:ext cx="3012338" cy="640080"/>
          </a:xfrm>
          <a:prstGeom prst="rect">
            <a:avLst/>
          </a:prstGeom>
          <a:noFill/>
          <a:ln/>
        </p:spPr>
        <p:txBody>
          <a:bodyPr wrap="square" lIns="0" tIns="0" rIns="0" bIns="0" rtlCol="0" anchor="b">
            <a:normAutofit/>
          </a:bodyPr>
          <a:lstStyle/>
          <a:p>
            <a:pPr algn="ctr" indent="0" marL="0">
              <a:buNone/>
            </a:pPr>
            <a:r>
              <a:rPr lang="en-US" sz="1400" dirty="0">
                <a:solidFill>
                  <a:srgbClr val="1F2933"/>
                </a:solidFill>
                <a:latin typeface="Arial" pitchFamily="34" charset="0"/>
                <a:ea typeface="Arial" pitchFamily="34" charset="-122"/>
                <a:cs typeface="Arial" pitchFamily="34" charset="-120"/>
              </a:rPr>
              <a:t>agents as novelty</a:t>
            </a:r>
            <a:endParaRPr lang="en-US" sz="1400" dirty="0"/>
          </a:p>
        </p:txBody>
      </p:sp>
      <p:sp>
        <p:nvSpPr>
          <p:cNvPr id="12" name="Shape 9"/>
          <p:cNvSpPr/>
          <p:nvPr/>
        </p:nvSpPr>
        <p:spPr>
          <a:xfrm>
            <a:off x="7853477" y="3364992"/>
            <a:ext cx="274320" cy="274320"/>
          </a:xfrm>
          <a:prstGeom prst="ellipse">
            <a:avLst/>
          </a:prstGeom>
          <a:solidFill>
            <a:srgbClr val="C44B2F"/>
          </a:solidFill>
          <a:ln w="12700">
            <a:solidFill>
              <a:srgbClr val="C44B2F"/>
            </a:solidFill>
            <a:prstDash val="solid"/>
          </a:ln>
        </p:spPr>
      </p:sp>
      <p:sp>
        <p:nvSpPr>
          <p:cNvPr id="13" name="Text 10"/>
          <p:cNvSpPr txBox="1"/>
          <p:nvPr/>
        </p:nvSpPr>
        <p:spPr>
          <a:xfrm>
            <a:off x="6484468" y="3730752"/>
            <a:ext cx="3012338" cy="640080"/>
          </a:xfrm>
          <a:prstGeom prst="rect">
            <a:avLst/>
          </a:prstGeom>
          <a:noFill/>
          <a:ln/>
        </p:spPr>
        <p:txBody>
          <a:bodyPr wrap="square" lIns="0" tIns="0" rIns="0" bIns="0" rtlCol="0" anchor="t">
            <a:normAutofit/>
          </a:bodyPr>
          <a:lstStyle/>
          <a:p>
            <a:pPr algn="ctr" indent="0" marL="0">
              <a:buNone/>
            </a:pPr>
            <a:r>
              <a:rPr lang="en-US" sz="1400" b="1" dirty="0">
                <a:solidFill>
                  <a:srgbClr val="C44B2F"/>
                </a:solidFill>
                <a:latin typeface="Arial" pitchFamily="34" charset="0"/>
                <a:ea typeface="Arial" pitchFamily="34" charset="-122"/>
                <a:cs typeface="Arial" pitchFamily="34" charset="-120"/>
              </a:rPr>
              <a:t>agents as default practice</a:t>
            </a:r>
            <a:endParaRPr lang="en-US" sz="1400" dirty="0"/>
          </a:p>
        </p:txBody>
      </p:sp>
      <p:sp>
        <p:nvSpPr>
          <p:cNvPr id="14" name="Shape 11"/>
          <p:cNvSpPr/>
          <p:nvPr/>
        </p:nvSpPr>
        <p:spPr>
          <a:xfrm>
            <a:off x="7990637" y="4370832"/>
            <a:ext cx="0" cy="274320"/>
          </a:xfrm>
          <a:prstGeom prst="line">
            <a:avLst/>
          </a:prstGeom>
          <a:noFill/>
          <a:ln w="25400">
            <a:solidFill>
              <a:srgbClr val="C44B2F"/>
            </a:solidFill>
            <a:prstDash val="dash"/>
            <a:headEnd type="none"/>
            <a:tailEnd type="none"/>
          </a:ln>
        </p:spPr>
      </p:sp>
      <p:sp>
        <p:nvSpPr>
          <p:cNvPr id="15" name="Text 12"/>
          <p:cNvSpPr txBox="1"/>
          <p:nvPr/>
        </p:nvSpPr>
        <p:spPr>
          <a:xfrm>
            <a:off x="6118708" y="4690872"/>
            <a:ext cx="3743858" cy="457200"/>
          </a:xfrm>
          <a:prstGeom prst="rect">
            <a:avLst/>
          </a:prstGeom>
          <a:noFill/>
          <a:ln/>
        </p:spPr>
        <p:txBody>
          <a:bodyPr wrap="square" lIns="0" tIns="0" rIns="0" bIns="0" rtlCol="0" anchor="t">
            <a:normAutofit/>
          </a:bodyPr>
          <a:lstStyle/>
          <a:p>
            <a:pPr algn="ctr" indent="0" marL="0">
              <a:buNone/>
            </a:pPr>
            <a:r>
              <a:rPr lang="en-US" sz="1300" b="1" dirty="0">
                <a:solidFill>
                  <a:srgbClr val="C44B2F"/>
                </a:solidFill>
                <a:latin typeface="Arial" pitchFamily="34" charset="0"/>
                <a:ea typeface="Arial" pitchFamily="34" charset="-122"/>
                <a:cs typeface="Arial" pitchFamily="34" charset="-120"/>
              </a:rPr>
              <a:t>no shared practice yet</a:t>
            </a:r>
            <a:endParaRPr lang="en-US" sz="1300" dirty="0"/>
          </a:p>
        </p:txBody>
      </p:sp>
      <p:sp>
        <p:nvSpPr>
          <p:cNvPr id="16" name="Shape 13"/>
          <p:cNvSpPr/>
          <p:nvPr/>
        </p:nvSpPr>
        <p:spPr>
          <a:xfrm>
            <a:off x="10957255" y="3364992"/>
            <a:ext cx="274320" cy="274320"/>
          </a:xfrm>
          <a:prstGeom prst="ellipse">
            <a:avLst/>
          </a:prstGeom>
          <a:solidFill>
            <a:srgbClr val="3B6BA8"/>
          </a:solidFill>
          <a:ln w="12700">
            <a:solidFill>
              <a:srgbClr val="3B6BA8"/>
            </a:solidFill>
            <a:prstDash val="solid"/>
          </a:ln>
        </p:spPr>
      </p:sp>
      <p:sp>
        <p:nvSpPr>
          <p:cNvPr id="17" name="Text 14"/>
          <p:cNvSpPr txBox="1"/>
          <p:nvPr/>
        </p:nvSpPr>
        <p:spPr>
          <a:xfrm>
            <a:off x="8630717" y="2633472"/>
            <a:ext cx="3012338" cy="640080"/>
          </a:xfrm>
          <a:prstGeom prst="rect">
            <a:avLst/>
          </a:prstGeom>
          <a:noFill/>
          <a:ln/>
        </p:spPr>
        <p:txBody>
          <a:bodyPr wrap="square" lIns="0" tIns="0" rIns="0" bIns="0" rtlCol="0" anchor="b">
            <a:normAutofit/>
          </a:bodyPr>
          <a:lstStyle/>
          <a:p>
            <a:pPr algn="ctr" indent="0" marL="0">
              <a:buNone/>
            </a:pPr>
            <a:r>
              <a:rPr lang="en-US" sz="1400" dirty="0">
                <a:solidFill>
                  <a:srgbClr val="1F2933"/>
                </a:solidFill>
                <a:latin typeface="Arial" pitchFamily="34" charset="0"/>
                <a:ea typeface="Arial" pitchFamily="34" charset="-122"/>
                <a:cs typeface="Arial" pitchFamily="34" charset="-120"/>
              </a:rPr>
              <a:t>a shared practice for agents</a:t>
            </a:r>
            <a:endParaRPr lang="en-US" sz="1400" dirty="0"/>
          </a:p>
        </p:txBody>
      </p:sp>
      <p:sp>
        <p:nvSpPr>
          <p:cNvPr id="18" name="Text 15"/>
          <p:cNvSpPr txBox="1"/>
          <p:nvPr/>
        </p:nvSpPr>
        <p:spPr>
          <a:xfrm>
            <a:off x="4521098" y="5303520"/>
            <a:ext cx="6939077" cy="457200"/>
          </a:xfrm>
          <a:prstGeom prst="rect">
            <a:avLst/>
          </a:prstGeom>
          <a:noFill/>
          <a:ln/>
        </p:spPr>
        <p:txBody>
          <a:bodyPr wrap="square" lIns="0" tIns="0" rIns="0" bIns="0" rtlCol="0" anchor="b">
            <a:normAutofit/>
          </a:bodyPr>
          <a:lstStyle/>
          <a:p>
            <a:pPr algn="ctr" indent="0" marL="0">
              <a:buNone/>
            </a:pPr>
            <a:r>
              <a:rPr lang="en-US" sz="1200" dirty="0">
                <a:solidFill>
                  <a:srgbClr val="55606D"/>
                </a:solidFill>
                <a:latin typeface="Arial" pitchFamily="34" charset="0"/>
                <a:ea typeface="Arial" pitchFamily="34" charset="-122"/>
                <a:cs typeface="Arial" pitchFamily="34" charset="-120"/>
              </a:rPr>
              <a:t>how agent-written code became the default before any discipline caught up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Agent code drifts without a shared practice</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S3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3</a:t>
            </a:r>
            <a:endParaRPr lang="en-US" sz="1000" dirty="0"/>
          </a:p>
        </p:txBody>
      </p:sp>
      <p:sp>
        <p:nvSpPr>
          <p:cNvPr id="8" name="Text 5"/>
          <p:cNvSpPr txBox="1"/>
          <p:nvPr/>
        </p:nvSpPr>
        <p:spPr>
          <a:xfrm>
            <a:off x="7180402" y="1965960"/>
            <a:ext cx="4462653" cy="3840480"/>
          </a:xfrm>
          <a:prstGeom prst="rect">
            <a:avLst/>
          </a:prstGeom>
          <a:noFill/>
          <a:ln/>
        </p:spPr>
        <p:txBody>
          <a:bodyPr wrap="square" lIns="0" tIns="0" rIns="0" bIns="0" rtlCol="0" anchor="t"/>
          <a:lstStyle/>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Specs, designs, and tests fall out of sync because nobody walks them between sessions</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A feature ships whose design contradicts a decision recorded months earlier</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Each new conversation re-improvises the workflow, so reviews get skipped</a:t>
            </a:r>
            <a:endParaRPr lang="en-US" sz="1800" dirty="0"/>
          </a:p>
        </p:txBody>
      </p:sp>
      <p:sp>
        <p:nvSpPr>
          <p:cNvPr id="9" name="Shape 6"/>
          <p:cNvSpPr/>
          <p:nvPr/>
        </p:nvSpPr>
        <p:spPr>
          <a:xfrm>
            <a:off x="548640" y="1965960"/>
            <a:ext cx="1936267" cy="3840480"/>
          </a:xfrm>
          <a:prstGeom prst="roundRect">
            <a:avLst>
              <a:gd name="adj" fmla="val 4722"/>
            </a:avLst>
          </a:prstGeom>
          <a:solidFill>
            <a:srgbClr val="F3F5F8"/>
          </a:solidFill>
          <a:ln w="9525">
            <a:solidFill>
              <a:srgbClr val="D6DCE4"/>
            </a:solidFill>
            <a:prstDash val="solid"/>
          </a:ln>
        </p:spPr>
      </p:sp>
      <p:sp>
        <p:nvSpPr>
          <p:cNvPr id="10" name="Shape 7"/>
          <p:cNvSpPr/>
          <p:nvPr/>
        </p:nvSpPr>
        <p:spPr>
          <a:xfrm>
            <a:off x="1081114" y="2423160"/>
            <a:ext cx="871320" cy="871320"/>
          </a:xfrm>
          <a:prstGeom prst="ellipse">
            <a:avLst/>
          </a:prstGeom>
          <a:solidFill>
            <a:srgbClr val="3B6BA8"/>
          </a:solidFill>
          <a:ln w="12700">
            <a:solidFill>
              <a:srgbClr val="3B6BA8"/>
            </a:solidFill>
            <a:prstDash val="solid"/>
          </a:ln>
        </p:spPr>
      </p:sp>
      <p:pic>
        <p:nvPicPr>
          <p:cNvPr id="11" name="Image 0" descr="preencoded.png">    </p:cNvPr>
          <p:cNvPicPr>
            <a:picLocks noChangeAspect="1"/>
          </p:cNvPicPr>
          <p:nvPr/>
        </p:nvPicPr>
        <p:blipFill>
          <a:blip r:embed="rId1"/>
          <a:stretch>
            <a:fillRect/>
          </a:stretch>
        </p:blipFill>
        <p:spPr>
          <a:xfrm>
            <a:off x="1255378" y="2597424"/>
            <a:ext cx="522792" cy="522792"/>
          </a:xfrm>
          <a:prstGeom prst="rect">
            <a:avLst/>
          </a:prstGeom>
        </p:spPr>
      </p:pic>
      <p:sp>
        <p:nvSpPr>
          <p:cNvPr id="12" name="Text 8"/>
          <p:cNvSpPr txBox="1"/>
          <p:nvPr/>
        </p:nvSpPr>
        <p:spPr>
          <a:xfrm>
            <a:off x="621792" y="3523080"/>
            <a:ext cx="1789963"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Drift</a:t>
            </a:r>
            <a:endParaRPr lang="en-US" sz="1600" dirty="0"/>
          </a:p>
        </p:txBody>
      </p:sp>
      <p:sp>
        <p:nvSpPr>
          <p:cNvPr id="13" name="Text 9"/>
          <p:cNvSpPr txBox="1"/>
          <p:nvPr/>
        </p:nvSpPr>
        <p:spPr>
          <a:xfrm>
            <a:off x="685800" y="4026000"/>
            <a:ext cx="1661947" cy="1597560"/>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specs and code diverge between sessions</a:t>
            </a:r>
            <a:endParaRPr lang="en-US" sz="1300" dirty="0"/>
          </a:p>
        </p:txBody>
      </p:sp>
      <p:sp>
        <p:nvSpPr>
          <p:cNvPr id="14" name="Shape 10"/>
          <p:cNvSpPr/>
          <p:nvPr/>
        </p:nvSpPr>
        <p:spPr>
          <a:xfrm>
            <a:off x="2759227" y="1965960"/>
            <a:ext cx="1936267" cy="3840480"/>
          </a:xfrm>
          <a:prstGeom prst="roundRect">
            <a:avLst>
              <a:gd name="adj" fmla="val 4722"/>
            </a:avLst>
          </a:prstGeom>
          <a:solidFill>
            <a:srgbClr val="F3F5F8"/>
          </a:solidFill>
          <a:ln w="9525">
            <a:solidFill>
              <a:srgbClr val="D6DCE4"/>
            </a:solidFill>
            <a:prstDash val="solid"/>
          </a:ln>
        </p:spPr>
      </p:sp>
      <p:sp>
        <p:nvSpPr>
          <p:cNvPr id="15" name="Shape 11"/>
          <p:cNvSpPr/>
          <p:nvPr/>
        </p:nvSpPr>
        <p:spPr>
          <a:xfrm>
            <a:off x="3291701" y="2423160"/>
            <a:ext cx="871320" cy="871320"/>
          </a:xfrm>
          <a:prstGeom prst="ellipse">
            <a:avLst/>
          </a:prstGeom>
          <a:solidFill>
            <a:srgbClr val="6842A8"/>
          </a:solidFill>
          <a:ln w="12700">
            <a:solidFill>
              <a:srgbClr val="6842A8"/>
            </a:solidFill>
            <a:prstDash val="solid"/>
          </a:ln>
        </p:spPr>
      </p:sp>
      <p:pic>
        <p:nvPicPr>
          <p:cNvPr id="16" name="Image 1" descr="preencoded.png">    </p:cNvPr>
          <p:cNvPicPr>
            <a:picLocks noChangeAspect="1"/>
          </p:cNvPicPr>
          <p:nvPr/>
        </p:nvPicPr>
        <p:blipFill>
          <a:blip r:embed="rId2"/>
          <a:stretch>
            <a:fillRect/>
          </a:stretch>
        </p:blipFill>
        <p:spPr>
          <a:xfrm>
            <a:off x="3465965" y="2597424"/>
            <a:ext cx="522792" cy="522792"/>
          </a:xfrm>
          <a:prstGeom prst="rect">
            <a:avLst/>
          </a:prstGeom>
        </p:spPr>
      </p:pic>
      <p:sp>
        <p:nvSpPr>
          <p:cNvPr id="17" name="Text 12"/>
          <p:cNvSpPr txBox="1"/>
          <p:nvPr/>
        </p:nvSpPr>
        <p:spPr>
          <a:xfrm>
            <a:off x="2832379" y="3523080"/>
            <a:ext cx="1789963"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Contradiction</a:t>
            </a:r>
            <a:endParaRPr lang="en-US" sz="1600" dirty="0"/>
          </a:p>
        </p:txBody>
      </p:sp>
      <p:sp>
        <p:nvSpPr>
          <p:cNvPr id="18" name="Text 13"/>
          <p:cNvSpPr txBox="1"/>
          <p:nvPr/>
        </p:nvSpPr>
        <p:spPr>
          <a:xfrm>
            <a:off x="2896387" y="4026000"/>
            <a:ext cx="1661947" cy="1597560"/>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a design ignores an earlier decision</a:t>
            </a:r>
            <a:endParaRPr lang="en-US" sz="1300" dirty="0"/>
          </a:p>
        </p:txBody>
      </p:sp>
      <p:sp>
        <p:nvSpPr>
          <p:cNvPr id="19" name="Shape 14"/>
          <p:cNvSpPr/>
          <p:nvPr/>
        </p:nvSpPr>
        <p:spPr>
          <a:xfrm>
            <a:off x="4969815" y="1965960"/>
            <a:ext cx="1936267" cy="3840480"/>
          </a:xfrm>
          <a:prstGeom prst="roundRect">
            <a:avLst>
              <a:gd name="adj" fmla="val 4722"/>
            </a:avLst>
          </a:prstGeom>
          <a:solidFill>
            <a:srgbClr val="F3F5F8"/>
          </a:solidFill>
          <a:ln w="9525">
            <a:solidFill>
              <a:srgbClr val="D6DCE4"/>
            </a:solidFill>
            <a:prstDash val="solid"/>
          </a:ln>
        </p:spPr>
      </p:sp>
      <p:sp>
        <p:nvSpPr>
          <p:cNvPr id="20" name="Shape 15"/>
          <p:cNvSpPr/>
          <p:nvPr/>
        </p:nvSpPr>
        <p:spPr>
          <a:xfrm>
            <a:off x="5502288" y="2423160"/>
            <a:ext cx="871320" cy="871320"/>
          </a:xfrm>
          <a:prstGeom prst="ellipse">
            <a:avLst/>
          </a:prstGeom>
          <a:solidFill>
            <a:srgbClr val="C44B2F"/>
          </a:solidFill>
          <a:ln w="12700">
            <a:solidFill>
              <a:srgbClr val="C44B2F"/>
            </a:solidFill>
            <a:prstDash val="solid"/>
          </a:ln>
        </p:spPr>
      </p:sp>
      <p:pic>
        <p:nvPicPr>
          <p:cNvPr id="21" name="Image 2" descr="preencoded.png">    </p:cNvPr>
          <p:cNvPicPr>
            <a:picLocks noChangeAspect="1"/>
          </p:cNvPicPr>
          <p:nvPr/>
        </p:nvPicPr>
        <p:blipFill>
          <a:blip r:embed="rId3"/>
          <a:stretch>
            <a:fillRect/>
          </a:stretch>
        </p:blipFill>
        <p:spPr>
          <a:xfrm>
            <a:off x="5676552" y="2597424"/>
            <a:ext cx="522792" cy="522792"/>
          </a:xfrm>
          <a:prstGeom prst="rect">
            <a:avLst/>
          </a:prstGeom>
        </p:spPr>
      </p:pic>
      <p:sp>
        <p:nvSpPr>
          <p:cNvPr id="22" name="Text 16"/>
          <p:cNvSpPr txBox="1"/>
          <p:nvPr/>
        </p:nvSpPr>
        <p:spPr>
          <a:xfrm>
            <a:off x="5042967" y="3523080"/>
            <a:ext cx="1789963"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Cold start</a:t>
            </a:r>
            <a:endParaRPr lang="en-US" sz="1600" dirty="0"/>
          </a:p>
        </p:txBody>
      </p:sp>
      <p:sp>
        <p:nvSpPr>
          <p:cNvPr id="23" name="Text 17"/>
          <p:cNvSpPr txBox="1"/>
          <p:nvPr/>
        </p:nvSpPr>
        <p:spPr>
          <a:xfrm>
            <a:off x="5106975" y="4026000"/>
            <a:ext cx="1661947" cy="1597560"/>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every session starts from zero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HELIX is the shared practice, built from templates</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S4, S5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4</a:t>
            </a:r>
            <a:endParaRPr lang="en-US" sz="1000" dirty="0"/>
          </a:p>
        </p:txBody>
      </p:sp>
      <p:sp>
        <p:nvSpPr>
          <p:cNvPr id="8" name="guide ring"/>
          <p:cNvSpPr/>
          <p:nvPr/>
        </p:nvSpPr>
        <p:spPr>
          <a:xfrm>
            <a:off x="3375508" y="2286000"/>
            <a:ext cx="5440680" cy="3200400"/>
          </a:xfrm>
          <a:prstGeom prst="ellipse">
            <a:avLst/>
          </a:prstGeom>
          <a:ln w="38100">
            <a:solidFill>
              <a:srgbClr val="D6DCE4"/>
            </a:solidFill>
            <a:prstDash val="dash"/>
          </a:ln>
        </p:spPr>
      </p:sp>
      <p:sp>
        <p:nvSpPr>
          <p:cNvPr id="9" name="Text 6"/>
          <p:cNvSpPr txBox="1"/>
          <p:nvPr/>
        </p:nvSpPr>
        <p:spPr>
          <a:xfrm>
            <a:off x="4724248" y="3429000"/>
            <a:ext cx="2743200" cy="914400"/>
          </a:xfrm>
          <a:prstGeom prst="rect">
            <a:avLst/>
          </a:prstGeom>
          <a:noFill/>
          <a:ln/>
        </p:spPr>
        <p:txBody>
          <a:bodyPr wrap="square" lIns="0" tIns="0" rIns="0" bIns="0" rtlCol="0" anchor="ctr">
            <a:normAutofit/>
          </a:bodyPr>
          <a:lstStyle/>
          <a:p>
            <a:pPr algn="ctr" indent="0" marL="0">
              <a:buNone/>
            </a:pPr>
            <a:r>
              <a:rPr lang="en-US" sz="2200" b="1" dirty="0">
                <a:solidFill>
                  <a:srgbClr val="3B6BA8"/>
                </a:solidFill>
                <a:latin typeface="Georgia" pitchFamily="34" charset="0"/>
                <a:ea typeface="Georgia" pitchFamily="34" charset="-122"/>
                <a:cs typeface="Georgia" pitchFamily="34" charset="-120"/>
              </a:rPr>
              <a:t>53 templates</a:t>
            </a:r>
            <a:endParaRPr lang="en-US" sz="2200" dirty="0"/>
          </a:p>
        </p:txBody>
      </p:sp>
      <p:sp>
        <p:nvSpPr>
          <p:cNvPr id="10" name="Shape 7"/>
          <p:cNvSpPr/>
          <p:nvPr/>
        </p:nvSpPr>
        <p:spPr>
          <a:xfrm>
            <a:off x="5295748" y="2011680"/>
            <a:ext cx="1600200" cy="548640"/>
          </a:xfrm>
          <a:prstGeom prst="roundRect">
            <a:avLst>
              <a:gd name="adj" fmla="val 50000"/>
            </a:avLst>
          </a:prstGeom>
          <a:solidFill>
            <a:srgbClr val="3B6BA8"/>
          </a:solidFill>
          <a:ln w="9525">
            <a:solidFill>
              <a:srgbClr val="3B6BA8"/>
            </a:solidFill>
            <a:prstDash val="solid"/>
          </a:ln>
        </p:spPr>
      </p:sp>
      <p:pic>
        <p:nvPicPr>
          <p:cNvPr id="11" name="Image 0" descr="preencoded.png">    </p:cNvPr>
          <p:cNvPicPr>
            <a:picLocks noChangeAspect="1"/>
          </p:cNvPicPr>
          <p:nvPr/>
        </p:nvPicPr>
        <p:blipFill>
          <a:blip r:embed="rId1"/>
          <a:stretch>
            <a:fillRect/>
          </a:stretch>
        </p:blipFill>
        <p:spPr>
          <a:xfrm>
            <a:off x="5460340" y="2121408"/>
            <a:ext cx="329184" cy="329184"/>
          </a:xfrm>
          <a:prstGeom prst="rect">
            <a:avLst/>
          </a:prstGeom>
        </p:spPr>
      </p:pic>
      <p:sp>
        <p:nvSpPr>
          <p:cNvPr id="12" name="Text 8"/>
          <p:cNvSpPr txBox="1"/>
          <p:nvPr/>
        </p:nvSpPr>
        <p:spPr>
          <a:xfrm>
            <a:off x="5880964" y="2057400"/>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Discover</a:t>
            </a:r>
            <a:endParaRPr lang="en-US" sz="1400" dirty="0"/>
          </a:p>
        </p:txBody>
      </p:sp>
      <p:pic>
        <p:nvPicPr>
          <p:cNvPr id="13" name="guide arrow" descr="preencoded.png">    </p:cNvPr>
          <p:cNvPicPr>
            <a:picLocks noChangeAspect="1"/>
          </p:cNvPicPr>
          <p:nvPr/>
        </p:nvPicPr>
        <p:blipFill>
          <a:blip r:embed="rId2"/>
          <a:stretch>
            <a:fillRect/>
          </a:stretch>
        </p:blipFill>
        <p:spPr>
          <a:xfrm rot="1560000">
            <a:off x="7148143" y="2316454"/>
            <a:ext cx="256032" cy="256032"/>
          </a:xfrm>
          <a:prstGeom prst="rect">
            <a:avLst/>
          </a:prstGeom>
        </p:spPr>
      </p:pic>
      <p:sp>
        <p:nvSpPr>
          <p:cNvPr id="14" name="Shape 9"/>
          <p:cNvSpPr/>
          <p:nvPr/>
        </p:nvSpPr>
        <p:spPr>
          <a:xfrm>
            <a:off x="7422595" y="2614172"/>
            <a:ext cx="1600200" cy="548640"/>
          </a:xfrm>
          <a:prstGeom prst="roundRect">
            <a:avLst>
              <a:gd name="adj" fmla="val 50000"/>
            </a:avLst>
          </a:prstGeom>
          <a:solidFill>
            <a:srgbClr val="3B6BA8"/>
          </a:solidFill>
          <a:ln w="9525">
            <a:solidFill>
              <a:srgbClr val="3B6BA8"/>
            </a:solidFill>
            <a:prstDash val="solid"/>
          </a:ln>
        </p:spPr>
      </p:sp>
      <p:pic>
        <p:nvPicPr>
          <p:cNvPr id="15" name="Image 2" descr="preencoded.png">    </p:cNvPr>
          <p:cNvPicPr>
            <a:picLocks noChangeAspect="1"/>
          </p:cNvPicPr>
          <p:nvPr/>
        </p:nvPicPr>
        <p:blipFill>
          <a:blip r:embed="rId3"/>
          <a:stretch>
            <a:fillRect/>
          </a:stretch>
        </p:blipFill>
        <p:spPr>
          <a:xfrm>
            <a:off x="7587187" y="2723900"/>
            <a:ext cx="329184" cy="329184"/>
          </a:xfrm>
          <a:prstGeom prst="rect">
            <a:avLst/>
          </a:prstGeom>
        </p:spPr>
      </p:pic>
      <p:sp>
        <p:nvSpPr>
          <p:cNvPr id="16" name="Text 10"/>
          <p:cNvSpPr txBox="1"/>
          <p:nvPr/>
        </p:nvSpPr>
        <p:spPr>
          <a:xfrm>
            <a:off x="8007811" y="2659892"/>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Frame</a:t>
            </a:r>
            <a:endParaRPr lang="en-US" sz="1400" dirty="0"/>
          </a:p>
        </p:txBody>
      </p:sp>
      <p:pic>
        <p:nvPicPr>
          <p:cNvPr id="17" name="guide arrow" descr="preencoded.png">    </p:cNvPr>
          <p:cNvPicPr>
            <a:picLocks noChangeAspect="1"/>
          </p:cNvPicPr>
          <p:nvPr/>
        </p:nvPicPr>
        <p:blipFill>
          <a:blip r:embed="rId4"/>
          <a:stretch>
            <a:fillRect/>
          </a:stretch>
        </p:blipFill>
        <p:spPr>
          <a:xfrm rot="4620000">
            <a:off x="8619967" y="3402106"/>
            <a:ext cx="256032" cy="256032"/>
          </a:xfrm>
          <a:prstGeom prst="rect">
            <a:avLst/>
          </a:prstGeom>
        </p:spPr>
      </p:pic>
      <p:sp>
        <p:nvSpPr>
          <p:cNvPr id="18" name="Shape 11"/>
          <p:cNvSpPr/>
          <p:nvPr/>
        </p:nvSpPr>
        <p:spPr>
          <a:xfrm>
            <a:off x="7947883" y="3967958"/>
            <a:ext cx="1600200" cy="548640"/>
          </a:xfrm>
          <a:prstGeom prst="roundRect">
            <a:avLst>
              <a:gd name="adj" fmla="val 50000"/>
            </a:avLst>
          </a:prstGeom>
          <a:solidFill>
            <a:srgbClr val="3B6BA8"/>
          </a:solidFill>
          <a:ln w="9525">
            <a:solidFill>
              <a:srgbClr val="3B6BA8"/>
            </a:solidFill>
            <a:prstDash val="solid"/>
          </a:ln>
        </p:spPr>
      </p:sp>
      <p:pic>
        <p:nvPicPr>
          <p:cNvPr id="19" name="Image 4" descr="preencoded.png">    </p:cNvPr>
          <p:cNvPicPr>
            <a:picLocks noChangeAspect="1"/>
          </p:cNvPicPr>
          <p:nvPr/>
        </p:nvPicPr>
        <p:blipFill>
          <a:blip r:embed="rId5"/>
          <a:stretch>
            <a:fillRect/>
          </a:stretch>
        </p:blipFill>
        <p:spPr>
          <a:xfrm>
            <a:off x="8112475" y="4077686"/>
            <a:ext cx="329184" cy="329184"/>
          </a:xfrm>
          <a:prstGeom prst="rect">
            <a:avLst/>
          </a:prstGeom>
        </p:spPr>
      </p:pic>
      <p:sp>
        <p:nvSpPr>
          <p:cNvPr id="20" name="Text 12"/>
          <p:cNvSpPr txBox="1"/>
          <p:nvPr/>
        </p:nvSpPr>
        <p:spPr>
          <a:xfrm>
            <a:off x="8533099" y="4013678"/>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Design</a:t>
            </a:r>
            <a:endParaRPr lang="en-US" sz="1400" dirty="0"/>
          </a:p>
        </p:txBody>
      </p:sp>
      <p:pic>
        <p:nvPicPr>
          <p:cNvPr id="21" name="guide arrow" descr="preencoded.png">    </p:cNvPr>
          <p:cNvPicPr>
            <a:picLocks noChangeAspect="1"/>
          </p:cNvPicPr>
          <p:nvPr/>
        </p:nvPicPr>
        <p:blipFill>
          <a:blip r:embed="rId6"/>
          <a:stretch>
            <a:fillRect/>
          </a:stretch>
        </p:blipFill>
        <p:spPr>
          <a:xfrm rot="7740000">
            <a:off x="8094679" y="4755892"/>
            <a:ext cx="256032" cy="256032"/>
          </a:xfrm>
          <a:prstGeom prst="rect">
            <a:avLst/>
          </a:prstGeom>
        </p:spPr>
      </p:pic>
      <p:sp>
        <p:nvSpPr>
          <p:cNvPr id="22" name="Shape 13"/>
          <p:cNvSpPr/>
          <p:nvPr/>
        </p:nvSpPr>
        <p:spPr>
          <a:xfrm>
            <a:off x="6476059" y="5053610"/>
            <a:ext cx="1600200" cy="548640"/>
          </a:xfrm>
          <a:prstGeom prst="roundRect">
            <a:avLst>
              <a:gd name="adj" fmla="val 50000"/>
            </a:avLst>
          </a:prstGeom>
          <a:solidFill>
            <a:srgbClr val="3B6BA8"/>
          </a:solidFill>
          <a:ln w="9525">
            <a:solidFill>
              <a:srgbClr val="3B6BA8"/>
            </a:solidFill>
            <a:prstDash val="solid"/>
          </a:ln>
        </p:spPr>
      </p:sp>
      <p:pic>
        <p:nvPicPr>
          <p:cNvPr id="23" name="Image 6" descr="preencoded.png">    </p:cNvPr>
          <p:cNvPicPr>
            <a:picLocks noChangeAspect="1"/>
          </p:cNvPicPr>
          <p:nvPr/>
        </p:nvPicPr>
        <p:blipFill>
          <a:blip r:embed="rId7"/>
          <a:stretch>
            <a:fillRect/>
          </a:stretch>
        </p:blipFill>
        <p:spPr>
          <a:xfrm>
            <a:off x="6640651" y="5163338"/>
            <a:ext cx="329184" cy="329184"/>
          </a:xfrm>
          <a:prstGeom prst="rect">
            <a:avLst/>
          </a:prstGeom>
        </p:spPr>
      </p:pic>
      <p:sp>
        <p:nvSpPr>
          <p:cNvPr id="24" name="Text 14"/>
          <p:cNvSpPr txBox="1"/>
          <p:nvPr/>
        </p:nvSpPr>
        <p:spPr>
          <a:xfrm>
            <a:off x="7061275" y="5099330"/>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Test</a:t>
            </a:r>
            <a:endParaRPr lang="en-US" sz="1400" dirty="0"/>
          </a:p>
        </p:txBody>
      </p:sp>
      <p:pic>
        <p:nvPicPr>
          <p:cNvPr id="25" name="guide arrow" descr="preencoded.png">    </p:cNvPr>
          <p:cNvPicPr>
            <a:picLocks noChangeAspect="1"/>
          </p:cNvPicPr>
          <p:nvPr/>
        </p:nvPicPr>
        <p:blipFill>
          <a:blip r:embed="rId8"/>
          <a:stretch>
            <a:fillRect/>
          </a:stretch>
        </p:blipFill>
        <p:spPr>
          <a:xfrm rot="10800000">
            <a:off x="5967832" y="5358384"/>
            <a:ext cx="256032" cy="256032"/>
          </a:xfrm>
          <a:prstGeom prst="rect">
            <a:avLst/>
          </a:prstGeom>
        </p:spPr>
      </p:pic>
      <p:sp>
        <p:nvSpPr>
          <p:cNvPr id="26" name="Shape 15"/>
          <p:cNvSpPr/>
          <p:nvPr/>
        </p:nvSpPr>
        <p:spPr>
          <a:xfrm>
            <a:off x="4115436" y="5053610"/>
            <a:ext cx="1600200" cy="548640"/>
          </a:xfrm>
          <a:prstGeom prst="roundRect">
            <a:avLst>
              <a:gd name="adj" fmla="val 50000"/>
            </a:avLst>
          </a:prstGeom>
          <a:solidFill>
            <a:srgbClr val="3B6BA8"/>
          </a:solidFill>
          <a:ln w="9525">
            <a:solidFill>
              <a:srgbClr val="3B6BA8"/>
            </a:solidFill>
            <a:prstDash val="solid"/>
          </a:ln>
        </p:spPr>
      </p:sp>
      <p:pic>
        <p:nvPicPr>
          <p:cNvPr id="27" name="Image 8" descr="preencoded.png">    </p:cNvPr>
          <p:cNvPicPr>
            <a:picLocks noChangeAspect="1"/>
          </p:cNvPicPr>
          <p:nvPr/>
        </p:nvPicPr>
        <p:blipFill>
          <a:blip r:embed="rId9"/>
          <a:stretch>
            <a:fillRect/>
          </a:stretch>
        </p:blipFill>
        <p:spPr>
          <a:xfrm>
            <a:off x="4280028" y="5163338"/>
            <a:ext cx="329184" cy="329184"/>
          </a:xfrm>
          <a:prstGeom prst="rect">
            <a:avLst/>
          </a:prstGeom>
        </p:spPr>
      </p:pic>
      <p:sp>
        <p:nvSpPr>
          <p:cNvPr id="28" name="Text 16"/>
          <p:cNvSpPr txBox="1"/>
          <p:nvPr/>
        </p:nvSpPr>
        <p:spPr>
          <a:xfrm>
            <a:off x="4700652" y="5099330"/>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Build</a:t>
            </a:r>
            <a:endParaRPr lang="en-US" sz="1400" dirty="0"/>
          </a:p>
        </p:txBody>
      </p:sp>
      <p:pic>
        <p:nvPicPr>
          <p:cNvPr id="29" name="guide arrow" descr="preencoded.png">    </p:cNvPr>
          <p:cNvPicPr>
            <a:picLocks noChangeAspect="1"/>
          </p:cNvPicPr>
          <p:nvPr/>
        </p:nvPicPr>
        <p:blipFill>
          <a:blip r:embed="rId10"/>
          <a:stretch>
            <a:fillRect/>
          </a:stretch>
        </p:blipFill>
        <p:spPr>
          <a:xfrm rot="13860000">
            <a:off x="3840984" y="4755892"/>
            <a:ext cx="256032" cy="256032"/>
          </a:xfrm>
          <a:prstGeom prst="rect">
            <a:avLst/>
          </a:prstGeom>
        </p:spPr>
      </p:pic>
      <p:sp>
        <p:nvSpPr>
          <p:cNvPr id="30" name="Shape 17"/>
          <p:cNvSpPr/>
          <p:nvPr/>
        </p:nvSpPr>
        <p:spPr>
          <a:xfrm>
            <a:off x="2643612" y="3967958"/>
            <a:ext cx="1600200" cy="548640"/>
          </a:xfrm>
          <a:prstGeom prst="roundRect">
            <a:avLst>
              <a:gd name="adj" fmla="val 50000"/>
            </a:avLst>
          </a:prstGeom>
          <a:solidFill>
            <a:srgbClr val="3B6BA8"/>
          </a:solidFill>
          <a:ln w="9525">
            <a:solidFill>
              <a:srgbClr val="3B6BA8"/>
            </a:solidFill>
            <a:prstDash val="solid"/>
          </a:ln>
        </p:spPr>
      </p:sp>
      <p:pic>
        <p:nvPicPr>
          <p:cNvPr id="31" name="Image 10" descr="preencoded.png">    </p:cNvPr>
          <p:cNvPicPr>
            <a:picLocks noChangeAspect="1"/>
          </p:cNvPicPr>
          <p:nvPr/>
        </p:nvPicPr>
        <p:blipFill>
          <a:blip r:embed="rId11"/>
          <a:stretch>
            <a:fillRect/>
          </a:stretch>
        </p:blipFill>
        <p:spPr>
          <a:xfrm>
            <a:off x="2808204" y="4077686"/>
            <a:ext cx="329184" cy="329184"/>
          </a:xfrm>
          <a:prstGeom prst="rect">
            <a:avLst/>
          </a:prstGeom>
        </p:spPr>
      </p:pic>
      <p:sp>
        <p:nvSpPr>
          <p:cNvPr id="32" name="Text 18"/>
          <p:cNvSpPr txBox="1"/>
          <p:nvPr/>
        </p:nvSpPr>
        <p:spPr>
          <a:xfrm>
            <a:off x="3228828" y="4013678"/>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Deploy</a:t>
            </a:r>
            <a:endParaRPr lang="en-US" sz="1400" dirty="0"/>
          </a:p>
        </p:txBody>
      </p:sp>
      <p:pic>
        <p:nvPicPr>
          <p:cNvPr id="33" name="guide arrow" descr="preencoded.png">    </p:cNvPr>
          <p:cNvPicPr>
            <a:picLocks noChangeAspect="1"/>
          </p:cNvPicPr>
          <p:nvPr/>
        </p:nvPicPr>
        <p:blipFill>
          <a:blip r:embed="rId12"/>
          <a:stretch>
            <a:fillRect/>
          </a:stretch>
        </p:blipFill>
        <p:spPr>
          <a:xfrm rot="16980000">
            <a:off x="3315696" y="3402106"/>
            <a:ext cx="256032" cy="256032"/>
          </a:xfrm>
          <a:prstGeom prst="rect">
            <a:avLst/>
          </a:prstGeom>
        </p:spPr>
      </p:pic>
      <p:sp>
        <p:nvSpPr>
          <p:cNvPr id="34" name="Shape 19"/>
          <p:cNvSpPr/>
          <p:nvPr/>
        </p:nvSpPr>
        <p:spPr>
          <a:xfrm>
            <a:off x="3168900" y="2614172"/>
            <a:ext cx="1600200" cy="548640"/>
          </a:xfrm>
          <a:prstGeom prst="roundRect">
            <a:avLst>
              <a:gd name="adj" fmla="val 50000"/>
            </a:avLst>
          </a:prstGeom>
          <a:solidFill>
            <a:srgbClr val="3B6BA8"/>
          </a:solidFill>
          <a:ln w="9525">
            <a:solidFill>
              <a:srgbClr val="3B6BA8"/>
            </a:solidFill>
            <a:prstDash val="solid"/>
          </a:ln>
        </p:spPr>
      </p:sp>
      <p:pic>
        <p:nvPicPr>
          <p:cNvPr id="35" name="Image 12" descr="preencoded.png">    </p:cNvPr>
          <p:cNvPicPr>
            <a:picLocks noChangeAspect="1"/>
          </p:cNvPicPr>
          <p:nvPr/>
        </p:nvPicPr>
        <p:blipFill>
          <a:blip r:embed="rId13"/>
          <a:stretch>
            <a:fillRect/>
          </a:stretch>
        </p:blipFill>
        <p:spPr>
          <a:xfrm>
            <a:off x="3333492" y="2723900"/>
            <a:ext cx="329184" cy="329184"/>
          </a:xfrm>
          <a:prstGeom prst="rect">
            <a:avLst/>
          </a:prstGeom>
        </p:spPr>
      </p:pic>
      <p:sp>
        <p:nvSpPr>
          <p:cNvPr id="36" name="Text 20"/>
          <p:cNvSpPr txBox="1"/>
          <p:nvPr/>
        </p:nvSpPr>
        <p:spPr>
          <a:xfrm>
            <a:off x="3754116" y="2659892"/>
            <a:ext cx="877824" cy="457200"/>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rial" pitchFamily="34" charset="0"/>
                <a:ea typeface="Arial" pitchFamily="34" charset="-122"/>
                <a:cs typeface="Arial" pitchFamily="34" charset="-120"/>
              </a:rPr>
              <a:t>Iterate</a:t>
            </a:r>
            <a:endParaRPr lang="en-US" sz="1400" dirty="0"/>
          </a:p>
        </p:txBody>
      </p:sp>
      <p:pic>
        <p:nvPicPr>
          <p:cNvPr id="37" name="guide arrow" descr="preencoded.png">    </p:cNvPr>
          <p:cNvPicPr>
            <a:picLocks noChangeAspect="1"/>
          </p:cNvPicPr>
          <p:nvPr/>
        </p:nvPicPr>
        <p:blipFill>
          <a:blip r:embed="rId14"/>
          <a:stretch>
            <a:fillRect/>
          </a:stretch>
        </p:blipFill>
        <p:spPr>
          <a:xfrm rot="20040000">
            <a:off x="4787520" y="2316454"/>
            <a:ext cx="256032" cy="2560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One skill reads the templates and routes each request</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S4, S6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5</a:t>
            </a:r>
            <a:endParaRPr lang="en-US" sz="1000" dirty="0"/>
          </a:p>
        </p:txBody>
      </p:sp>
      <p:sp>
        <p:nvSpPr>
          <p:cNvPr id="8" name="Text 5"/>
          <p:cNvSpPr txBox="1"/>
          <p:nvPr/>
        </p:nvSpPr>
        <p:spPr>
          <a:xfrm>
            <a:off x="548640" y="1965960"/>
            <a:ext cx="3515258" cy="3840480"/>
          </a:xfrm>
          <a:prstGeom prst="rect">
            <a:avLst/>
          </a:prstGeom>
          <a:noFill/>
          <a:ln/>
        </p:spPr>
        <p:txBody>
          <a:bodyPr wrap="square" lIns="0" tIns="0" rIns="0" bIns="0" rtlCol="0" anchor="t"/>
          <a:lstStyle/>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A single skill installs on the agent runtime and reads the same documents</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It routes each request to one of twenty-one modes</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Alignment is the required mode; it finds drift and hands back a plan</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The skill body is portable: no runtime commands, so it loads on any host</a:t>
            </a:r>
            <a:endParaRPr lang="en-US" sz="1800" dirty="0"/>
          </a:p>
        </p:txBody>
      </p:sp>
      <p:sp>
        <p:nvSpPr>
          <p:cNvPr id="9" name="Shape 6"/>
          <p:cNvSpPr/>
          <p:nvPr/>
        </p:nvSpPr>
        <p:spPr>
          <a:xfrm>
            <a:off x="4338218" y="3383280"/>
            <a:ext cx="2194560" cy="1005840"/>
          </a:xfrm>
          <a:prstGeom prst="roundRect">
            <a:avLst>
              <a:gd name="adj" fmla="val 10909"/>
            </a:avLst>
          </a:prstGeom>
          <a:solidFill>
            <a:srgbClr val="3B6BA8"/>
          </a:solidFill>
          <a:ln w="9525">
            <a:solidFill>
              <a:srgbClr val="3B6BA8"/>
            </a:solidFill>
            <a:prstDash val="solid"/>
          </a:ln>
        </p:spPr>
      </p:sp>
      <p:sp>
        <p:nvSpPr>
          <p:cNvPr id="10" name="Text 7"/>
          <p:cNvSpPr txBox="1"/>
          <p:nvPr/>
        </p:nvSpPr>
        <p:spPr>
          <a:xfrm>
            <a:off x="4521098" y="3474720"/>
            <a:ext cx="1828800" cy="82296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One skill</a:t>
            </a:r>
            <a:endParaRPr lang="en-US" sz="1800" dirty="0"/>
          </a:p>
        </p:txBody>
      </p:sp>
      <p:sp>
        <p:nvSpPr>
          <p:cNvPr id="11" name="Shape 8"/>
          <p:cNvSpPr/>
          <p:nvPr/>
        </p:nvSpPr>
        <p:spPr>
          <a:xfrm>
            <a:off x="6532778" y="3886200"/>
            <a:ext cx="411480" cy="0"/>
          </a:xfrm>
          <a:prstGeom prst="line">
            <a:avLst/>
          </a:prstGeom>
          <a:noFill/>
          <a:ln w="19050">
            <a:solidFill>
              <a:srgbClr val="D6DCE4"/>
            </a:solidFill>
            <a:prstDash val="solid"/>
            <a:headEnd type="none"/>
            <a:tailEnd type="none"/>
          </a:ln>
        </p:spPr>
      </p:sp>
      <p:sp>
        <p:nvSpPr>
          <p:cNvPr id="12" name="Shape 9"/>
          <p:cNvSpPr/>
          <p:nvPr/>
        </p:nvSpPr>
        <p:spPr>
          <a:xfrm>
            <a:off x="6944258" y="2720340"/>
            <a:ext cx="0" cy="2331720"/>
          </a:xfrm>
          <a:prstGeom prst="line">
            <a:avLst/>
          </a:prstGeom>
          <a:noFill/>
          <a:ln w="19050">
            <a:solidFill>
              <a:srgbClr val="D6DCE4"/>
            </a:solidFill>
            <a:prstDash val="solid"/>
            <a:headEnd type="none"/>
            <a:tailEnd type="none"/>
          </a:ln>
        </p:spPr>
      </p:sp>
      <p:sp>
        <p:nvSpPr>
          <p:cNvPr id="13" name="Shape 10"/>
          <p:cNvSpPr/>
          <p:nvPr/>
        </p:nvSpPr>
        <p:spPr>
          <a:xfrm>
            <a:off x="6944258" y="2720340"/>
            <a:ext cx="384048" cy="0"/>
          </a:xfrm>
          <a:prstGeom prst="line">
            <a:avLst/>
          </a:prstGeom>
          <a:noFill/>
          <a:ln w="19050">
            <a:solidFill>
              <a:srgbClr val="D6DCE4"/>
            </a:solidFill>
            <a:prstDash val="solid"/>
            <a:headEnd type="none"/>
            <a:tailEnd type="none"/>
          </a:ln>
        </p:spPr>
      </p:sp>
      <p:sp>
        <p:nvSpPr>
          <p:cNvPr id="14" name="Shape 11"/>
          <p:cNvSpPr/>
          <p:nvPr/>
        </p:nvSpPr>
        <p:spPr>
          <a:xfrm>
            <a:off x="7355738" y="2491740"/>
            <a:ext cx="457200" cy="457200"/>
          </a:xfrm>
          <a:prstGeom prst="ellipse">
            <a:avLst/>
          </a:prstGeom>
          <a:solidFill>
            <a:srgbClr val="3B6BA8"/>
          </a:solidFill>
          <a:ln w="12700">
            <a:solidFill>
              <a:srgbClr val="3B6BA8"/>
            </a:solidFill>
            <a:prstDash val="solid"/>
          </a:ln>
        </p:spPr>
      </p:sp>
      <p:pic>
        <p:nvPicPr>
          <p:cNvPr id="15" name="Image 0" descr="preencoded.png">    </p:cNvPr>
          <p:cNvPicPr>
            <a:picLocks noChangeAspect="1"/>
          </p:cNvPicPr>
          <p:nvPr/>
        </p:nvPicPr>
        <p:blipFill>
          <a:blip r:embed="rId1"/>
          <a:stretch>
            <a:fillRect/>
          </a:stretch>
        </p:blipFill>
        <p:spPr>
          <a:xfrm>
            <a:off x="7447178" y="2583180"/>
            <a:ext cx="274320" cy="274320"/>
          </a:xfrm>
          <a:prstGeom prst="rect">
            <a:avLst/>
          </a:prstGeom>
        </p:spPr>
      </p:pic>
      <p:sp>
        <p:nvSpPr>
          <p:cNvPr id="16" name="Text 12"/>
          <p:cNvSpPr txBox="1"/>
          <p:nvPr/>
        </p:nvSpPr>
        <p:spPr>
          <a:xfrm>
            <a:off x="7995818" y="2350008"/>
            <a:ext cx="3647237" cy="349758"/>
          </a:xfrm>
          <a:prstGeom prst="rect">
            <a:avLst/>
          </a:prstGeom>
          <a:noFill/>
          <a:ln/>
        </p:spPr>
        <p:txBody>
          <a:bodyPr wrap="square" lIns="0" tIns="0" rIns="0" bIns="0" rtlCol="0" anchor="b">
            <a:normAutofit/>
          </a:bodyPr>
          <a:lstStyle/>
          <a:p>
            <a:pPr algn="l" indent="0" marL="0">
              <a:buNone/>
            </a:pPr>
            <a:r>
              <a:rPr lang="en-US" sz="1500" b="1" dirty="0">
                <a:solidFill>
                  <a:srgbClr val="1F2933"/>
                </a:solidFill>
                <a:latin typeface="Arial" pitchFamily="34" charset="0"/>
                <a:ea typeface="Arial" pitchFamily="34" charset="-122"/>
                <a:cs typeface="Arial" pitchFamily="34" charset="-120"/>
              </a:rPr>
              <a:t>Frame</a:t>
            </a:r>
            <a:endParaRPr lang="en-US" sz="1500" dirty="0"/>
          </a:p>
        </p:txBody>
      </p:sp>
      <p:sp>
        <p:nvSpPr>
          <p:cNvPr id="17" name="Text 13"/>
          <p:cNvSpPr txBox="1"/>
          <p:nvPr/>
        </p:nvSpPr>
        <p:spPr>
          <a:xfrm>
            <a:off x="7995818" y="2720340"/>
            <a:ext cx="3647237" cy="373075"/>
          </a:xfrm>
          <a:prstGeom prst="rect">
            <a:avLst/>
          </a:prstGeom>
          <a:noFill/>
          <a:ln/>
        </p:spPr>
        <p:txBody>
          <a:bodyPr wrap="square" lIns="0" tIns="0" rIns="0" bIns="0" rtlCol="0" anchor="t">
            <a:normAutofit/>
          </a:bodyPr>
          <a:lstStyle/>
          <a:p>
            <a:pPr algn="l" indent="0" marL="0">
              <a:buNone/>
            </a:pPr>
            <a:r>
              <a:rPr lang="en-US" sz="1200" dirty="0">
                <a:solidFill>
                  <a:srgbClr val="55606D"/>
                </a:solidFill>
                <a:latin typeface="Arial" pitchFamily="34" charset="0"/>
                <a:ea typeface="Arial" pitchFamily="34" charset="-122"/>
                <a:cs typeface="Arial" pitchFamily="34" charset="-120"/>
              </a:rPr>
              <a:t>vision, requirements, stories</a:t>
            </a:r>
            <a:endParaRPr lang="en-US" sz="1200" dirty="0"/>
          </a:p>
        </p:txBody>
      </p:sp>
      <p:sp>
        <p:nvSpPr>
          <p:cNvPr id="18" name="Shape 14"/>
          <p:cNvSpPr/>
          <p:nvPr/>
        </p:nvSpPr>
        <p:spPr>
          <a:xfrm>
            <a:off x="6944258" y="3497580"/>
            <a:ext cx="384048" cy="0"/>
          </a:xfrm>
          <a:prstGeom prst="line">
            <a:avLst/>
          </a:prstGeom>
          <a:noFill/>
          <a:ln w="19050">
            <a:solidFill>
              <a:srgbClr val="D6DCE4"/>
            </a:solidFill>
            <a:prstDash val="solid"/>
            <a:headEnd type="none"/>
            <a:tailEnd type="none"/>
          </a:ln>
        </p:spPr>
      </p:sp>
      <p:sp>
        <p:nvSpPr>
          <p:cNvPr id="19" name="Shape 15"/>
          <p:cNvSpPr/>
          <p:nvPr/>
        </p:nvSpPr>
        <p:spPr>
          <a:xfrm>
            <a:off x="7355738" y="3268980"/>
            <a:ext cx="457200" cy="457200"/>
          </a:xfrm>
          <a:prstGeom prst="ellipse">
            <a:avLst/>
          </a:prstGeom>
          <a:solidFill>
            <a:srgbClr val="C44B2F"/>
          </a:solidFill>
          <a:ln w="12700">
            <a:solidFill>
              <a:srgbClr val="C44B2F"/>
            </a:solidFill>
            <a:prstDash val="solid"/>
          </a:ln>
        </p:spPr>
      </p:sp>
      <p:pic>
        <p:nvPicPr>
          <p:cNvPr id="20" name="Image 1" descr="preencoded.png">    </p:cNvPr>
          <p:cNvPicPr>
            <a:picLocks noChangeAspect="1"/>
          </p:cNvPicPr>
          <p:nvPr/>
        </p:nvPicPr>
        <p:blipFill>
          <a:blip r:embed="rId2"/>
          <a:stretch>
            <a:fillRect/>
          </a:stretch>
        </p:blipFill>
        <p:spPr>
          <a:xfrm>
            <a:off x="7447178" y="3360420"/>
            <a:ext cx="274320" cy="274320"/>
          </a:xfrm>
          <a:prstGeom prst="rect">
            <a:avLst/>
          </a:prstGeom>
        </p:spPr>
      </p:pic>
      <p:sp>
        <p:nvSpPr>
          <p:cNvPr id="21" name="Text 16"/>
          <p:cNvSpPr txBox="1"/>
          <p:nvPr/>
        </p:nvSpPr>
        <p:spPr>
          <a:xfrm>
            <a:off x="7995818" y="3127248"/>
            <a:ext cx="3647237" cy="349758"/>
          </a:xfrm>
          <a:prstGeom prst="rect">
            <a:avLst/>
          </a:prstGeom>
          <a:noFill/>
          <a:ln/>
        </p:spPr>
        <p:txBody>
          <a:bodyPr wrap="square" lIns="0" tIns="0" rIns="0" bIns="0" rtlCol="0" anchor="b">
            <a:normAutofit/>
          </a:bodyPr>
          <a:lstStyle/>
          <a:p>
            <a:pPr algn="l" indent="0" marL="0">
              <a:buNone/>
            </a:pPr>
            <a:r>
              <a:rPr lang="en-US" sz="1500" b="1" dirty="0">
                <a:solidFill>
                  <a:srgbClr val="C44B2F"/>
                </a:solidFill>
                <a:latin typeface="Arial" pitchFamily="34" charset="0"/>
                <a:ea typeface="Arial" pitchFamily="34" charset="-122"/>
                <a:cs typeface="Arial" pitchFamily="34" charset="-120"/>
              </a:rPr>
              <a:t>Align</a:t>
            </a:r>
            <a:endParaRPr lang="en-US" sz="1500" dirty="0"/>
          </a:p>
        </p:txBody>
      </p:sp>
      <p:sp>
        <p:nvSpPr>
          <p:cNvPr id="22" name="Text 17"/>
          <p:cNvSpPr txBox="1"/>
          <p:nvPr/>
        </p:nvSpPr>
        <p:spPr>
          <a:xfrm>
            <a:off x="7995818" y="3497580"/>
            <a:ext cx="3647237" cy="373075"/>
          </a:xfrm>
          <a:prstGeom prst="rect">
            <a:avLst/>
          </a:prstGeom>
          <a:noFill/>
          <a:ln/>
        </p:spPr>
        <p:txBody>
          <a:bodyPr wrap="square" lIns="0" tIns="0" rIns="0" bIns="0" rtlCol="0" anchor="t">
            <a:normAutofit/>
          </a:bodyPr>
          <a:lstStyle/>
          <a:p>
            <a:pPr algn="l" indent="0" marL="0">
              <a:buNone/>
            </a:pPr>
            <a:r>
              <a:rPr lang="en-US" sz="1200" dirty="0">
                <a:solidFill>
                  <a:srgbClr val="55606D"/>
                </a:solidFill>
                <a:latin typeface="Arial" pitchFamily="34" charset="0"/>
                <a:ea typeface="Arial" pitchFamily="34" charset="-122"/>
                <a:cs typeface="Arial" pitchFamily="34" charset="-120"/>
              </a:rPr>
              <a:t>drift, gaps, contradictions</a:t>
            </a:r>
            <a:endParaRPr lang="en-US" sz="1200" dirty="0"/>
          </a:p>
        </p:txBody>
      </p:sp>
      <p:sp>
        <p:nvSpPr>
          <p:cNvPr id="23" name="Shape 18"/>
          <p:cNvSpPr/>
          <p:nvPr/>
        </p:nvSpPr>
        <p:spPr>
          <a:xfrm>
            <a:off x="6944258" y="4274820"/>
            <a:ext cx="384048" cy="0"/>
          </a:xfrm>
          <a:prstGeom prst="line">
            <a:avLst/>
          </a:prstGeom>
          <a:noFill/>
          <a:ln w="19050">
            <a:solidFill>
              <a:srgbClr val="D6DCE4"/>
            </a:solidFill>
            <a:prstDash val="solid"/>
            <a:headEnd type="none"/>
            <a:tailEnd type="none"/>
          </a:ln>
        </p:spPr>
      </p:sp>
      <p:sp>
        <p:nvSpPr>
          <p:cNvPr id="24" name="Shape 19"/>
          <p:cNvSpPr/>
          <p:nvPr/>
        </p:nvSpPr>
        <p:spPr>
          <a:xfrm>
            <a:off x="7355738" y="4046220"/>
            <a:ext cx="457200" cy="457200"/>
          </a:xfrm>
          <a:prstGeom prst="ellipse">
            <a:avLst/>
          </a:prstGeom>
          <a:solidFill>
            <a:srgbClr val="3B6BA8"/>
          </a:solidFill>
          <a:ln w="12700">
            <a:solidFill>
              <a:srgbClr val="3B6BA8"/>
            </a:solidFill>
            <a:prstDash val="solid"/>
          </a:ln>
        </p:spPr>
      </p:sp>
      <p:pic>
        <p:nvPicPr>
          <p:cNvPr id="25" name="Image 2" descr="preencoded.png">    </p:cNvPr>
          <p:cNvPicPr>
            <a:picLocks noChangeAspect="1"/>
          </p:cNvPicPr>
          <p:nvPr/>
        </p:nvPicPr>
        <p:blipFill>
          <a:blip r:embed="rId3"/>
          <a:stretch>
            <a:fillRect/>
          </a:stretch>
        </p:blipFill>
        <p:spPr>
          <a:xfrm>
            <a:off x="7447178" y="4137660"/>
            <a:ext cx="274320" cy="274320"/>
          </a:xfrm>
          <a:prstGeom prst="rect">
            <a:avLst/>
          </a:prstGeom>
        </p:spPr>
      </p:pic>
      <p:sp>
        <p:nvSpPr>
          <p:cNvPr id="26" name="Text 20"/>
          <p:cNvSpPr txBox="1"/>
          <p:nvPr/>
        </p:nvSpPr>
        <p:spPr>
          <a:xfrm>
            <a:off x="7995818" y="3904488"/>
            <a:ext cx="3647237" cy="349758"/>
          </a:xfrm>
          <a:prstGeom prst="rect">
            <a:avLst/>
          </a:prstGeom>
          <a:noFill/>
          <a:ln/>
        </p:spPr>
        <p:txBody>
          <a:bodyPr wrap="square" lIns="0" tIns="0" rIns="0" bIns="0" rtlCol="0" anchor="b">
            <a:normAutofit/>
          </a:bodyPr>
          <a:lstStyle/>
          <a:p>
            <a:pPr algn="l" indent="0" marL="0">
              <a:buNone/>
            </a:pPr>
            <a:r>
              <a:rPr lang="en-US" sz="1500" b="1" dirty="0">
                <a:solidFill>
                  <a:srgbClr val="1F2933"/>
                </a:solidFill>
                <a:latin typeface="Arial" pitchFamily="34" charset="0"/>
                <a:ea typeface="Arial" pitchFamily="34" charset="-122"/>
                <a:cs typeface="Arial" pitchFamily="34" charset="-120"/>
              </a:rPr>
              <a:t>Evolve</a:t>
            </a:r>
            <a:endParaRPr lang="en-US" sz="1500" dirty="0"/>
          </a:p>
        </p:txBody>
      </p:sp>
      <p:sp>
        <p:nvSpPr>
          <p:cNvPr id="27" name="Text 21"/>
          <p:cNvSpPr txBox="1"/>
          <p:nvPr/>
        </p:nvSpPr>
        <p:spPr>
          <a:xfrm>
            <a:off x="7995818" y="4274820"/>
            <a:ext cx="3647237" cy="373075"/>
          </a:xfrm>
          <a:prstGeom prst="rect">
            <a:avLst/>
          </a:prstGeom>
          <a:noFill/>
          <a:ln/>
        </p:spPr>
        <p:txBody>
          <a:bodyPr wrap="square" lIns="0" tIns="0" rIns="0" bIns="0" rtlCol="0" anchor="t">
            <a:normAutofit/>
          </a:bodyPr>
          <a:lstStyle/>
          <a:p>
            <a:pPr algn="l" indent="0" marL="0">
              <a:buNone/>
            </a:pPr>
            <a:r>
              <a:rPr lang="en-US" sz="1200" dirty="0">
                <a:solidFill>
                  <a:srgbClr val="55606D"/>
                </a:solidFill>
                <a:latin typeface="Arial" pitchFamily="34" charset="0"/>
                <a:ea typeface="Arial" pitchFamily="34" charset="-122"/>
                <a:cs typeface="Arial" pitchFamily="34" charset="-120"/>
              </a:rPr>
              <a:t>thread one change through</a:t>
            </a:r>
            <a:endParaRPr lang="en-US" sz="1200" dirty="0"/>
          </a:p>
        </p:txBody>
      </p:sp>
      <p:sp>
        <p:nvSpPr>
          <p:cNvPr id="28" name="Shape 22"/>
          <p:cNvSpPr/>
          <p:nvPr/>
        </p:nvSpPr>
        <p:spPr>
          <a:xfrm>
            <a:off x="6944258" y="5052060"/>
            <a:ext cx="384048" cy="0"/>
          </a:xfrm>
          <a:prstGeom prst="line">
            <a:avLst/>
          </a:prstGeom>
          <a:noFill/>
          <a:ln w="19050">
            <a:solidFill>
              <a:srgbClr val="D6DCE4"/>
            </a:solidFill>
            <a:prstDash val="solid"/>
            <a:headEnd type="none"/>
            <a:tailEnd type="none"/>
          </a:ln>
        </p:spPr>
      </p:sp>
      <p:sp>
        <p:nvSpPr>
          <p:cNvPr id="29" name="Shape 23"/>
          <p:cNvSpPr/>
          <p:nvPr/>
        </p:nvSpPr>
        <p:spPr>
          <a:xfrm>
            <a:off x="7355738" y="4823460"/>
            <a:ext cx="457200" cy="457200"/>
          </a:xfrm>
          <a:prstGeom prst="ellipse">
            <a:avLst/>
          </a:prstGeom>
          <a:solidFill>
            <a:srgbClr val="3B6BA8"/>
          </a:solidFill>
          <a:ln w="12700">
            <a:solidFill>
              <a:srgbClr val="3B6BA8"/>
            </a:solidFill>
            <a:prstDash val="solid"/>
          </a:ln>
        </p:spPr>
      </p:sp>
      <p:pic>
        <p:nvPicPr>
          <p:cNvPr id="30" name="Image 3" descr="preencoded.png">    </p:cNvPr>
          <p:cNvPicPr>
            <a:picLocks noChangeAspect="1"/>
          </p:cNvPicPr>
          <p:nvPr/>
        </p:nvPicPr>
        <p:blipFill>
          <a:blip r:embed="rId4"/>
          <a:stretch>
            <a:fillRect/>
          </a:stretch>
        </p:blipFill>
        <p:spPr>
          <a:xfrm>
            <a:off x="7447178" y="4914900"/>
            <a:ext cx="274320" cy="274320"/>
          </a:xfrm>
          <a:prstGeom prst="rect">
            <a:avLst/>
          </a:prstGeom>
        </p:spPr>
      </p:pic>
      <p:sp>
        <p:nvSpPr>
          <p:cNvPr id="31" name="Text 24"/>
          <p:cNvSpPr txBox="1"/>
          <p:nvPr/>
        </p:nvSpPr>
        <p:spPr>
          <a:xfrm>
            <a:off x="7995818" y="4681728"/>
            <a:ext cx="3647237" cy="349758"/>
          </a:xfrm>
          <a:prstGeom prst="rect">
            <a:avLst/>
          </a:prstGeom>
          <a:noFill/>
          <a:ln/>
        </p:spPr>
        <p:txBody>
          <a:bodyPr wrap="square" lIns="0" tIns="0" rIns="0" bIns="0" rtlCol="0" anchor="b">
            <a:normAutofit/>
          </a:bodyPr>
          <a:lstStyle/>
          <a:p>
            <a:pPr algn="l" indent="0" marL="0">
              <a:buNone/>
            </a:pPr>
            <a:r>
              <a:rPr lang="en-US" sz="1500" b="1" dirty="0">
                <a:solidFill>
                  <a:srgbClr val="1F2933"/>
                </a:solidFill>
                <a:latin typeface="Arial" pitchFamily="34" charset="0"/>
                <a:ea typeface="Arial" pitchFamily="34" charset="-122"/>
                <a:cs typeface="Arial" pitchFamily="34" charset="-120"/>
              </a:rPr>
              <a:t>Present</a:t>
            </a:r>
            <a:endParaRPr lang="en-US" sz="1500" dirty="0"/>
          </a:p>
        </p:txBody>
      </p:sp>
      <p:sp>
        <p:nvSpPr>
          <p:cNvPr id="32" name="Text 25"/>
          <p:cNvSpPr txBox="1"/>
          <p:nvPr/>
        </p:nvSpPr>
        <p:spPr>
          <a:xfrm>
            <a:off x="7995818" y="5052060"/>
            <a:ext cx="3647237" cy="373075"/>
          </a:xfrm>
          <a:prstGeom prst="rect">
            <a:avLst/>
          </a:prstGeom>
          <a:noFill/>
          <a:ln/>
        </p:spPr>
        <p:txBody>
          <a:bodyPr wrap="square" lIns="0" tIns="0" rIns="0" bIns="0" rtlCol="0" anchor="t">
            <a:normAutofit/>
          </a:bodyPr>
          <a:lstStyle/>
          <a:p>
            <a:pPr algn="l" indent="0" marL="0">
              <a:buNone/>
            </a:pPr>
            <a:r>
              <a:rPr lang="en-US" sz="1200" dirty="0">
                <a:solidFill>
                  <a:srgbClr val="55606D"/>
                </a:solidFill>
                <a:latin typeface="Arial" pitchFamily="34" charset="0"/>
                <a:ea typeface="Arial" pitchFamily="34" charset="-122"/>
                <a:cs typeface="Arial" pitchFamily="34" charset="-120"/>
              </a:rPr>
              <a:t>decks, briefs, reports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Each template layer governs the layer below</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S19, S20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6</a:t>
            </a:r>
            <a:endParaRPr lang="en-US" sz="1000" dirty="0"/>
          </a:p>
        </p:txBody>
      </p:sp>
      <p:sp>
        <p:nvSpPr>
          <p:cNvPr id="8" name="Shape 5"/>
          <p:cNvSpPr/>
          <p:nvPr/>
        </p:nvSpPr>
        <p:spPr>
          <a:xfrm>
            <a:off x="548640" y="1965960"/>
            <a:ext cx="11094415" cy="457200"/>
          </a:xfrm>
          <a:prstGeom prst="roundRect">
            <a:avLst>
              <a:gd name="adj" fmla="val 16000"/>
            </a:avLst>
          </a:prstGeom>
          <a:solidFill>
            <a:srgbClr val="3B6BA8"/>
          </a:solidFill>
          <a:ln w="9525">
            <a:solidFill>
              <a:srgbClr val="3B6BA8"/>
            </a:solidFill>
            <a:prstDash val="solid"/>
          </a:ln>
        </p:spPr>
      </p:sp>
      <p:pic>
        <p:nvPicPr>
          <p:cNvPr id="9" name="Image 0" descr="preencoded.png">    </p:cNvPr>
          <p:cNvPicPr>
            <a:picLocks noChangeAspect="1"/>
          </p:cNvPicPr>
          <p:nvPr/>
        </p:nvPicPr>
        <p:blipFill>
          <a:blip r:embed="rId1"/>
          <a:stretch>
            <a:fillRect/>
          </a:stretch>
        </p:blipFill>
        <p:spPr>
          <a:xfrm>
            <a:off x="777240" y="2103120"/>
            <a:ext cx="182880" cy="182880"/>
          </a:xfrm>
          <a:prstGeom prst="rect">
            <a:avLst/>
          </a:prstGeom>
        </p:spPr>
      </p:pic>
      <p:sp>
        <p:nvSpPr>
          <p:cNvPr id="10" name="Text 6"/>
          <p:cNvSpPr txBox="1"/>
          <p:nvPr/>
        </p:nvSpPr>
        <p:spPr>
          <a:xfrm>
            <a:off x="1097280" y="2057400"/>
            <a:ext cx="2377440" cy="27432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Georgia" pitchFamily="34" charset="0"/>
                <a:ea typeface="Georgia" pitchFamily="34" charset="-122"/>
                <a:cs typeface="Georgia" pitchFamily="34" charset="-120"/>
              </a:rPr>
              <a:t>Vision</a:t>
            </a:r>
            <a:endParaRPr lang="en-US" sz="1800" dirty="0"/>
          </a:p>
        </p:txBody>
      </p:sp>
      <p:sp>
        <p:nvSpPr>
          <p:cNvPr id="11" name="Text 7"/>
          <p:cNvSpPr txBox="1"/>
          <p:nvPr/>
        </p:nvSpPr>
        <p:spPr>
          <a:xfrm>
            <a:off x="3657600" y="2057400"/>
            <a:ext cx="7756855" cy="274320"/>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direction and who it is for</a:t>
            </a:r>
            <a:endParaRPr lang="en-US" sz="1400" dirty="0"/>
          </a:p>
        </p:txBody>
      </p:sp>
      <p:sp>
        <p:nvSpPr>
          <p:cNvPr id="12" name="Shape 8"/>
          <p:cNvSpPr/>
          <p:nvPr/>
        </p:nvSpPr>
        <p:spPr>
          <a:xfrm>
            <a:off x="1865376" y="2450592"/>
            <a:ext cx="292608" cy="219456"/>
          </a:xfrm>
          <a:prstGeom prst="downArrow">
            <a:avLst/>
          </a:prstGeom>
          <a:solidFill>
            <a:srgbClr val="55606D"/>
          </a:solidFill>
          <a:ln w="12700">
            <a:solidFill>
              <a:srgbClr val="55606D"/>
            </a:solidFill>
            <a:prstDash val="solid"/>
          </a:ln>
        </p:spPr>
      </p:sp>
      <p:sp>
        <p:nvSpPr>
          <p:cNvPr id="13" name="Shape 9"/>
          <p:cNvSpPr/>
          <p:nvPr/>
        </p:nvSpPr>
        <p:spPr>
          <a:xfrm>
            <a:off x="548640" y="2697480"/>
            <a:ext cx="11094415" cy="457200"/>
          </a:xfrm>
          <a:prstGeom prst="roundRect">
            <a:avLst>
              <a:gd name="adj" fmla="val 16000"/>
            </a:avLst>
          </a:prstGeom>
          <a:solidFill>
            <a:srgbClr val="3B6BA8"/>
          </a:solidFill>
          <a:ln w="9525">
            <a:solidFill>
              <a:srgbClr val="3B6BA8"/>
            </a:solidFill>
            <a:prstDash val="solid"/>
          </a:ln>
        </p:spPr>
      </p:sp>
      <p:pic>
        <p:nvPicPr>
          <p:cNvPr id="14" name="Image 1" descr="preencoded.png">    </p:cNvPr>
          <p:cNvPicPr>
            <a:picLocks noChangeAspect="1"/>
          </p:cNvPicPr>
          <p:nvPr/>
        </p:nvPicPr>
        <p:blipFill>
          <a:blip r:embed="rId2"/>
          <a:stretch>
            <a:fillRect/>
          </a:stretch>
        </p:blipFill>
        <p:spPr>
          <a:xfrm>
            <a:off x="777240" y="2834640"/>
            <a:ext cx="182880" cy="182880"/>
          </a:xfrm>
          <a:prstGeom prst="rect">
            <a:avLst/>
          </a:prstGeom>
        </p:spPr>
      </p:pic>
      <p:sp>
        <p:nvSpPr>
          <p:cNvPr id="15" name="Text 10"/>
          <p:cNvSpPr txBox="1"/>
          <p:nvPr/>
        </p:nvSpPr>
        <p:spPr>
          <a:xfrm>
            <a:off x="1097280" y="2788920"/>
            <a:ext cx="2377440" cy="27432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Georgia" pitchFamily="34" charset="0"/>
                <a:ea typeface="Georgia" pitchFamily="34" charset="-122"/>
                <a:cs typeface="Georgia" pitchFamily="34" charset="-120"/>
              </a:rPr>
              <a:t>Requirements</a:t>
            </a:r>
            <a:endParaRPr lang="en-US" sz="1800" dirty="0"/>
          </a:p>
        </p:txBody>
      </p:sp>
      <p:sp>
        <p:nvSpPr>
          <p:cNvPr id="16" name="Text 11"/>
          <p:cNvSpPr txBox="1"/>
          <p:nvPr/>
        </p:nvSpPr>
        <p:spPr>
          <a:xfrm>
            <a:off x="3657600" y="2788920"/>
            <a:ext cx="7756855" cy="274320"/>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scope, outcomes, non-goals</a:t>
            </a:r>
            <a:endParaRPr lang="en-US" sz="1400" dirty="0"/>
          </a:p>
        </p:txBody>
      </p:sp>
      <p:sp>
        <p:nvSpPr>
          <p:cNvPr id="17" name="Shape 12"/>
          <p:cNvSpPr/>
          <p:nvPr/>
        </p:nvSpPr>
        <p:spPr>
          <a:xfrm>
            <a:off x="1865376" y="3182112"/>
            <a:ext cx="292608" cy="219456"/>
          </a:xfrm>
          <a:prstGeom prst="downArrow">
            <a:avLst/>
          </a:prstGeom>
          <a:solidFill>
            <a:srgbClr val="55606D"/>
          </a:solidFill>
          <a:ln w="12700">
            <a:solidFill>
              <a:srgbClr val="55606D"/>
            </a:solidFill>
            <a:prstDash val="solid"/>
          </a:ln>
        </p:spPr>
      </p:sp>
      <p:sp>
        <p:nvSpPr>
          <p:cNvPr id="18" name="Shape 13"/>
          <p:cNvSpPr/>
          <p:nvPr/>
        </p:nvSpPr>
        <p:spPr>
          <a:xfrm>
            <a:off x="548640" y="3429000"/>
            <a:ext cx="11094415" cy="457200"/>
          </a:xfrm>
          <a:prstGeom prst="roundRect">
            <a:avLst>
              <a:gd name="adj" fmla="val 16000"/>
            </a:avLst>
          </a:prstGeom>
          <a:solidFill>
            <a:srgbClr val="3B6BA8"/>
          </a:solidFill>
          <a:ln w="9525">
            <a:solidFill>
              <a:srgbClr val="3B6BA8"/>
            </a:solidFill>
            <a:prstDash val="solid"/>
          </a:ln>
        </p:spPr>
      </p:sp>
      <p:pic>
        <p:nvPicPr>
          <p:cNvPr id="19" name="Image 2" descr="preencoded.png">    </p:cNvPr>
          <p:cNvPicPr>
            <a:picLocks noChangeAspect="1"/>
          </p:cNvPicPr>
          <p:nvPr/>
        </p:nvPicPr>
        <p:blipFill>
          <a:blip r:embed="rId3"/>
          <a:stretch>
            <a:fillRect/>
          </a:stretch>
        </p:blipFill>
        <p:spPr>
          <a:xfrm>
            <a:off x="777240" y="3566160"/>
            <a:ext cx="182880" cy="182880"/>
          </a:xfrm>
          <a:prstGeom prst="rect">
            <a:avLst/>
          </a:prstGeom>
        </p:spPr>
      </p:pic>
      <p:sp>
        <p:nvSpPr>
          <p:cNvPr id="20" name="Text 14"/>
          <p:cNvSpPr txBox="1"/>
          <p:nvPr/>
        </p:nvSpPr>
        <p:spPr>
          <a:xfrm>
            <a:off x="1097280" y="3520440"/>
            <a:ext cx="2377440" cy="27432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Georgia" pitchFamily="34" charset="0"/>
                <a:ea typeface="Georgia" pitchFamily="34" charset="-122"/>
                <a:cs typeface="Georgia" pitchFamily="34" charset="-120"/>
              </a:rPr>
              <a:t>Designs</a:t>
            </a:r>
            <a:endParaRPr lang="en-US" sz="1800" dirty="0"/>
          </a:p>
        </p:txBody>
      </p:sp>
      <p:sp>
        <p:nvSpPr>
          <p:cNvPr id="21" name="Text 15"/>
          <p:cNvSpPr txBox="1"/>
          <p:nvPr/>
        </p:nvSpPr>
        <p:spPr>
          <a:xfrm>
            <a:off x="3657600" y="3520440"/>
            <a:ext cx="7756855" cy="274320"/>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decisions, contracts, components</a:t>
            </a:r>
            <a:endParaRPr lang="en-US" sz="1400" dirty="0"/>
          </a:p>
        </p:txBody>
      </p:sp>
      <p:sp>
        <p:nvSpPr>
          <p:cNvPr id="22" name="Shape 16"/>
          <p:cNvSpPr/>
          <p:nvPr/>
        </p:nvSpPr>
        <p:spPr>
          <a:xfrm>
            <a:off x="1865376" y="3913632"/>
            <a:ext cx="292608" cy="219456"/>
          </a:xfrm>
          <a:prstGeom prst="downArrow">
            <a:avLst/>
          </a:prstGeom>
          <a:solidFill>
            <a:srgbClr val="55606D"/>
          </a:solidFill>
          <a:ln w="12700">
            <a:solidFill>
              <a:srgbClr val="55606D"/>
            </a:solidFill>
            <a:prstDash val="solid"/>
          </a:ln>
        </p:spPr>
      </p:sp>
      <p:sp>
        <p:nvSpPr>
          <p:cNvPr id="23" name="Shape 17"/>
          <p:cNvSpPr/>
          <p:nvPr/>
        </p:nvSpPr>
        <p:spPr>
          <a:xfrm>
            <a:off x="548640" y="4160520"/>
            <a:ext cx="11094415" cy="457200"/>
          </a:xfrm>
          <a:prstGeom prst="roundRect">
            <a:avLst>
              <a:gd name="adj" fmla="val 16000"/>
            </a:avLst>
          </a:prstGeom>
          <a:solidFill>
            <a:srgbClr val="3B6BA8"/>
          </a:solidFill>
          <a:ln w="9525">
            <a:solidFill>
              <a:srgbClr val="3B6BA8"/>
            </a:solidFill>
            <a:prstDash val="solid"/>
          </a:ln>
        </p:spPr>
      </p:sp>
      <p:pic>
        <p:nvPicPr>
          <p:cNvPr id="24" name="Image 3" descr="preencoded.png">    </p:cNvPr>
          <p:cNvPicPr>
            <a:picLocks noChangeAspect="1"/>
          </p:cNvPicPr>
          <p:nvPr/>
        </p:nvPicPr>
        <p:blipFill>
          <a:blip r:embed="rId4"/>
          <a:stretch>
            <a:fillRect/>
          </a:stretch>
        </p:blipFill>
        <p:spPr>
          <a:xfrm>
            <a:off x="777240" y="4297680"/>
            <a:ext cx="182880" cy="182880"/>
          </a:xfrm>
          <a:prstGeom prst="rect">
            <a:avLst/>
          </a:prstGeom>
        </p:spPr>
      </p:pic>
      <p:sp>
        <p:nvSpPr>
          <p:cNvPr id="25" name="Text 18"/>
          <p:cNvSpPr txBox="1"/>
          <p:nvPr/>
        </p:nvSpPr>
        <p:spPr>
          <a:xfrm>
            <a:off x="1097280" y="4251960"/>
            <a:ext cx="2377440" cy="27432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Georgia" pitchFamily="34" charset="0"/>
                <a:ea typeface="Georgia" pitchFamily="34" charset="-122"/>
                <a:cs typeface="Georgia" pitchFamily="34" charset="-120"/>
              </a:rPr>
              <a:t>Tests</a:t>
            </a:r>
            <a:endParaRPr lang="en-US" sz="1800" dirty="0"/>
          </a:p>
        </p:txBody>
      </p:sp>
      <p:sp>
        <p:nvSpPr>
          <p:cNvPr id="26" name="Text 19"/>
          <p:cNvSpPr txBox="1"/>
          <p:nvPr/>
        </p:nvSpPr>
        <p:spPr>
          <a:xfrm>
            <a:off x="3657600" y="4251960"/>
            <a:ext cx="7756855" cy="274320"/>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acceptance before any code</a:t>
            </a:r>
            <a:endParaRPr lang="en-US" sz="1400" dirty="0"/>
          </a:p>
        </p:txBody>
      </p:sp>
      <p:sp>
        <p:nvSpPr>
          <p:cNvPr id="27" name="Shape 20"/>
          <p:cNvSpPr/>
          <p:nvPr/>
        </p:nvSpPr>
        <p:spPr>
          <a:xfrm>
            <a:off x="1865376" y="4645152"/>
            <a:ext cx="292608" cy="219456"/>
          </a:xfrm>
          <a:prstGeom prst="downArrow">
            <a:avLst/>
          </a:prstGeom>
          <a:solidFill>
            <a:srgbClr val="55606D"/>
          </a:solidFill>
          <a:ln w="12700">
            <a:solidFill>
              <a:srgbClr val="55606D"/>
            </a:solidFill>
            <a:prstDash val="solid"/>
          </a:ln>
        </p:spPr>
      </p:sp>
      <p:sp>
        <p:nvSpPr>
          <p:cNvPr id="28" name="Shape 21"/>
          <p:cNvSpPr/>
          <p:nvPr/>
        </p:nvSpPr>
        <p:spPr>
          <a:xfrm>
            <a:off x="548640" y="4892040"/>
            <a:ext cx="11094415" cy="457200"/>
          </a:xfrm>
          <a:prstGeom prst="roundRect">
            <a:avLst>
              <a:gd name="adj" fmla="val 16000"/>
            </a:avLst>
          </a:prstGeom>
          <a:solidFill>
            <a:srgbClr val="C44B2F"/>
          </a:solidFill>
          <a:ln w="9525">
            <a:solidFill>
              <a:srgbClr val="C44B2F"/>
            </a:solidFill>
            <a:prstDash val="solid"/>
          </a:ln>
        </p:spPr>
      </p:sp>
      <p:pic>
        <p:nvPicPr>
          <p:cNvPr id="29" name="Image 4" descr="preencoded.png">    </p:cNvPr>
          <p:cNvPicPr>
            <a:picLocks noChangeAspect="1"/>
          </p:cNvPicPr>
          <p:nvPr/>
        </p:nvPicPr>
        <p:blipFill>
          <a:blip r:embed="rId5"/>
          <a:stretch>
            <a:fillRect/>
          </a:stretch>
        </p:blipFill>
        <p:spPr>
          <a:xfrm>
            <a:off x="777240" y="5029200"/>
            <a:ext cx="182880" cy="182880"/>
          </a:xfrm>
          <a:prstGeom prst="rect">
            <a:avLst/>
          </a:prstGeom>
        </p:spPr>
      </p:pic>
      <p:sp>
        <p:nvSpPr>
          <p:cNvPr id="30" name="Text 22"/>
          <p:cNvSpPr txBox="1"/>
          <p:nvPr/>
        </p:nvSpPr>
        <p:spPr>
          <a:xfrm>
            <a:off x="1097280" y="4983480"/>
            <a:ext cx="2377440" cy="27432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Georgia" pitchFamily="34" charset="0"/>
                <a:ea typeface="Georgia" pitchFamily="34" charset="-122"/>
                <a:cs typeface="Georgia" pitchFamily="34" charset="-120"/>
              </a:rPr>
              <a:t>Code</a:t>
            </a:r>
            <a:endParaRPr lang="en-US" sz="1800" dirty="0"/>
          </a:p>
        </p:txBody>
      </p:sp>
      <p:sp>
        <p:nvSpPr>
          <p:cNvPr id="31" name="Text 23"/>
          <p:cNvSpPr txBox="1"/>
          <p:nvPr/>
        </p:nvSpPr>
        <p:spPr>
          <a:xfrm>
            <a:off x="3657600" y="4983480"/>
            <a:ext cx="7756855" cy="274320"/>
          </a:xfrm>
          <a:prstGeom prst="rect">
            <a:avLst/>
          </a:prstGeom>
          <a:noFill/>
          <a:ln/>
        </p:spPr>
        <p:txBody>
          <a:bodyPr wrap="square" lIns="0" tIns="0" rIns="0" bIns="0" rtlCol="0" anchor="ctr">
            <a:normAutofit/>
          </a:bodyPr>
          <a:lstStyle/>
          <a:p>
            <a:pPr algn="l" indent="0" marL="0">
              <a:buNone/>
            </a:pPr>
            <a:r>
              <a:rPr lang="en-US" sz="1400" dirty="0">
                <a:solidFill>
                  <a:srgbClr val="FFFFFF"/>
                </a:solidFill>
                <a:latin typeface="Arial" pitchFamily="34" charset="0"/>
                <a:ea typeface="Arial" pitchFamily="34" charset="-122"/>
                <a:cs typeface="Arial" pitchFamily="34" charset="-120"/>
              </a:rPr>
              <a:t>only what the layers above authorize</a:t>
            </a:r>
            <a:endParaRPr lang="en-US" sz="1400" dirty="0"/>
          </a:p>
        </p:txBody>
      </p:sp>
      <p:sp>
        <p:nvSpPr>
          <p:cNvPr id="32" name="Text 24"/>
          <p:cNvSpPr txBox="1"/>
          <p:nvPr/>
        </p:nvSpPr>
        <p:spPr>
          <a:xfrm>
            <a:off x="548640" y="5394960"/>
            <a:ext cx="11094415" cy="411480"/>
          </a:xfrm>
          <a:prstGeom prst="rect">
            <a:avLst/>
          </a:prstGeom>
          <a:noFill/>
          <a:ln/>
        </p:spPr>
        <p:txBody>
          <a:bodyPr wrap="square" lIns="0" tIns="0" rIns="0" bIns="0" rtlCol="0" anchor="b">
            <a:normAutofit/>
          </a:bodyPr>
          <a:lstStyle/>
          <a:p>
            <a:pPr algn="ctr" indent="0" marL="0">
              <a:buNone/>
            </a:pPr>
            <a:r>
              <a:rPr lang="en-US" sz="1300" b="1" dirty="0">
                <a:solidFill>
                  <a:srgbClr val="C44B2F"/>
                </a:solidFill>
                <a:latin typeface="Arial" pitchFamily="34" charset="0"/>
                <a:ea typeface="Arial" pitchFamily="34" charset="-122"/>
                <a:cs typeface="Arial" pitchFamily="34" charset="-120"/>
              </a:rPr>
              <a:t>a change enters at the top layer it touches and flows down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Concerns and gates carry control across layers</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S9, S11, S19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7</a:t>
            </a:r>
            <a:endParaRPr lang="en-US" sz="1000" dirty="0"/>
          </a:p>
        </p:txBody>
      </p:sp>
      <p:sp>
        <p:nvSpPr>
          <p:cNvPr id="8" name="Shape 5"/>
          <p:cNvSpPr/>
          <p:nvPr/>
        </p:nvSpPr>
        <p:spPr>
          <a:xfrm>
            <a:off x="548640" y="1965960"/>
            <a:ext cx="5410048" cy="3108960"/>
          </a:xfrm>
          <a:prstGeom prst="roundRect">
            <a:avLst>
              <a:gd name="adj" fmla="val 2941"/>
            </a:avLst>
          </a:prstGeom>
          <a:solidFill>
            <a:srgbClr val="F3F5F8"/>
          </a:solidFill>
          <a:ln w="9525">
            <a:solidFill>
              <a:srgbClr val="D6DCE4"/>
            </a:solidFill>
            <a:prstDash val="solid"/>
          </a:ln>
        </p:spPr>
      </p:sp>
      <p:sp>
        <p:nvSpPr>
          <p:cNvPr id="9" name="Shape 6"/>
          <p:cNvSpPr/>
          <p:nvPr/>
        </p:nvSpPr>
        <p:spPr>
          <a:xfrm>
            <a:off x="822960" y="2075688"/>
            <a:ext cx="411480" cy="411480"/>
          </a:xfrm>
          <a:prstGeom prst="ellipse">
            <a:avLst/>
          </a:prstGeom>
          <a:solidFill>
            <a:srgbClr val="55606D"/>
          </a:solidFill>
          <a:ln w="12700">
            <a:solidFill>
              <a:srgbClr val="55606D"/>
            </a:solidFill>
            <a:prstDash val="solid"/>
          </a:ln>
        </p:spPr>
      </p:sp>
      <p:pic>
        <p:nvPicPr>
          <p:cNvPr id="10" name="Image 0" descr="preencoded.png">    </p:cNvPr>
          <p:cNvPicPr>
            <a:picLocks noChangeAspect="1"/>
          </p:cNvPicPr>
          <p:nvPr/>
        </p:nvPicPr>
        <p:blipFill>
          <a:blip r:embed="rId1"/>
          <a:stretch>
            <a:fillRect/>
          </a:stretch>
        </p:blipFill>
        <p:spPr>
          <a:xfrm>
            <a:off x="905256" y="2157984"/>
            <a:ext cx="246888" cy="246888"/>
          </a:xfrm>
          <a:prstGeom prst="rect">
            <a:avLst/>
          </a:prstGeom>
        </p:spPr>
      </p:pic>
      <p:sp>
        <p:nvSpPr>
          <p:cNvPr id="11" name="Text 7"/>
          <p:cNvSpPr txBox="1"/>
          <p:nvPr/>
        </p:nvSpPr>
        <p:spPr>
          <a:xfrm>
            <a:off x="1371600" y="2148840"/>
            <a:ext cx="4312768" cy="457200"/>
          </a:xfrm>
          <a:prstGeom prst="rect">
            <a:avLst/>
          </a:prstGeom>
          <a:noFill/>
          <a:ln/>
        </p:spPr>
        <p:txBody>
          <a:bodyPr wrap="square" lIns="0" tIns="0" rIns="0" bIns="0" rtlCol="0" anchor="t">
            <a:normAutofit/>
          </a:bodyPr>
          <a:lstStyle/>
          <a:p>
            <a:pPr algn="l" indent="0" marL="0">
              <a:buNone/>
            </a:pPr>
            <a:r>
              <a:rPr lang="en-US" sz="2000" b="1" dirty="0">
                <a:solidFill>
                  <a:srgbClr val="55606D"/>
                </a:solidFill>
                <a:latin typeface="Georgia" pitchFamily="34" charset="0"/>
                <a:ea typeface="Georgia" pitchFamily="34" charset="-122"/>
                <a:cs typeface="Georgia" pitchFamily="34" charset="-120"/>
              </a:rPr>
              <a:t>Without layered control</a:t>
            </a:r>
            <a:endParaRPr lang="en-US" sz="2000" dirty="0"/>
          </a:p>
        </p:txBody>
      </p:sp>
      <p:sp>
        <p:nvSpPr>
          <p:cNvPr id="12" name="Text 8"/>
          <p:cNvSpPr txBox="1"/>
          <p:nvPr/>
        </p:nvSpPr>
        <p:spPr>
          <a:xfrm>
            <a:off x="822960" y="2697480"/>
            <a:ext cx="48614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Each agent re-decides framework, auth, and test approach per task</a:t>
            </a:r>
            <a:endParaRPr lang="en-US" sz="1500" dirty="0"/>
          </a:p>
        </p:txBody>
      </p:sp>
      <p:sp>
        <p:nvSpPr>
          <p:cNvPr id="13" name="Text 9"/>
          <p:cNvSpPr txBox="1"/>
          <p:nvPr/>
        </p:nvSpPr>
        <p:spPr>
          <a:xfrm>
            <a:off x="822960" y="3429000"/>
            <a:ext cx="48614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Drift shows up in review or in production</a:t>
            </a:r>
            <a:endParaRPr lang="en-US" sz="1500" dirty="0"/>
          </a:p>
        </p:txBody>
      </p:sp>
      <p:sp>
        <p:nvSpPr>
          <p:cNvPr id="14" name="Text 10"/>
          <p:cNvSpPr txBox="1"/>
          <p:nvPr/>
        </p:nvSpPr>
        <p:spPr>
          <a:xfrm>
            <a:off x="822960" y="4160520"/>
            <a:ext cx="48614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A claim of done goes unchecked</a:t>
            </a:r>
            <a:endParaRPr lang="en-US" sz="1500" dirty="0"/>
          </a:p>
        </p:txBody>
      </p:sp>
      <p:sp>
        <p:nvSpPr>
          <p:cNvPr id="15" name="Shape 11"/>
          <p:cNvSpPr/>
          <p:nvPr/>
        </p:nvSpPr>
        <p:spPr>
          <a:xfrm>
            <a:off x="6233008" y="1965960"/>
            <a:ext cx="5410048" cy="3108960"/>
          </a:xfrm>
          <a:prstGeom prst="roundRect">
            <a:avLst>
              <a:gd name="adj" fmla="val 2941"/>
            </a:avLst>
          </a:prstGeom>
          <a:solidFill>
            <a:srgbClr val="FFFFFF"/>
          </a:solidFill>
          <a:ln w="9525">
            <a:solidFill>
              <a:srgbClr val="D6DCE4"/>
            </a:solidFill>
            <a:prstDash val="solid"/>
          </a:ln>
        </p:spPr>
      </p:sp>
      <p:sp>
        <p:nvSpPr>
          <p:cNvPr id="16" name="Shape 12"/>
          <p:cNvSpPr/>
          <p:nvPr/>
        </p:nvSpPr>
        <p:spPr>
          <a:xfrm>
            <a:off x="6507328" y="2075688"/>
            <a:ext cx="411480" cy="411480"/>
          </a:xfrm>
          <a:prstGeom prst="ellipse">
            <a:avLst/>
          </a:prstGeom>
          <a:solidFill>
            <a:srgbClr val="3B6BA8"/>
          </a:solidFill>
          <a:ln w="12700">
            <a:solidFill>
              <a:srgbClr val="3B6BA8"/>
            </a:solidFill>
            <a:prstDash val="solid"/>
          </a:ln>
        </p:spPr>
      </p:sp>
      <p:pic>
        <p:nvPicPr>
          <p:cNvPr id="17" name="Image 1" descr="preencoded.png">    </p:cNvPr>
          <p:cNvPicPr>
            <a:picLocks noChangeAspect="1"/>
          </p:cNvPicPr>
          <p:nvPr/>
        </p:nvPicPr>
        <p:blipFill>
          <a:blip r:embed="rId2"/>
          <a:stretch>
            <a:fillRect/>
          </a:stretch>
        </p:blipFill>
        <p:spPr>
          <a:xfrm>
            <a:off x="6589624" y="2157984"/>
            <a:ext cx="246888" cy="246888"/>
          </a:xfrm>
          <a:prstGeom prst="rect">
            <a:avLst/>
          </a:prstGeom>
        </p:spPr>
      </p:pic>
      <p:sp>
        <p:nvSpPr>
          <p:cNvPr id="18" name="Text 13"/>
          <p:cNvSpPr txBox="1"/>
          <p:nvPr/>
        </p:nvSpPr>
        <p:spPr>
          <a:xfrm>
            <a:off x="7055968" y="2148840"/>
            <a:ext cx="4312768" cy="457200"/>
          </a:xfrm>
          <a:prstGeom prst="rect">
            <a:avLst/>
          </a:prstGeom>
          <a:noFill/>
          <a:ln/>
        </p:spPr>
        <p:txBody>
          <a:bodyPr wrap="square" lIns="0" tIns="0" rIns="0" bIns="0" rtlCol="0" anchor="t">
            <a:normAutofit/>
          </a:bodyPr>
          <a:lstStyle/>
          <a:p>
            <a:pPr algn="l" indent="0" marL="0">
              <a:buNone/>
            </a:pPr>
            <a:r>
              <a:rPr lang="en-US" sz="2000" b="1" dirty="0">
                <a:solidFill>
                  <a:srgbClr val="3B6BA8"/>
                </a:solidFill>
                <a:latin typeface="Georgia" pitchFamily="34" charset="0"/>
                <a:ea typeface="Georgia" pitchFamily="34" charset="-122"/>
                <a:cs typeface="Georgia" pitchFamily="34" charset="-120"/>
              </a:rPr>
              <a:t>With layered control</a:t>
            </a:r>
            <a:endParaRPr lang="en-US" sz="2000" dirty="0"/>
          </a:p>
        </p:txBody>
      </p:sp>
      <p:sp>
        <p:nvSpPr>
          <p:cNvPr id="19" name="Shape 14"/>
          <p:cNvSpPr/>
          <p:nvPr/>
        </p:nvSpPr>
        <p:spPr>
          <a:xfrm>
            <a:off x="6507328" y="2743200"/>
            <a:ext cx="292608" cy="292608"/>
          </a:xfrm>
          <a:prstGeom prst="ellipse">
            <a:avLst/>
          </a:prstGeom>
          <a:solidFill>
            <a:srgbClr val="3B6BA8"/>
          </a:solidFill>
          <a:ln w="12700">
            <a:solidFill>
              <a:srgbClr val="3B6BA8"/>
            </a:solidFill>
            <a:prstDash val="solid"/>
          </a:ln>
        </p:spPr>
      </p:sp>
      <p:sp>
        <p:nvSpPr>
          <p:cNvPr id="20" name="Text 15"/>
          <p:cNvSpPr txBox="1"/>
          <p:nvPr/>
        </p:nvSpPr>
        <p:spPr>
          <a:xfrm>
            <a:off x="6507328" y="27432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21" name="Text 16"/>
          <p:cNvSpPr txBox="1"/>
          <p:nvPr/>
        </p:nvSpPr>
        <p:spPr>
          <a:xfrm>
            <a:off x="6964528" y="2697480"/>
            <a:ext cx="44042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The team selects a concern once and its practices propagate down</a:t>
            </a:r>
            <a:endParaRPr lang="en-US" sz="1500" dirty="0"/>
          </a:p>
        </p:txBody>
      </p:sp>
      <p:sp>
        <p:nvSpPr>
          <p:cNvPr id="22" name="Shape 17"/>
          <p:cNvSpPr/>
          <p:nvPr/>
        </p:nvSpPr>
        <p:spPr>
          <a:xfrm>
            <a:off x="6507328" y="3474720"/>
            <a:ext cx="292608" cy="292608"/>
          </a:xfrm>
          <a:prstGeom prst="ellipse">
            <a:avLst/>
          </a:prstGeom>
          <a:solidFill>
            <a:srgbClr val="3B6BA8"/>
          </a:solidFill>
          <a:ln w="12700">
            <a:solidFill>
              <a:srgbClr val="3B6BA8"/>
            </a:solidFill>
            <a:prstDash val="solid"/>
          </a:ln>
        </p:spPr>
      </p:sp>
      <p:sp>
        <p:nvSpPr>
          <p:cNvPr id="23" name="Text 18"/>
          <p:cNvSpPr txBox="1"/>
          <p:nvPr/>
        </p:nvSpPr>
        <p:spPr>
          <a:xfrm>
            <a:off x="6507328" y="34747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24" name="Text 19"/>
          <p:cNvSpPr txBox="1"/>
          <p:nvPr/>
        </p:nvSpPr>
        <p:spPr>
          <a:xfrm>
            <a:off x="6964528" y="3429000"/>
            <a:ext cx="44042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Gates stop work moving down a layer</a:t>
            </a:r>
            <a:endParaRPr lang="en-US" sz="1500" dirty="0"/>
          </a:p>
        </p:txBody>
      </p:sp>
      <p:sp>
        <p:nvSpPr>
          <p:cNvPr id="25" name="Shape 20"/>
          <p:cNvSpPr/>
          <p:nvPr/>
        </p:nvSpPr>
        <p:spPr>
          <a:xfrm>
            <a:off x="6507328" y="4206240"/>
            <a:ext cx="292608" cy="292608"/>
          </a:xfrm>
          <a:prstGeom prst="ellipse">
            <a:avLst/>
          </a:prstGeom>
          <a:solidFill>
            <a:srgbClr val="3B6BA8"/>
          </a:solidFill>
          <a:ln w="12700">
            <a:solidFill>
              <a:srgbClr val="3B6BA8"/>
            </a:solidFill>
            <a:prstDash val="solid"/>
          </a:ln>
        </p:spPr>
      </p:sp>
      <p:sp>
        <p:nvSpPr>
          <p:cNvPr id="26" name="Text 21"/>
          <p:cNvSpPr txBox="1"/>
          <p:nvPr/>
        </p:nvSpPr>
        <p:spPr>
          <a:xfrm>
            <a:off x="6507328" y="42062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27" name="Text 22"/>
          <p:cNvSpPr txBox="1"/>
          <p:nvPr/>
        </p:nvSpPr>
        <p:spPr>
          <a:xfrm>
            <a:off x="6964528" y="4160520"/>
            <a:ext cx="4404208" cy="59436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Every claim cites evidence a validator can check</a:t>
            </a:r>
            <a:endParaRPr lang="en-US" sz="1500" dirty="0"/>
          </a:p>
        </p:txBody>
      </p:sp>
      <p:sp>
        <p:nvSpPr>
          <p:cNvPr id="28" name="Text 23"/>
          <p:cNvSpPr txBox="1"/>
          <p:nvPr/>
        </p:nvSpPr>
        <p:spPr>
          <a:xfrm>
            <a:off x="548640" y="5257800"/>
            <a:ext cx="11094415" cy="548640"/>
          </a:xfrm>
          <a:prstGeom prst="rect">
            <a:avLst/>
          </a:prstGeom>
          <a:noFill/>
          <a:ln/>
        </p:spPr>
        <p:txBody>
          <a:bodyPr wrap="square" lIns="0" tIns="0" rIns="0" bIns="0" rtlCol="0" anchor="ctr">
            <a:normAutofit/>
          </a:bodyPr>
          <a:lstStyle/>
          <a:p>
            <a:pPr algn="l" indent="0" marL="0">
              <a:buNone/>
            </a:pPr>
            <a:r>
              <a:rPr lang="en-US" sz="1500" b="1" dirty="0">
                <a:solidFill>
                  <a:srgbClr val="C44B2F"/>
                </a:solidFill>
                <a:latin typeface="Arial" pitchFamily="34" charset="0"/>
                <a:ea typeface="Arial" pitchFamily="34" charset="-122"/>
                <a:cs typeface="Arial" pitchFamily="34" charset="-120"/>
              </a:rPr>
              <a:t>Verdict: the rules live in the layers, not in a prompt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Those same layers produce the documents sponsors read</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S16, S17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8</a:t>
            </a:r>
            <a:endParaRPr lang="en-US" sz="1000" dirty="0"/>
          </a:p>
        </p:txBody>
      </p:sp>
      <p:sp>
        <p:nvSpPr>
          <p:cNvPr id="8" name="Shape 5"/>
          <p:cNvSpPr/>
          <p:nvPr/>
        </p:nvSpPr>
        <p:spPr>
          <a:xfrm>
            <a:off x="548640" y="2308860"/>
            <a:ext cx="685800" cy="685800"/>
          </a:xfrm>
          <a:prstGeom prst="ellipse">
            <a:avLst/>
          </a:prstGeom>
          <a:solidFill>
            <a:srgbClr val="3B6BA8"/>
          </a:solidFill>
          <a:ln w="12700">
            <a:solidFill>
              <a:srgbClr val="3B6BA8"/>
            </a:solidFill>
            <a:prstDash val="solid"/>
          </a:ln>
        </p:spPr>
      </p:sp>
      <p:pic>
        <p:nvPicPr>
          <p:cNvPr id="9" name="Image 0" descr="preencoded.png">    </p:cNvPr>
          <p:cNvPicPr>
            <a:picLocks noChangeAspect="1"/>
          </p:cNvPicPr>
          <p:nvPr/>
        </p:nvPicPr>
        <p:blipFill>
          <a:blip r:embed="rId1"/>
          <a:stretch>
            <a:fillRect/>
          </a:stretch>
        </p:blipFill>
        <p:spPr>
          <a:xfrm>
            <a:off x="685800" y="2446020"/>
            <a:ext cx="411480" cy="411480"/>
          </a:xfrm>
          <a:prstGeom prst="rect">
            <a:avLst/>
          </a:prstGeom>
        </p:spPr>
      </p:pic>
      <p:sp>
        <p:nvSpPr>
          <p:cNvPr id="10" name="Text 6"/>
          <p:cNvSpPr txBox="1"/>
          <p:nvPr/>
        </p:nvSpPr>
        <p:spPr>
          <a:xfrm>
            <a:off x="1463040" y="2103120"/>
            <a:ext cx="10180015" cy="534924"/>
          </a:xfrm>
          <a:prstGeom prst="rect">
            <a:avLst/>
          </a:prstGeom>
          <a:noFill/>
          <a:ln/>
        </p:spPr>
        <p:txBody>
          <a:bodyPr wrap="square" lIns="0" tIns="0" rIns="0" bIns="0" rtlCol="0" anchor="b">
            <a:normAutofit/>
          </a:bodyPr>
          <a:lstStyle/>
          <a:p>
            <a:pPr algn="l" indent="0" marL="0">
              <a:buNone/>
            </a:pPr>
            <a:r>
              <a:rPr lang="en-US" sz="1800" b="1" dirty="0">
                <a:solidFill>
                  <a:srgbClr val="1F2933"/>
                </a:solidFill>
                <a:latin typeface="Arial" pitchFamily="34" charset="0"/>
                <a:ea typeface="Arial" pitchFamily="34" charset="-122"/>
                <a:cs typeface="Arial" pitchFamily="34" charset="-120"/>
              </a:rPr>
              <a:t>Status report</a:t>
            </a:r>
            <a:endParaRPr lang="en-US" sz="1800" dirty="0"/>
          </a:p>
        </p:txBody>
      </p:sp>
      <p:sp>
        <p:nvSpPr>
          <p:cNvPr id="11" name="Text 7"/>
          <p:cNvSpPr txBox="1"/>
          <p:nvPr/>
        </p:nvSpPr>
        <p:spPr>
          <a:xfrm>
            <a:off x="1463040" y="2673706"/>
            <a:ext cx="10180015" cy="594360"/>
          </a:xfrm>
          <a:prstGeom prst="rect">
            <a:avLst/>
          </a:prstGeom>
          <a:noFill/>
          <a:ln/>
        </p:spPr>
        <p:txBody>
          <a:bodyPr wrap="square" lIns="0" tIns="0" rIns="0" bIns="0" rtlCol="0" anchor="t">
            <a:normAutofit/>
          </a:bodyPr>
          <a:lstStyle/>
          <a:p>
            <a:pPr algn="l" indent="0" marL="0">
              <a:buNone/>
            </a:pPr>
            <a:r>
              <a:rPr lang="en-US" sz="1400" dirty="0">
                <a:solidFill>
                  <a:srgbClr val="55606D"/>
                </a:solidFill>
                <a:latin typeface="Arial" pitchFamily="34" charset="0"/>
                <a:ea typeface="Arial" pitchFamily="34" charset="-122"/>
                <a:cs typeface="Arial" pitchFamily="34" charset="-120"/>
              </a:rPr>
              <a:t>for sponsors and clients, from the iteration plan, with evidence per claim</a:t>
            </a:r>
            <a:endParaRPr lang="en-US" sz="1400" dirty="0"/>
          </a:p>
        </p:txBody>
      </p:sp>
      <p:sp>
        <p:nvSpPr>
          <p:cNvPr id="12" name="Shape 8"/>
          <p:cNvSpPr/>
          <p:nvPr/>
        </p:nvSpPr>
        <p:spPr>
          <a:xfrm>
            <a:off x="548640" y="3497580"/>
            <a:ext cx="685800" cy="685800"/>
          </a:xfrm>
          <a:prstGeom prst="ellipse">
            <a:avLst/>
          </a:prstGeom>
          <a:solidFill>
            <a:srgbClr val="3B6BA8"/>
          </a:solidFill>
          <a:ln w="12700">
            <a:solidFill>
              <a:srgbClr val="3B6BA8"/>
            </a:solidFill>
            <a:prstDash val="solid"/>
          </a:ln>
        </p:spPr>
      </p:sp>
      <p:pic>
        <p:nvPicPr>
          <p:cNvPr id="13" name="Image 1" descr="preencoded.png">    </p:cNvPr>
          <p:cNvPicPr>
            <a:picLocks noChangeAspect="1"/>
          </p:cNvPicPr>
          <p:nvPr/>
        </p:nvPicPr>
        <p:blipFill>
          <a:blip r:embed="rId2"/>
          <a:stretch>
            <a:fillRect/>
          </a:stretch>
        </p:blipFill>
        <p:spPr>
          <a:xfrm>
            <a:off x="685800" y="3634740"/>
            <a:ext cx="411480" cy="411480"/>
          </a:xfrm>
          <a:prstGeom prst="rect">
            <a:avLst/>
          </a:prstGeom>
        </p:spPr>
      </p:pic>
      <p:sp>
        <p:nvSpPr>
          <p:cNvPr id="14" name="Text 9"/>
          <p:cNvSpPr txBox="1"/>
          <p:nvPr/>
        </p:nvSpPr>
        <p:spPr>
          <a:xfrm>
            <a:off x="1463040" y="3291840"/>
            <a:ext cx="10180015" cy="534924"/>
          </a:xfrm>
          <a:prstGeom prst="rect">
            <a:avLst/>
          </a:prstGeom>
          <a:noFill/>
          <a:ln/>
        </p:spPr>
        <p:txBody>
          <a:bodyPr wrap="square" lIns="0" tIns="0" rIns="0" bIns="0" rtlCol="0" anchor="b">
            <a:normAutofit/>
          </a:bodyPr>
          <a:lstStyle/>
          <a:p>
            <a:pPr algn="l" indent="0" marL="0">
              <a:buNone/>
            </a:pPr>
            <a:r>
              <a:rPr lang="en-US" sz="1800" b="1" dirty="0">
                <a:solidFill>
                  <a:srgbClr val="1F2933"/>
                </a:solidFill>
                <a:latin typeface="Arial" pitchFamily="34" charset="0"/>
                <a:ea typeface="Arial" pitchFamily="34" charset="-122"/>
                <a:cs typeface="Arial" pitchFamily="34" charset="-120"/>
              </a:rPr>
              <a:t>Deck or brief</a:t>
            </a:r>
            <a:endParaRPr lang="en-US" sz="1800" dirty="0"/>
          </a:p>
        </p:txBody>
      </p:sp>
      <p:sp>
        <p:nvSpPr>
          <p:cNvPr id="15" name="Text 10"/>
          <p:cNvSpPr txBox="1"/>
          <p:nvPr/>
        </p:nvSpPr>
        <p:spPr>
          <a:xfrm>
            <a:off x="1463040" y="3862426"/>
            <a:ext cx="10180015" cy="594360"/>
          </a:xfrm>
          <a:prstGeom prst="rect">
            <a:avLst/>
          </a:prstGeom>
          <a:noFill/>
          <a:ln/>
        </p:spPr>
        <p:txBody>
          <a:bodyPr wrap="square" lIns="0" tIns="0" rIns="0" bIns="0" rtlCol="0" anchor="t">
            <a:normAutofit/>
          </a:bodyPr>
          <a:lstStyle/>
          <a:p>
            <a:pPr algn="l" indent="0" marL="0">
              <a:buNone/>
            </a:pPr>
            <a:r>
              <a:rPr lang="en-US" sz="1400" dirty="0">
                <a:solidFill>
                  <a:srgbClr val="55606D"/>
                </a:solidFill>
                <a:latin typeface="Arial" pitchFamily="34" charset="0"/>
                <a:ea typeface="Arial" pitchFamily="34" charset="-122"/>
                <a:cs typeface="Arial" pitchFamily="34" charset="-120"/>
              </a:rPr>
              <a:t>for executives and customers, from any governed document set, every number sourced</a:t>
            </a:r>
            <a:endParaRPr lang="en-US" sz="1400" dirty="0"/>
          </a:p>
        </p:txBody>
      </p:sp>
      <p:sp>
        <p:nvSpPr>
          <p:cNvPr id="16" name="Shape 11"/>
          <p:cNvSpPr/>
          <p:nvPr/>
        </p:nvSpPr>
        <p:spPr>
          <a:xfrm>
            <a:off x="548640" y="4686300"/>
            <a:ext cx="685800" cy="685800"/>
          </a:xfrm>
          <a:prstGeom prst="ellipse">
            <a:avLst/>
          </a:prstGeom>
          <a:solidFill>
            <a:srgbClr val="3B6BA8"/>
          </a:solidFill>
          <a:ln w="12700">
            <a:solidFill>
              <a:srgbClr val="3B6BA8"/>
            </a:solidFill>
            <a:prstDash val="solid"/>
          </a:ln>
        </p:spPr>
      </p:sp>
      <p:pic>
        <p:nvPicPr>
          <p:cNvPr id="17" name="Image 2" descr="preencoded.png">    </p:cNvPr>
          <p:cNvPicPr>
            <a:picLocks noChangeAspect="1"/>
          </p:cNvPicPr>
          <p:nvPr/>
        </p:nvPicPr>
        <p:blipFill>
          <a:blip r:embed="rId3"/>
          <a:stretch>
            <a:fillRect/>
          </a:stretch>
        </p:blipFill>
        <p:spPr>
          <a:xfrm>
            <a:off x="685800" y="4823460"/>
            <a:ext cx="411480" cy="411480"/>
          </a:xfrm>
          <a:prstGeom prst="rect">
            <a:avLst/>
          </a:prstGeom>
        </p:spPr>
      </p:pic>
      <p:sp>
        <p:nvSpPr>
          <p:cNvPr id="18" name="Text 12"/>
          <p:cNvSpPr txBox="1"/>
          <p:nvPr/>
        </p:nvSpPr>
        <p:spPr>
          <a:xfrm>
            <a:off x="1463040" y="4480560"/>
            <a:ext cx="10180015" cy="534924"/>
          </a:xfrm>
          <a:prstGeom prst="rect">
            <a:avLst/>
          </a:prstGeom>
          <a:noFill/>
          <a:ln/>
        </p:spPr>
        <p:txBody>
          <a:bodyPr wrap="square" lIns="0" tIns="0" rIns="0" bIns="0" rtlCol="0" anchor="b">
            <a:normAutofit/>
          </a:bodyPr>
          <a:lstStyle/>
          <a:p>
            <a:pPr algn="l" indent="0" marL="0">
              <a:buNone/>
            </a:pPr>
            <a:r>
              <a:rPr lang="en-US" sz="1800" b="1" dirty="0">
                <a:solidFill>
                  <a:srgbClr val="1F2933"/>
                </a:solidFill>
                <a:latin typeface="Arial" pitchFamily="34" charset="0"/>
                <a:ea typeface="Arial" pitchFamily="34" charset="-122"/>
                <a:cs typeface="Arial" pitchFamily="34" charset="-120"/>
              </a:rPr>
              <a:t>Release notes</a:t>
            </a:r>
            <a:endParaRPr lang="en-US" sz="1800" dirty="0"/>
          </a:p>
        </p:txBody>
      </p:sp>
      <p:sp>
        <p:nvSpPr>
          <p:cNvPr id="19" name="Text 13"/>
          <p:cNvSpPr txBox="1"/>
          <p:nvPr/>
        </p:nvSpPr>
        <p:spPr>
          <a:xfrm>
            <a:off x="1463040" y="5051146"/>
            <a:ext cx="10180015" cy="594360"/>
          </a:xfrm>
          <a:prstGeom prst="rect">
            <a:avLst/>
          </a:prstGeom>
          <a:noFill/>
          <a:ln/>
        </p:spPr>
        <p:txBody>
          <a:bodyPr wrap="square" lIns="0" tIns="0" rIns="0" bIns="0" rtlCol="0" anchor="t">
            <a:normAutofit/>
          </a:bodyPr>
          <a:lstStyle/>
          <a:p>
            <a:pPr algn="l" indent="0" marL="0">
              <a:buNone/>
            </a:pPr>
            <a:r>
              <a:rPr lang="en-US" sz="1400" dirty="0">
                <a:solidFill>
                  <a:srgbClr val="55606D"/>
                </a:solidFill>
                <a:latin typeface="Arial" pitchFamily="34" charset="0"/>
                <a:ea typeface="Arial" pitchFamily="34" charset="-122"/>
                <a:cs typeface="Arial" pitchFamily="34" charset="-120"/>
              </a:rPr>
              <a:t>for users and support, from the deploy documents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9</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One gate caught five affected documents before coding</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S8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9</a:t>
            </a:r>
            <a:endParaRPr lang="en-US" sz="1000" dirty="0"/>
          </a:p>
        </p:txBody>
      </p:sp>
      <p:sp>
        <p:nvSpPr>
          <p:cNvPr id="8" name="Text 5"/>
          <p:cNvSpPr txBox="1"/>
          <p:nvPr/>
        </p:nvSpPr>
        <p:spPr>
          <a:xfrm>
            <a:off x="548640" y="1965960"/>
            <a:ext cx="4462653" cy="3840480"/>
          </a:xfrm>
          <a:prstGeom prst="rect">
            <a:avLst/>
          </a:prstGeom>
          <a:noFill/>
          <a:ln/>
        </p:spPr>
        <p:txBody>
          <a:bodyPr wrap="square" lIns="0" tIns="0" rIns="0" bIns="0" rtlCol="0" anchor="t"/>
          <a:lstStyle/>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A team asked its agent to add OAuth login</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The alignment check found 3 affected feature specs and 2 affected designs</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It flagged 1 recorded decision that conflicted with the OAuth pattern</a:t>
            </a:r>
            <a:endParaRPr lang="en-US" sz="1800" dirty="0"/>
          </a:p>
          <a:p>
            <a:pPr marL="228600" indent="-228600">
              <a:spcAft>
                <a:spcPts val="1080"/>
              </a:spcAft>
              <a:buSzPct val="100000"/>
              <a:buChar char="•"/>
            </a:pPr>
            <a:r>
              <a:rPr lang="en-US" sz="1800" dirty="0">
                <a:solidFill>
                  <a:srgbClr val="1F2933"/>
                </a:solidFill>
                <a:latin typeface="Arial" pitchFamily="34" charset="0"/>
                <a:ea typeface="Arial" pitchFamily="34" charset="-122"/>
                <a:cs typeface="Arial" pitchFamily="34" charset="-120"/>
              </a:rPr>
              <a:t>It listed 4 missing user stories and 1 test plan to revise</a:t>
            </a:r>
            <a:endParaRPr lang="en-US" sz="1800" dirty="0"/>
          </a:p>
        </p:txBody>
      </p:sp>
      <p:sp>
        <p:nvSpPr>
          <p:cNvPr id="9" name="Shape 6"/>
          <p:cNvSpPr/>
          <p:nvPr/>
        </p:nvSpPr>
        <p:spPr>
          <a:xfrm>
            <a:off x="5285613" y="1965960"/>
            <a:ext cx="1383621" cy="3840480"/>
          </a:xfrm>
          <a:prstGeom prst="roundRect">
            <a:avLst>
              <a:gd name="adj" fmla="val 6609"/>
            </a:avLst>
          </a:prstGeom>
          <a:solidFill>
            <a:srgbClr val="F3F5F8"/>
          </a:solidFill>
          <a:ln w="9525">
            <a:solidFill>
              <a:srgbClr val="D6DCE4"/>
            </a:solidFill>
            <a:prstDash val="solid"/>
          </a:ln>
        </p:spPr>
      </p:sp>
      <p:sp>
        <p:nvSpPr>
          <p:cNvPr id="10" name="Shape 7"/>
          <p:cNvSpPr/>
          <p:nvPr/>
        </p:nvSpPr>
        <p:spPr>
          <a:xfrm>
            <a:off x="5666109" y="2423160"/>
            <a:ext cx="622629" cy="622629"/>
          </a:xfrm>
          <a:prstGeom prst="ellipse">
            <a:avLst/>
          </a:prstGeom>
          <a:solidFill>
            <a:srgbClr val="3B6BA8"/>
          </a:solidFill>
          <a:ln w="12700">
            <a:solidFill>
              <a:srgbClr val="3B6BA8"/>
            </a:solidFill>
            <a:prstDash val="solid"/>
          </a:ln>
        </p:spPr>
      </p:sp>
      <p:pic>
        <p:nvPicPr>
          <p:cNvPr id="11" name="Image 0" descr="preencoded.png">    </p:cNvPr>
          <p:cNvPicPr>
            <a:picLocks noChangeAspect="1"/>
          </p:cNvPicPr>
          <p:nvPr/>
        </p:nvPicPr>
        <p:blipFill>
          <a:blip r:embed="rId1"/>
          <a:stretch>
            <a:fillRect/>
          </a:stretch>
        </p:blipFill>
        <p:spPr>
          <a:xfrm>
            <a:off x="5790635" y="2547686"/>
            <a:ext cx="373578" cy="373578"/>
          </a:xfrm>
          <a:prstGeom prst="rect">
            <a:avLst/>
          </a:prstGeom>
        </p:spPr>
      </p:pic>
      <p:sp>
        <p:nvSpPr>
          <p:cNvPr id="12" name="Text 8"/>
          <p:cNvSpPr txBox="1"/>
          <p:nvPr/>
        </p:nvSpPr>
        <p:spPr>
          <a:xfrm>
            <a:off x="5358765" y="3274389"/>
            <a:ext cx="1237317"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3 specs</a:t>
            </a:r>
            <a:endParaRPr lang="en-US" sz="1600" dirty="0"/>
          </a:p>
        </p:txBody>
      </p:sp>
      <p:sp>
        <p:nvSpPr>
          <p:cNvPr id="13" name="Text 9"/>
          <p:cNvSpPr txBox="1"/>
          <p:nvPr/>
        </p:nvSpPr>
        <p:spPr>
          <a:xfrm>
            <a:off x="5422773" y="3777309"/>
            <a:ext cx="1109301" cy="1846251"/>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affected by the change</a:t>
            </a:r>
            <a:endParaRPr lang="en-US" sz="1300" dirty="0"/>
          </a:p>
        </p:txBody>
      </p:sp>
      <p:sp>
        <p:nvSpPr>
          <p:cNvPr id="14" name="Shape 10"/>
          <p:cNvSpPr/>
          <p:nvPr/>
        </p:nvSpPr>
        <p:spPr>
          <a:xfrm>
            <a:off x="6943554" y="1965960"/>
            <a:ext cx="1383621" cy="3840480"/>
          </a:xfrm>
          <a:prstGeom prst="roundRect">
            <a:avLst>
              <a:gd name="adj" fmla="val 6609"/>
            </a:avLst>
          </a:prstGeom>
          <a:solidFill>
            <a:srgbClr val="F3F5F8"/>
          </a:solidFill>
          <a:ln w="9525">
            <a:solidFill>
              <a:srgbClr val="D6DCE4"/>
            </a:solidFill>
            <a:prstDash val="solid"/>
          </a:ln>
        </p:spPr>
      </p:sp>
      <p:sp>
        <p:nvSpPr>
          <p:cNvPr id="15" name="Shape 11"/>
          <p:cNvSpPr/>
          <p:nvPr/>
        </p:nvSpPr>
        <p:spPr>
          <a:xfrm>
            <a:off x="7324049" y="2423160"/>
            <a:ext cx="622629" cy="622629"/>
          </a:xfrm>
          <a:prstGeom prst="ellipse">
            <a:avLst/>
          </a:prstGeom>
          <a:solidFill>
            <a:srgbClr val="6842A8"/>
          </a:solidFill>
          <a:ln w="12700">
            <a:solidFill>
              <a:srgbClr val="6842A8"/>
            </a:solidFill>
            <a:prstDash val="solid"/>
          </a:ln>
        </p:spPr>
      </p:sp>
      <p:pic>
        <p:nvPicPr>
          <p:cNvPr id="16" name="Image 1" descr="preencoded.png">    </p:cNvPr>
          <p:cNvPicPr>
            <a:picLocks noChangeAspect="1"/>
          </p:cNvPicPr>
          <p:nvPr/>
        </p:nvPicPr>
        <p:blipFill>
          <a:blip r:embed="rId2"/>
          <a:stretch>
            <a:fillRect/>
          </a:stretch>
        </p:blipFill>
        <p:spPr>
          <a:xfrm>
            <a:off x="7448575" y="2547686"/>
            <a:ext cx="373578" cy="373578"/>
          </a:xfrm>
          <a:prstGeom prst="rect">
            <a:avLst/>
          </a:prstGeom>
        </p:spPr>
      </p:pic>
      <p:sp>
        <p:nvSpPr>
          <p:cNvPr id="17" name="Text 12"/>
          <p:cNvSpPr txBox="1"/>
          <p:nvPr/>
        </p:nvSpPr>
        <p:spPr>
          <a:xfrm>
            <a:off x="7016706" y="3274389"/>
            <a:ext cx="1237317"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1 decision</a:t>
            </a:r>
            <a:endParaRPr lang="en-US" sz="1600" dirty="0"/>
          </a:p>
        </p:txBody>
      </p:sp>
      <p:sp>
        <p:nvSpPr>
          <p:cNvPr id="18" name="Text 13"/>
          <p:cNvSpPr txBox="1"/>
          <p:nvPr/>
        </p:nvSpPr>
        <p:spPr>
          <a:xfrm>
            <a:off x="7080714" y="3777309"/>
            <a:ext cx="1109301" cy="1846251"/>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in conflict with OAuth</a:t>
            </a:r>
            <a:endParaRPr lang="en-US" sz="1300" dirty="0"/>
          </a:p>
        </p:txBody>
      </p:sp>
      <p:sp>
        <p:nvSpPr>
          <p:cNvPr id="19" name="Shape 14"/>
          <p:cNvSpPr/>
          <p:nvPr/>
        </p:nvSpPr>
        <p:spPr>
          <a:xfrm>
            <a:off x="8601494" y="1965960"/>
            <a:ext cx="1383621" cy="3840480"/>
          </a:xfrm>
          <a:prstGeom prst="roundRect">
            <a:avLst>
              <a:gd name="adj" fmla="val 6609"/>
            </a:avLst>
          </a:prstGeom>
          <a:solidFill>
            <a:srgbClr val="F3F5F8"/>
          </a:solidFill>
          <a:ln w="9525">
            <a:solidFill>
              <a:srgbClr val="D6DCE4"/>
            </a:solidFill>
            <a:prstDash val="solid"/>
          </a:ln>
        </p:spPr>
      </p:sp>
      <p:sp>
        <p:nvSpPr>
          <p:cNvPr id="20" name="Shape 15"/>
          <p:cNvSpPr/>
          <p:nvPr/>
        </p:nvSpPr>
        <p:spPr>
          <a:xfrm>
            <a:off x="8981990" y="2423160"/>
            <a:ext cx="622629" cy="622629"/>
          </a:xfrm>
          <a:prstGeom prst="ellipse">
            <a:avLst/>
          </a:prstGeom>
          <a:solidFill>
            <a:srgbClr val="C44B2F"/>
          </a:solidFill>
          <a:ln w="12700">
            <a:solidFill>
              <a:srgbClr val="C44B2F"/>
            </a:solidFill>
            <a:prstDash val="solid"/>
          </a:ln>
        </p:spPr>
      </p:sp>
      <p:pic>
        <p:nvPicPr>
          <p:cNvPr id="21" name="Image 2" descr="preencoded.png">    </p:cNvPr>
          <p:cNvPicPr>
            <a:picLocks noChangeAspect="1"/>
          </p:cNvPicPr>
          <p:nvPr/>
        </p:nvPicPr>
        <p:blipFill>
          <a:blip r:embed="rId3"/>
          <a:stretch>
            <a:fillRect/>
          </a:stretch>
        </p:blipFill>
        <p:spPr>
          <a:xfrm>
            <a:off x="9106516" y="2547686"/>
            <a:ext cx="373578" cy="373578"/>
          </a:xfrm>
          <a:prstGeom prst="rect">
            <a:avLst/>
          </a:prstGeom>
        </p:spPr>
      </p:pic>
      <p:sp>
        <p:nvSpPr>
          <p:cNvPr id="22" name="Text 16"/>
          <p:cNvSpPr txBox="1"/>
          <p:nvPr/>
        </p:nvSpPr>
        <p:spPr>
          <a:xfrm>
            <a:off x="8674646" y="3274389"/>
            <a:ext cx="1237317" cy="457200"/>
          </a:xfrm>
          <a:prstGeom prst="rect">
            <a:avLst/>
          </a:prstGeom>
          <a:noFill/>
          <a:ln/>
        </p:spPr>
        <p:txBody>
          <a:bodyPr wrap="square" lIns="0" tIns="0" rIns="0" bIns="0" rtlCol="0" anchor="t">
            <a:normAutofit/>
          </a:bodyPr>
          <a:lstStyle/>
          <a:p>
            <a:pPr algn="ctr" indent="0" marL="0">
              <a:buNone/>
            </a:pPr>
            <a:r>
              <a:rPr lang="en-US" sz="1600" b="1" dirty="0">
                <a:solidFill>
                  <a:srgbClr val="1F2933"/>
                </a:solidFill>
                <a:latin typeface="Arial" pitchFamily="34" charset="0"/>
                <a:ea typeface="Arial" pitchFamily="34" charset="-122"/>
                <a:cs typeface="Arial" pitchFamily="34" charset="-120"/>
              </a:rPr>
              <a:t>4 stories</a:t>
            </a:r>
            <a:endParaRPr lang="en-US" sz="1600" dirty="0"/>
          </a:p>
        </p:txBody>
      </p:sp>
      <p:sp>
        <p:nvSpPr>
          <p:cNvPr id="23" name="Text 17"/>
          <p:cNvSpPr txBox="1"/>
          <p:nvPr/>
        </p:nvSpPr>
        <p:spPr>
          <a:xfrm>
            <a:off x="8738654" y="3777309"/>
            <a:ext cx="1109301" cy="1846251"/>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missing and now listed</a:t>
            </a:r>
            <a:endParaRPr lang="en-US" sz="1300" dirty="0"/>
          </a:p>
        </p:txBody>
      </p:sp>
      <p:sp>
        <p:nvSpPr>
          <p:cNvPr id="24" name="Shape 18"/>
          <p:cNvSpPr/>
          <p:nvPr/>
        </p:nvSpPr>
        <p:spPr>
          <a:xfrm>
            <a:off x="10259435" y="1965960"/>
            <a:ext cx="1383621" cy="3840480"/>
          </a:xfrm>
          <a:prstGeom prst="roundRect">
            <a:avLst>
              <a:gd name="adj" fmla="val 6609"/>
            </a:avLst>
          </a:prstGeom>
          <a:solidFill>
            <a:srgbClr val="F3F5F8"/>
          </a:solidFill>
          <a:ln w="9525">
            <a:solidFill>
              <a:srgbClr val="D6DCE4"/>
            </a:solidFill>
            <a:prstDash val="solid"/>
          </a:ln>
        </p:spPr>
      </p:sp>
      <p:sp>
        <p:nvSpPr>
          <p:cNvPr id="25" name="Shape 19"/>
          <p:cNvSpPr/>
          <p:nvPr/>
        </p:nvSpPr>
        <p:spPr>
          <a:xfrm>
            <a:off x="10639930" y="2423160"/>
            <a:ext cx="622629" cy="622629"/>
          </a:xfrm>
          <a:prstGeom prst="ellipse">
            <a:avLst/>
          </a:prstGeom>
          <a:solidFill>
            <a:srgbClr val="3B6BA8"/>
          </a:solidFill>
          <a:ln w="12700">
            <a:solidFill>
              <a:srgbClr val="3B6BA8"/>
            </a:solidFill>
            <a:prstDash val="solid"/>
          </a:ln>
        </p:spPr>
      </p:sp>
      <p:pic>
        <p:nvPicPr>
          <p:cNvPr id="26" name="Image 3" descr="preencoded.png">    </p:cNvPr>
          <p:cNvPicPr>
            <a:picLocks noChangeAspect="1"/>
          </p:cNvPicPr>
          <p:nvPr/>
        </p:nvPicPr>
        <p:blipFill>
          <a:blip r:embed="rId4"/>
          <a:stretch>
            <a:fillRect/>
          </a:stretch>
        </p:blipFill>
        <p:spPr>
          <a:xfrm>
            <a:off x="10764456" y="2547686"/>
            <a:ext cx="373578" cy="373578"/>
          </a:xfrm>
          <a:prstGeom prst="rect">
            <a:avLst/>
          </a:prstGeom>
        </p:spPr>
      </p:pic>
      <p:sp>
        <p:nvSpPr>
          <p:cNvPr id="27" name="Text 20"/>
          <p:cNvSpPr txBox="1"/>
          <p:nvPr/>
        </p:nvSpPr>
        <p:spPr>
          <a:xfrm>
            <a:off x="10332587" y="3274389"/>
            <a:ext cx="1237317" cy="457200"/>
          </a:xfrm>
          <a:prstGeom prst="rect">
            <a:avLst/>
          </a:prstGeom>
          <a:noFill/>
          <a:ln/>
        </p:spPr>
        <p:txBody>
          <a:bodyPr wrap="square" lIns="0" tIns="0" rIns="0" bIns="0" rtlCol="0" anchor="t">
            <a:normAutofit/>
          </a:bodyPr>
          <a:lstStyle/>
          <a:p>
            <a:pPr algn="ctr" indent="0" marL="0">
              <a:buNone/>
            </a:pPr>
            <a:r>
              <a:rPr lang="en-US" sz="1400" b="1" dirty="0">
                <a:solidFill>
                  <a:srgbClr val="1F2933"/>
                </a:solidFill>
                <a:latin typeface="Arial" pitchFamily="34" charset="0"/>
                <a:ea typeface="Arial" pitchFamily="34" charset="-122"/>
                <a:cs typeface="Arial" pitchFamily="34" charset="-120"/>
              </a:rPr>
              <a:t>1 test plan</a:t>
            </a:r>
            <a:endParaRPr lang="en-US" sz="1400" dirty="0"/>
          </a:p>
        </p:txBody>
      </p:sp>
      <p:sp>
        <p:nvSpPr>
          <p:cNvPr id="28" name="Text 21"/>
          <p:cNvSpPr txBox="1"/>
          <p:nvPr/>
        </p:nvSpPr>
        <p:spPr>
          <a:xfrm>
            <a:off x="10396595" y="3777309"/>
            <a:ext cx="1109301" cy="1846251"/>
          </a:xfrm>
          <a:prstGeom prst="rect">
            <a:avLst/>
          </a:prstGeom>
          <a:noFill/>
          <a:ln/>
        </p:spPr>
        <p:txBody>
          <a:bodyPr wrap="square" lIns="0" tIns="0" rIns="0" bIns="0" rtlCol="0" anchor="t">
            <a:normAutofit/>
          </a:bodyPr>
          <a:lstStyle/>
          <a:p>
            <a:pPr algn="ctr" indent="0" marL="0">
              <a:buNone/>
            </a:pPr>
            <a:r>
              <a:rPr lang="en-US" sz="1300" dirty="0">
                <a:solidFill>
                  <a:srgbClr val="55606D"/>
                </a:solidFill>
                <a:latin typeface="Arial" pitchFamily="34" charset="0"/>
                <a:ea typeface="Arial" pitchFamily="34" charset="-122"/>
                <a:cs typeface="Arial" pitchFamily="34" charset="-120"/>
              </a:rPr>
              <a:t>to revise first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C44B2F"/>
          </a:solidFill>
          <a:ln w="12700">
            <a:solidFill>
              <a:srgbClr val="C44B2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10</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People decide and agents draft at every gate</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55606D"/>
                </a:solidFill>
                <a:latin typeface="Arial" pitchFamily="34" charset="0"/>
                <a:ea typeface="Arial" pitchFamily="34" charset="-122"/>
                <a:cs typeface="Arial" pitchFamily="34" charset="-120"/>
              </a:rPr>
              <a:t>Sources: S21, S22, S15, S13, S14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10</a:t>
            </a:r>
            <a:endParaRPr lang="en-US" sz="1000" dirty="0"/>
          </a:p>
        </p:txBody>
      </p:sp>
      <p:sp>
        <p:nvSpPr>
          <p:cNvPr id="8" name="Shape 5"/>
          <p:cNvSpPr/>
          <p:nvPr/>
        </p:nvSpPr>
        <p:spPr>
          <a:xfrm>
            <a:off x="548640" y="1965960"/>
            <a:ext cx="5410048" cy="3108960"/>
          </a:xfrm>
          <a:prstGeom prst="roundRect">
            <a:avLst>
              <a:gd name="adj" fmla="val 2941"/>
            </a:avLst>
          </a:prstGeom>
          <a:solidFill>
            <a:srgbClr val="FFFFFF"/>
          </a:solidFill>
          <a:ln w="9525">
            <a:solidFill>
              <a:srgbClr val="D6DCE4"/>
            </a:solidFill>
            <a:prstDash val="solid"/>
          </a:ln>
        </p:spPr>
      </p:sp>
      <p:sp>
        <p:nvSpPr>
          <p:cNvPr id="9" name="Shape 6"/>
          <p:cNvSpPr/>
          <p:nvPr/>
        </p:nvSpPr>
        <p:spPr>
          <a:xfrm>
            <a:off x="822960" y="2075688"/>
            <a:ext cx="411480" cy="411480"/>
          </a:xfrm>
          <a:prstGeom prst="ellipse">
            <a:avLst/>
          </a:prstGeom>
          <a:solidFill>
            <a:srgbClr val="3B6BA8"/>
          </a:solidFill>
          <a:ln w="12700">
            <a:solidFill>
              <a:srgbClr val="3B6BA8"/>
            </a:solidFill>
            <a:prstDash val="solid"/>
          </a:ln>
        </p:spPr>
      </p:sp>
      <p:pic>
        <p:nvPicPr>
          <p:cNvPr id="10" name="Image 0" descr="preencoded.png">    </p:cNvPr>
          <p:cNvPicPr>
            <a:picLocks noChangeAspect="1"/>
          </p:cNvPicPr>
          <p:nvPr/>
        </p:nvPicPr>
        <p:blipFill>
          <a:blip r:embed="rId1"/>
          <a:stretch>
            <a:fillRect/>
          </a:stretch>
        </p:blipFill>
        <p:spPr>
          <a:xfrm>
            <a:off x="905256" y="2157984"/>
            <a:ext cx="246888" cy="246888"/>
          </a:xfrm>
          <a:prstGeom prst="rect">
            <a:avLst/>
          </a:prstGeom>
        </p:spPr>
      </p:pic>
      <p:sp>
        <p:nvSpPr>
          <p:cNvPr id="11" name="Text 7"/>
          <p:cNvSpPr txBox="1"/>
          <p:nvPr/>
        </p:nvSpPr>
        <p:spPr>
          <a:xfrm>
            <a:off x="1371600" y="2148840"/>
            <a:ext cx="4312768" cy="457200"/>
          </a:xfrm>
          <a:prstGeom prst="rect">
            <a:avLst/>
          </a:prstGeom>
          <a:noFill/>
          <a:ln/>
        </p:spPr>
        <p:txBody>
          <a:bodyPr wrap="square" lIns="0" tIns="0" rIns="0" bIns="0" rtlCol="0" anchor="t">
            <a:normAutofit/>
          </a:bodyPr>
          <a:lstStyle/>
          <a:p>
            <a:pPr algn="l" indent="0" marL="0">
              <a:buNone/>
            </a:pPr>
            <a:r>
              <a:rPr lang="en-US" sz="2000" b="1" dirty="0">
                <a:solidFill>
                  <a:srgbClr val="3B6BA8"/>
                </a:solidFill>
                <a:latin typeface="Georgia" pitchFamily="34" charset="0"/>
                <a:ea typeface="Georgia" pitchFamily="34" charset="-122"/>
                <a:cs typeface="Georgia" pitchFamily="34" charset="-120"/>
              </a:rPr>
              <a:t>People hold</a:t>
            </a:r>
            <a:endParaRPr lang="en-US" sz="2000" dirty="0"/>
          </a:p>
        </p:txBody>
      </p:sp>
      <p:sp>
        <p:nvSpPr>
          <p:cNvPr id="12" name="Shape 8"/>
          <p:cNvSpPr/>
          <p:nvPr/>
        </p:nvSpPr>
        <p:spPr>
          <a:xfrm>
            <a:off x="822960" y="2743200"/>
            <a:ext cx="292608" cy="292608"/>
          </a:xfrm>
          <a:prstGeom prst="ellipse">
            <a:avLst/>
          </a:prstGeom>
          <a:solidFill>
            <a:srgbClr val="3B6BA8"/>
          </a:solidFill>
          <a:ln w="12700">
            <a:solidFill>
              <a:srgbClr val="3B6BA8"/>
            </a:solidFill>
            <a:prstDash val="solid"/>
          </a:ln>
        </p:spPr>
      </p:sp>
      <p:sp>
        <p:nvSpPr>
          <p:cNvPr id="13" name="Text 9"/>
          <p:cNvSpPr txBox="1"/>
          <p:nvPr/>
        </p:nvSpPr>
        <p:spPr>
          <a:xfrm>
            <a:off x="822960" y="27432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14" name="Text 10"/>
          <p:cNvSpPr txBox="1"/>
          <p:nvPr/>
        </p:nvSpPr>
        <p:spPr>
          <a:xfrm>
            <a:off x="1280160" y="2697480"/>
            <a:ext cx="44042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What to build and which decision stands</a:t>
            </a:r>
            <a:endParaRPr lang="en-US" sz="1500" dirty="0"/>
          </a:p>
        </p:txBody>
      </p:sp>
      <p:sp>
        <p:nvSpPr>
          <p:cNvPr id="15" name="Shape 11"/>
          <p:cNvSpPr/>
          <p:nvPr/>
        </p:nvSpPr>
        <p:spPr>
          <a:xfrm>
            <a:off x="822960" y="3291840"/>
            <a:ext cx="292608" cy="292608"/>
          </a:xfrm>
          <a:prstGeom prst="ellipse">
            <a:avLst/>
          </a:prstGeom>
          <a:solidFill>
            <a:srgbClr val="3B6BA8"/>
          </a:solidFill>
          <a:ln w="12700">
            <a:solidFill>
              <a:srgbClr val="3B6BA8"/>
            </a:solidFill>
            <a:prstDash val="solid"/>
          </a:ln>
        </p:spPr>
      </p:sp>
      <p:sp>
        <p:nvSpPr>
          <p:cNvPr id="16" name="Text 12"/>
          <p:cNvSpPr txBox="1"/>
          <p:nvPr/>
        </p:nvSpPr>
        <p:spPr>
          <a:xfrm>
            <a:off x="822960" y="329184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17" name="Text 13"/>
          <p:cNvSpPr txBox="1"/>
          <p:nvPr/>
        </p:nvSpPr>
        <p:spPr>
          <a:xfrm>
            <a:off x="1280160" y="3246120"/>
            <a:ext cx="44042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Approval that turns a draft into authority</a:t>
            </a:r>
            <a:endParaRPr lang="en-US" sz="1500" dirty="0"/>
          </a:p>
        </p:txBody>
      </p:sp>
      <p:sp>
        <p:nvSpPr>
          <p:cNvPr id="18" name="Shape 14"/>
          <p:cNvSpPr/>
          <p:nvPr/>
        </p:nvSpPr>
        <p:spPr>
          <a:xfrm>
            <a:off x="822960" y="3840480"/>
            <a:ext cx="292608" cy="292608"/>
          </a:xfrm>
          <a:prstGeom prst="ellipse">
            <a:avLst/>
          </a:prstGeom>
          <a:solidFill>
            <a:srgbClr val="3B6BA8"/>
          </a:solidFill>
          <a:ln w="12700">
            <a:solidFill>
              <a:srgbClr val="3B6BA8"/>
            </a:solidFill>
            <a:prstDash val="solid"/>
          </a:ln>
        </p:spPr>
      </p:sp>
      <p:sp>
        <p:nvSpPr>
          <p:cNvPr id="19" name="Text 15"/>
          <p:cNvSpPr txBox="1"/>
          <p:nvPr/>
        </p:nvSpPr>
        <p:spPr>
          <a:xfrm>
            <a:off x="822960" y="384048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20" name="Text 16"/>
          <p:cNvSpPr txBox="1"/>
          <p:nvPr/>
        </p:nvSpPr>
        <p:spPr>
          <a:xfrm>
            <a:off x="1280160" y="3794760"/>
            <a:ext cx="44042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When the work is complete</a:t>
            </a:r>
            <a:endParaRPr lang="en-US" sz="1500" dirty="0"/>
          </a:p>
        </p:txBody>
      </p:sp>
      <p:sp>
        <p:nvSpPr>
          <p:cNvPr id="21" name="Shape 17"/>
          <p:cNvSpPr/>
          <p:nvPr/>
        </p:nvSpPr>
        <p:spPr>
          <a:xfrm>
            <a:off x="822960" y="4389120"/>
            <a:ext cx="292608" cy="292608"/>
          </a:xfrm>
          <a:prstGeom prst="ellipse">
            <a:avLst/>
          </a:prstGeom>
          <a:solidFill>
            <a:srgbClr val="3B6BA8"/>
          </a:solidFill>
          <a:ln w="12700">
            <a:solidFill>
              <a:srgbClr val="3B6BA8"/>
            </a:solidFill>
            <a:prstDash val="solid"/>
          </a:ln>
        </p:spPr>
      </p:sp>
      <p:sp>
        <p:nvSpPr>
          <p:cNvPr id="22" name="Text 18"/>
          <p:cNvSpPr txBox="1"/>
          <p:nvPr/>
        </p:nvSpPr>
        <p:spPr>
          <a:xfrm>
            <a:off x="822960" y="43891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t>
            </a:r>
            <a:endParaRPr lang="en-US" sz="1200" dirty="0"/>
          </a:p>
        </p:txBody>
      </p:sp>
      <p:sp>
        <p:nvSpPr>
          <p:cNvPr id="23" name="Text 19"/>
          <p:cNvSpPr txBox="1"/>
          <p:nvPr/>
        </p:nvSpPr>
        <p:spPr>
          <a:xfrm>
            <a:off x="1280160" y="4343400"/>
            <a:ext cx="44042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How much runs unasked, a three-position dial</a:t>
            </a:r>
            <a:endParaRPr lang="en-US" sz="1500" dirty="0"/>
          </a:p>
        </p:txBody>
      </p:sp>
      <p:sp>
        <p:nvSpPr>
          <p:cNvPr id="24" name="Shape 20"/>
          <p:cNvSpPr/>
          <p:nvPr/>
        </p:nvSpPr>
        <p:spPr>
          <a:xfrm>
            <a:off x="6233008" y="1965960"/>
            <a:ext cx="5410048" cy="3108960"/>
          </a:xfrm>
          <a:prstGeom prst="roundRect">
            <a:avLst>
              <a:gd name="adj" fmla="val 2941"/>
            </a:avLst>
          </a:prstGeom>
          <a:solidFill>
            <a:srgbClr val="F3F5F8"/>
          </a:solidFill>
          <a:ln w="9525">
            <a:solidFill>
              <a:srgbClr val="D6DCE4"/>
            </a:solidFill>
            <a:prstDash val="solid"/>
          </a:ln>
        </p:spPr>
      </p:sp>
      <p:sp>
        <p:nvSpPr>
          <p:cNvPr id="25" name="Shape 21"/>
          <p:cNvSpPr/>
          <p:nvPr/>
        </p:nvSpPr>
        <p:spPr>
          <a:xfrm>
            <a:off x="6507328" y="2075688"/>
            <a:ext cx="411480" cy="411480"/>
          </a:xfrm>
          <a:prstGeom prst="ellipse">
            <a:avLst/>
          </a:prstGeom>
          <a:solidFill>
            <a:srgbClr val="55606D"/>
          </a:solidFill>
          <a:ln w="12700">
            <a:solidFill>
              <a:srgbClr val="55606D"/>
            </a:solidFill>
            <a:prstDash val="solid"/>
          </a:ln>
        </p:spPr>
      </p:sp>
      <p:pic>
        <p:nvPicPr>
          <p:cNvPr id="26" name="Image 1" descr="preencoded.png">    </p:cNvPr>
          <p:cNvPicPr>
            <a:picLocks noChangeAspect="1"/>
          </p:cNvPicPr>
          <p:nvPr/>
        </p:nvPicPr>
        <p:blipFill>
          <a:blip r:embed="rId2"/>
          <a:stretch>
            <a:fillRect/>
          </a:stretch>
        </p:blipFill>
        <p:spPr>
          <a:xfrm>
            <a:off x="6589624" y="2157984"/>
            <a:ext cx="246888" cy="246888"/>
          </a:xfrm>
          <a:prstGeom prst="rect">
            <a:avLst/>
          </a:prstGeom>
        </p:spPr>
      </p:pic>
      <p:sp>
        <p:nvSpPr>
          <p:cNvPr id="27" name="Text 22"/>
          <p:cNvSpPr txBox="1"/>
          <p:nvPr/>
        </p:nvSpPr>
        <p:spPr>
          <a:xfrm>
            <a:off x="7055968" y="2148840"/>
            <a:ext cx="4312768" cy="457200"/>
          </a:xfrm>
          <a:prstGeom prst="rect">
            <a:avLst/>
          </a:prstGeom>
          <a:noFill/>
          <a:ln/>
        </p:spPr>
        <p:txBody>
          <a:bodyPr wrap="square" lIns="0" tIns="0" rIns="0" bIns="0" rtlCol="0" anchor="t">
            <a:normAutofit/>
          </a:bodyPr>
          <a:lstStyle/>
          <a:p>
            <a:pPr algn="l" indent="0" marL="0">
              <a:buNone/>
            </a:pPr>
            <a:r>
              <a:rPr lang="en-US" sz="2000" b="1" dirty="0">
                <a:solidFill>
                  <a:srgbClr val="55606D"/>
                </a:solidFill>
                <a:latin typeface="Georgia" pitchFamily="34" charset="0"/>
                <a:ea typeface="Georgia" pitchFamily="34" charset="-122"/>
                <a:cs typeface="Georgia" pitchFamily="34" charset="-120"/>
              </a:rPr>
              <a:t>Agents hold</a:t>
            </a:r>
            <a:endParaRPr lang="en-US" sz="2000" dirty="0"/>
          </a:p>
        </p:txBody>
      </p:sp>
      <p:sp>
        <p:nvSpPr>
          <p:cNvPr id="28" name="Text 23"/>
          <p:cNvSpPr txBox="1"/>
          <p:nvPr/>
        </p:nvSpPr>
        <p:spPr>
          <a:xfrm>
            <a:off x="6507328" y="2697480"/>
            <a:ext cx="48614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Drafting every document in its template</a:t>
            </a:r>
            <a:endParaRPr lang="en-US" sz="1500" dirty="0"/>
          </a:p>
        </p:txBody>
      </p:sp>
      <p:sp>
        <p:nvSpPr>
          <p:cNvPr id="29" name="Text 24"/>
          <p:cNvSpPr txBox="1"/>
          <p:nvPr/>
        </p:nvSpPr>
        <p:spPr>
          <a:xfrm>
            <a:off x="6507328" y="3246120"/>
            <a:ext cx="48614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Checking each draft against the layer above</a:t>
            </a:r>
            <a:endParaRPr lang="en-US" sz="1500" dirty="0"/>
          </a:p>
        </p:txBody>
      </p:sp>
      <p:sp>
        <p:nvSpPr>
          <p:cNvPr id="30" name="Text 25"/>
          <p:cNvSpPr txBox="1"/>
          <p:nvPr/>
        </p:nvSpPr>
        <p:spPr>
          <a:xfrm>
            <a:off x="6507328" y="3794760"/>
            <a:ext cx="48614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Surfacing drift, contradictions, and gaps</a:t>
            </a:r>
            <a:endParaRPr lang="en-US" sz="1500" dirty="0"/>
          </a:p>
        </p:txBody>
      </p:sp>
      <p:sp>
        <p:nvSpPr>
          <p:cNvPr id="31" name="Text 26"/>
          <p:cNvSpPr txBox="1"/>
          <p:nvPr/>
        </p:nvSpPr>
        <p:spPr>
          <a:xfrm>
            <a:off x="6507328" y="4343400"/>
            <a:ext cx="4861408" cy="411480"/>
          </a:xfrm>
          <a:prstGeom prst="rect">
            <a:avLst/>
          </a:prstGeom>
          <a:noFill/>
          <a:ln/>
        </p:spPr>
        <p:txBody>
          <a:bodyPr wrap="square" lIns="0" tIns="0" rIns="0" bIns="0" rtlCol="0" anchor="t">
            <a:normAutofit/>
          </a:bodyPr>
          <a:lstStyle/>
          <a:p>
            <a:pPr algn="l" indent="0" marL="0">
              <a:buNone/>
            </a:pPr>
            <a:r>
              <a:rPr lang="en-US" sz="1500" dirty="0">
                <a:solidFill>
                  <a:srgbClr val="1F2933"/>
                </a:solidFill>
                <a:latin typeface="Arial" pitchFamily="34" charset="0"/>
                <a:ea typeface="Arial" pitchFamily="34" charset="-122"/>
                <a:cs typeface="Arial" pitchFamily="34" charset="-120"/>
              </a:rPr>
              <a:t>Stopping at the triggers and handing judgment back</a:t>
            </a:r>
            <a:endParaRPr lang="en-US" sz="1500" dirty="0"/>
          </a:p>
        </p:txBody>
      </p:sp>
      <p:sp>
        <p:nvSpPr>
          <p:cNvPr id="32" name="Text 27"/>
          <p:cNvSpPr txBox="1"/>
          <p:nvPr/>
        </p:nvSpPr>
        <p:spPr>
          <a:xfrm>
            <a:off x="548640" y="5257800"/>
            <a:ext cx="11094415" cy="548640"/>
          </a:xfrm>
          <a:prstGeom prst="rect">
            <a:avLst/>
          </a:prstGeom>
          <a:noFill/>
          <a:ln/>
        </p:spPr>
        <p:txBody>
          <a:bodyPr wrap="square" lIns="0" tIns="0" rIns="0" bIns="0" rtlCol="0" anchor="ctr">
            <a:normAutofit/>
          </a:bodyPr>
          <a:lstStyle/>
          <a:p>
            <a:pPr algn="l" indent="0" marL="0">
              <a:buNone/>
            </a:pPr>
            <a:r>
              <a:rPr lang="en-US" sz="1500" b="1" dirty="0">
                <a:solidFill>
                  <a:srgbClr val="C44B2F"/>
                </a:solidFill>
                <a:latin typeface="Arial" pitchFamily="34" charset="0"/>
                <a:ea typeface="Arial" pitchFamily="34" charset="-122"/>
                <a:cs typeface="Arial" pitchFamily="34" charset="-120"/>
              </a:rPr>
              <a:t>Verdict: the hand-offs have owners and rules, never an implied one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1F"/>
        </a:solidFill>
      </p:bgPr>
    </p:bg>
    <p:spTree>
      <p:nvGrpSpPr>
        <p:cNvPr id="1" name=""/>
        <p:cNvGrpSpPr/>
        <p:nvPr/>
      </p:nvGrpSpPr>
      <p:grpSpPr>
        <a:xfrm>
          <a:off x="0" y="0"/>
          <a:ext cx="0" cy="0"/>
          <a:chOff x="0" y="0"/>
          <a:chExt cx="0" cy="0"/>
        </a:xfrm>
      </p:grpSpPr>
      <p:sp>
        <p:nvSpPr>
          <p:cNvPr id="2" name="Shape 0"/>
          <p:cNvSpPr/>
          <p:nvPr/>
        </p:nvSpPr>
        <p:spPr>
          <a:xfrm>
            <a:off x="548640" y="658368"/>
            <a:ext cx="502920" cy="502920"/>
          </a:xfrm>
          <a:prstGeom prst="ellipse">
            <a:avLst/>
          </a:prstGeom>
          <a:solidFill>
            <a:srgbClr val="E07A5F"/>
          </a:solidFill>
          <a:ln w="12700">
            <a:solidFill>
              <a:srgbClr val="E07A5F"/>
            </a:solidFill>
            <a:prstDash val="solid"/>
          </a:ln>
        </p:spPr>
      </p:sp>
      <p:sp>
        <p:nvSpPr>
          <p:cNvPr id="3" name="Text 1"/>
          <p:cNvSpPr txBox="1"/>
          <p:nvPr/>
        </p:nvSpPr>
        <p:spPr>
          <a:xfrm>
            <a:off x="548640" y="6583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11</a:t>
            </a:r>
            <a:endParaRPr lang="en-US" sz="1600" dirty="0"/>
          </a:p>
        </p:txBody>
      </p:sp>
      <p:sp>
        <p:nvSpPr>
          <p:cNvPr id="4" name="Text 2"/>
          <p:cNvSpPr txBox="1"/>
          <p:nvPr/>
        </p:nvSpPr>
        <p:spPr>
          <a:xfrm>
            <a:off x="1325880" y="548640"/>
            <a:ext cx="10317175" cy="1188720"/>
          </a:xfrm>
          <a:prstGeom prst="rect">
            <a:avLst/>
          </a:prstGeom>
          <a:noFill/>
          <a:ln/>
        </p:spPr>
        <p:txBody>
          <a:bodyPr wrap="square" lIns="0" tIns="0" rIns="0" bIns="0" rtlCol="0" anchor="t">
            <a:normAutofit/>
          </a:bodyPr>
          <a:lstStyle/>
          <a:p>
            <a:pPr algn="l" indent="0" marL="0">
              <a:buNone/>
            </a:pPr>
            <a:r>
              <a:rPr lang="en-US" sz="3600" b="1" dirty="0">
                <a:solidFill>
                  <a:srgbClr val="EEF2F7"/>
                </a:solidFill>
                <a:latin typeface="Georgia" pitchFamily="34" charset="0"/>
                <a:ea typeface="Georgia" pitchFamily="34" charset="-122"/>
                <a:cs typeface="Georgia" pitchFamily="34" charset="-120"/>
              </a:rPr>
              <a:t>Pilot HELIX for one quarter and count what gates catch</a:t>
            </a:r>
            <a:endParaRPr lang="en-US" sz="3600" dirty="0"/>
          </a:p>
        </p:txBody>
      </p:sp>
      <p:sp>
        <p:nvSpPr>
          <p:cNvPr id="5" name="Text 3"/>
          <p:cNvSpPr txBox="1"/>
          <p:nvPr/>
        </p:nvSpPr>
        <p:spPr>
          <a:xfrm>
            <a:off x="548640" y="6035040"/>
            <a:ext cx="7315200" cy="274320"/>
          </a:xfrm>
          <a:prstGeom prst="rect">
            <a:avLst/>
          </a:prstGeom>
          <a:noFill/>
          <a:ln/>
        </p:spPr>
        <p:txBody>
          <a:bodyPr wrap="square" lIns="0" tIns="0" rIns="0" bIns="0" rtlCol="0" anchor="b"/>
          <a:lstStyle/>
          <a:p>
            <a:pPr indent="0" marL="0">
              <a:buNone/>
            </a:pPr>
            <a:r>
              <a:rPr lang="en-US" sz="900" dirty="0">
                <a:solidFill>
                  <a:srgbClr val="B9C2CF"/>
                </a:solidFill>
                <a:latin typeface="Arial" pitchFamily="34" charset="0"/>
                <a:ea typeface="Arial" pitchFamily="34" charset="-122"/>
                <a:cs typeface="Arial" pitchFamily="34" charset="-120"/>
              </a:rPr>
              <a:t>Sources: S7, S18 (appendix)</a:t>
            </a:r>
            <a:endParaRPr lang="en-US" sz="900" dirty="0"/>
          </a:p>
        </p:txBody>
      </p:sp>
      <p:sp>
        <p:nvSpPr>
          <p:cNvPr id="6" name="Text 4"/>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B9C2CF"/>
                </a:solidFill>
                <a:latin typeface="Arial" pitchFamily="34" charset="0"/>
                <a:ea typeface="Arial" pitchFamily="34" charset="-122"/>
                <a:cs typeface="Arial" pitchFamily="34" charset="-120"/>
              </a:rPr>
              <a:t>11</a:t>
            </a:r>
            <a:endParaRPr lang="en-US" sz="1000" dirty="0"/>
          </a:p>
        </p:txBody>
      </p:sp>
      <p:sp>
        <p:nvSpPr>
          <p:cNvPr id="8" name="Shape 5"/>
          <p:cNvSpPr/>
          <p:nvPr/>
        </p:nvSpPr>
        <p:spPr>
          <a:xfrm>
            <a:off x="548640" y="1965960"/>
            <a:ext cx="11094415" cy="777240"/>
          </a:xfrm>
          <a:prstGeom prst="roundRect">
            <a:avLst>
              <a:gd name="adj" fmla="val 11765"/>
            </a:avLst>
          </a:prstGeom>
          <a:solidFill>
            <a:srgbClr val="E07A5F"/>
          </a:solidFill>
          <a:ln w="9525">
            <a:solidFill>
              <a:srgbClr val="E07A5F"/>
            </a:solidFill>
            <a:prstDash val="solid"/>
          </a:ln>
        </p:spPr>
      </p:sp>
      <p:sp>
        <p:nvSpPr>
          <p:cNvPr id="9" name="Text 6"/>
          <p:cNvSpPr txBox="1"/>
          <p:nvPr/>
        </p:nvSpPr>
        <p:spPr>
          <a:xfrm>
            <a:off x="822960" y="1965960"/>
            <a:ext cx="10545775" cy="777240"/>
          </a:xfrm>
          <a:prstGeom prst="rect">
            <a:avLst/>
          </a:prstGeom>
          <a:noFill/>
          <a:ln/>
        </p:spPr>
        <p:txBody>
          <a:bodyPr wrap="square" lIns="0" tIns="0" rIns="0" bIns="0" rtlCol="0" anchor="ctr">
            <a:normAutofit/>
          </a:bodyPr>
          <a:lstStyle/>
          <a:p>
            <a:pPr algn="l" indent="0" marL="0">
              <a:buNone/>
            </a:pPr>
            <a:r>
              <a:rPr lang="en-US" sz="1800" b="1" dirty="0">
                <a:solidFill>
                  <a:srgbClr val="FFFFFF"/>
                </a:solidFill>
                <a:latin typeface="Arial" pitchFamily="34" charset="0"/>
                <a:ea typeface="Arial" pitchFamily="34" charset="-122"/>
                <a:cs typeface="Arial" pitchFamily="34" charset="-120"/>
              </a:rPr>
              <a:t>Pilot HELIX for one quarter and count what gates catch</a:t>
            </a:r>
            <a:endParaRPr lang="en-US" sz="1800" dirty="0"/>
          </a:p>
        </p:txBody>
      </p:sp>
      <p:sp>
        <p:nvSpPr>
          <p:cNvPr id="10" name="Text 7"/>
          <p:cNvSpPr txBox="1"/>
          <p:nvPr/>
        </p:nvSpPr>
        <p:spPr>
          <a:xfrm>
            <a:off x="1188720" y="3017520"/>
            <a:ext cx="6664757" cy="274320"/>
          </a:xfrm>
          <a:prstGeom prst="rect">
            <a:avLst/>
          </a:prstGeom>
          <a:noFill/>
          <a:ln/>
        </p:spPr>
        <p:txBody>
          <a:bodyPr wrap="square" lIns="0" tIns="0" rIns="0" bIns="0" rtlCol="0" anchor="t">
            <a:normAutofit/>
          </a:bodyPr>
          <a:lstStyle/>
          <a:p>
            <a:pPr algn="l" indent="0" marL="0">
              <a:buNone/>
            </a:pPr>
            <a:r>
              <a:rPr lang="en-US" sz="1200" b="1" dirty="0">
                <a:solidFill>
                  <a:srgbClr val="B9C2CF"/>
                </a:solidFill>
                <a:latin typeface="Arial" pitchFamily="34" charset="0"/>
                <a:ea typeface="Arial" pitchFamily="34" charset="-122"/>
                <a:cs typeface="Arial" pitchFamily="34" charset="-120"/>
              </a:rPr>
              <a:t>Step</a:t>
            </a:r>
            <a:endParaRPr lang="en-US" sz="1200" dirty="0"/>
          </a:p>
        </p:txBody>
      </p:sp>
      <p:sp>
        <p:nvSpPr>
          <p:cNvPr id="11" name="Text 8"/>
          <p:cNvSpPr txBox="1"/>
          <p:nvPr/>
        </p:nvSpPr>
        <p:spPr>
          <a:xfrm>
            <a:off x="8127797" y="3017520"/>
            <a:ext cx="1620469" cy="274320"/>
          </a:xfrm>
          <a:prstGeom prst="rect">
            <a:avLst/>
          </a:prstGeom>
          <a:noFill/>
          <a:ln/>
        </p:spPr>
        <p:txBody>
          <a:bodyPr wrap="square" lIns="0" tIns="0" rIns="0" bIns="0" rtlCol="0" anchor="t">
            <a:normAutofit/>
          </a:bodyPr>
          <a:lstStyle/>
          <a:p>
            <a:pPr algn="l" indent="0" marL="0">
              <a:buNone/>
            </a:pPr>
            <a:r>
              <a:rPr lang="en-US" sz="1200" b="1" dirty="0">
                <a:solidFill>
                  <a:srgbClr val="B9C2CF"/>
                </a:solidFill>
                <a:latin typeface="Arial" pitchFamily="34" charset="0"/>
                <a:ea typeface="Arial" pitchFamily="34" charset="-122"/>
                <a:cs typeface="Arial" pitchFamily="34" charset="-120"/>
              </a:rPr>
              <a:t>Owner</a:t>
            </a:r>
            <a:endParaRPr lang="en-US" sz="1200" dirty="0"/>
          </a:p>
        </p:txBody>
      </p:sp>
      <p:sp>
        <p:nvSpPr>
          <p:cNvPr id="12" name="Text 9"/>
          <p:cNvSpPr txBox="1"/>
          <p:nvPr/>
        </p:nvSpPr>
        <p:spPr>
          <a:xfrm>
            <a:off x="10022586" y="3017520"/>
            <a:ext cx="1620469" cy="274320"/>
          </a:xfrm>
          <a:prstGeom prst="rect">
            <a:avLst/>
          </a:prstGeom>
          <a:noFill/>
          <a:ln/>
        </p:spPr>
        <p:txBody>
          <a:bodyPr wrap="square" lIns="0" tIns="0" rIns="0" bIns="0" rtlCol="0" anchor="t">
            <a:normAutofit/>
          </a:bodyPr>
          <a:lstStyle/>
          <a:p>
            <a:pPr algn="l" indent="0" marL="0">
              <a:buNone/>
            </a:pPr>
            <a:r>
              <a:rPr lang="en-US" sz="1200" b="1" dirty="0">
                <a:solidFill>
                  <a:srgbClr val="B9C2CF"/>
                </a:solidFill>
                <a:latin typeface="Arial" pitchFamily="34" charset="0"/>
                <a:ea typeface="Arial" pitchFamily="34" charset="-122"/>
                <a:cs typeface="Arial" pitchFamily="34" charset="-120"/>
              </a:rPr>
              <a:t>Date</a:t>
            </a:r>
            <a:endParaRPr lang="en-US" sz="1200" dirty="0"/>
          </a:p>
        </p:txBody>
      </p:sp>
      <p:sp>
        <p:nvSpPr>
          <p:cNvPr id="13" name="Shape 10"/>
          <p:cNvSpPr/>
          <p:nvPr/>
        </p:nvSpPr>
        <p:spPr>
          <a:xfrm>
            <a:off x="548640" y="3474720"/>
            <a:ext cx="411480" cy="411480"/>
          </a:xfrm>
          <a:prstGeom prst="ellipse">
            <a:avLst/>
          </a:prstGeom>
          <a:solidFill>
            <a:srgbClr val="E07A5F"/>
          </a:solidFill>
          <a:ln w="12700">
            <a:solidFill>
              <a:srgbClr val="E07A5F"/>
            </a:solidFill>
            <a:prstDash val="solid"/>
          </a:ln>
        </p:spPr>
      </p:sp>
      <p:pic>
        <p:nvPicPr>
          <p:cNvPr id="14" name="Image 0" descr="preencoded.png">    </p:cNvPr>
          <p:cNvPicPr>
            <a:picLocks noChangeAspect="1"/>
          </p:cNvPicPr>
          <p:nvPr/>
        </p:nvPicPr>
        <p:blipFill>
          <a:blip r:embed="rId1"/>
          <a:stretch>
            <a:fillRect/>
          </a:stretch>
        </p:blipFill>
        <p:spPr>
          <a:xfrm>
            <a:off x="630936" y="3557016"/>
            <a:ext cx="246888" cy="246888"/>
          </a:xfrm>
          <a:prstGeom prst="rect">
            <a:avLst/>
          </a:prstGeom>
        </p:spPr>
      </p:pic>
      <p:sp>
        <p:nvSpPr>
          <p:cNvPr id="15" name="Text 11"/>
          <p:cNvSpPr txBox="1"/>
          <p:nvPr/>
        </p:nvSpPr>
        <p:spPr>
          <a:xfrm>
            <a:off x="1188720" y="3383280"/>
            <a:ext cx="6664757" cy="502920"/>
          </a:xfrm>
          <a:prstGeom prst="rect">
            <a:avLst/>
          </a:prstGeom>
          <a:noFill/>
          <a:ln/>
        </p:spPr>
        <p:txBody>
          <a:bodyPr wrap="square" lIns="0" tIns="0" rIns="0" bIns="0" rtlCol="0" anchor="ctr">
            <a:normAutofit/>
          </a:bodyPr>
          <a:lstStyle/>
          <a:p>
            <a:pPr algn="l" indent="0" marL="0">
              <a:buNone/>
            </a:pPr>
            <a:r>
              <a:rPr lang="en-US" sz="1500" dirty="0">
                <a:solidFill>
                  <a:srgbClr val="EEF2F7"/>
                </a:solidFill>
                <a:latin typeface="Arial" pitchFamily="34" charset="0"/>
                <a:ea typeface="Arial" pitchFamily="34" charset="-122"/>
                <a:cs typeface="Arial" pitchFamily="34" charset="-120"/>
              </a:rPr>
              <a:t>Pick one active project with an agent already in the loop, by the end of this week</a:t>
            </a:r>
            <a:endParaRPr lang="en-US" sz="1500" dirty="0"/>
          </a:p>
        </p:txBody>
      </p:sp>
      <p:sp>
        <p:nvSpPr>
          <p:cNvPr id="16" name="Shape 12"/>
          <p:cNvSpPr/>
          <p:nvPr/>
        </p:nvSpPr>
        <p:spPr>
          <a:xfrm>
            <a:off x="8127797" y="3749040"/>
            <a:ext cx="1620469" cy="0"/>
          </a:xfrm>
          <a:prstGeom prst="line">
            <a:avLst/>
          </a:prstGeom>
          <a:noFill/>
          <a:ln w="9525">
            <a:solidFill>
              <a:srgbClr val="B9C2CF"/>
            </a:solidFill>
            <a:prstDash val="solid"/>
            <a:headEnd type="none"/>
            <a:tailEnd type="none"/>
          </a:ln>
        </p:spPr>
      </p:sp>
      <p:sp>
        <p:nvSpPr>
          <p:cNvPr id="17" name="Shape 13"/>
          <p:cNvSpPr/>
          <p:nvPr/>
        </p:nvSpPr>
        <p:spPr>
          <a:xfrm>
            <a:off x="10022586" y="3749040"/>
            <a:ext cx="1620469" cy="0"/>
          </a:xfrm>
          <a:prstGeom prst="line">
            <a:avLst/>
          </a:prstGeom>
          <a:noFill/>
          <a:ln w="9525">
            <a:solidFill>
              <a:srgbClr val="B9C2CF"/>
            </a:solidFill>
            <a:prstDash val="solid"/>
            <a:headEnd type="none"/>
            <a:tailEnd type="none"/>
          </a:ln>
        </p:spPr>
      </p:sp>
      <p:sp>
        <p:nvSpPr>
          <p:cNvPr id="18" name="Shape 14"/>
          <p:cNvSpPr/>
          <p:nvPr/>
        </p:nvSpPr>
        <p:spPr>
          <a:xfrm>
            <a:off x="548640" y="4069080"/>
            <a:ext cx="411480" cy="411480"/>
          </a:xfrm>
          <a:prstGeom prst="ellipse">
            <a:avLst/>
          </a:prstGeom>
          <a:solidFill>
            <a:srgbClr val="E07A5F"/>
          </a:solidFill>
          <a:ln w="12700">
            <a:solidFill>
              <a:srgbClr val="E07A5F"/>
            </a:solidFill>
            <a:prstDash val="solid"/>
          </a:ln>
        </p:spPr>
      </p:sp>
      <p:pic>
        <p:nvPicPr>
          <p:cNvPr id="19" name="Image 1" descr="preencoded.png">    </p:cNvPr>
          <p:cNvPicPr>
            <a:picLocks noChangeAspect="1"/>
          </p:cNvPicPr>
          <p:nvPr/>
        </p:nvPicPr>
        <p:blipFill>
          <a:blip r:embed="rId2"/>
          <a:stretch>
            <a:fillRect/>
          </a:stretch>
        </p:blipFill>
        <p:spPr>
          <a:xfrm>
            <a:off x="630936" y="4151376"/>
            <a:ext cx="246888" cy="246888"/>
          </a:xfrm>
          <a:prstGeom prst="rect">
            <a:avLst/>
          </a:prstGeom>
        </p:spPr>
      </p:pic>
      <p:sp>
        <p:nvSpPr>
          <p:cNvPr id="20" name="Text 15"/>
          <p:cNvSpPr txBox="1"/>
          <p:nvPr/>
        </p:nvSpPr>
        <p:spPr>
          <a:xfrm>
            <a:off x="1188720" y="3977640"/>
            <a:ext cx="6664757" cy="502920"/>
          </a:xfrm>
          <a:prstGeom prst="rect">
            <a:avLst/>
          </a:prstGeom>
          <a:noFill/>
          <a:ln/>
        </p:spPr>
        <p:txBody>
          <a:bodyPr wrap="square" lIns="0" tIns="0" rIns="0" bIns="0" rtlCol="0" anchor="ctr">
            <a:normAutofit/>
          </a:bodyPr>
          <a:lstStyle/>
          <a:p>
            <a:pPr algn="l" indent="0" marL="0">
              <a:buNone/>
            </a:pPr>
            <a:r>
              <a:rPr lang="en-US" sz="1500" dirty="0">
                <a:solidFill>
                  <a:srgbClr val="EEF2F7"/>
                </a:solidFill>
                <a:latin typeface="Arial" pitchFamily="34" charset="0"/>
                <a:ea typeface="Arial" pitchFamily="34" charset="-122"/>
                <a:cs typeface="Arial" pitchFamily="34" charset="-120"/>
              </a:rPr>
              <a:t>Adopt the templates and run one alignment check on its documents in the first sprint</a:t>
            </a:r>
            <a:endParaRPr lang="en-US" sz="1500" dirty="0"/>
          </a:p>
        </p:txBody>
      </p:sp>
      <p:sp>
        <p:nvSpPr>
          <p:cNvPr id="21" name="Shape 16"/>
          <p:cNvSpPr/>
          <p:nvPr/>
        </p:nvSpPr>
        <p:spPr>
          <a:xfrm>
            <a:off x="8127797" y="4343400"/>
            <a:ext cx="1620469" cy="0"/>
          </a:xfrm>
          <a:prstGeom prst="line">
            <a:avLst/>
          </a:prstGeom>
          <a:noFill/>
          <a:ln w="9525">
            <a:solidFill>
              <a:srgbClr val="B9C2CF"/>
            </a:solidFill>
            <a:prstDash val="solid"/>
            <a:headEnd type="none"/>
            <a:tailEnd type="none"/>
          </a:ln>
        </p:spPr>
      </p:sp>
      <p:sp>
        <p:nvSpPr>
          <p:cNvPr id="22" name="Shape 17"/>
          <p:cNvSpPr/>
          <p:nvPr/>
        </p:nvSpPr>
        <p:spPr>
          <a:xfrm>
            <a:off x="10022586" y="4343400"/>
            <a:ext cx="1620469" cy="0"/>
          </a:xfrm>
          <a:prstGeom prst="line">
            <a:avLst/>
          </a:prstGeom>
          <a:noFill/>
          <a:ln w="9525">
            <a:solidFill>
              <a:srgbClr val="B9C2CF"/>
            </a:solidFill>
            <a:prstDash val="solid"/>
            <a:headEnd type="none"/>
            <a:tailEnd type="none"/>
          </a:ln>
        </p:spPr>
      </p:sp>
      <p:sp>
        <p:nvSpPr>
          <p:cNvPr id="23" name="Shape 18"/>
          <p:cNvSpPr/>
          <p:nvPr/>
        </p:nvSpPr>
        <p:spPr>
          <a:xfrm>
            <a:off x="548640" y="4663440"/>
            <a:ext cx="411480" cy="411480"/>
          </a:xfrm>
          <a:prstGeom prst="ellipse">
            <a:avLst/>
          </a:prstGeom>
          <a:solidFill>
            <a:srgbClr val="E07A5F"/>
          </a:solidFill>
          <a:ln w="12700">
            <a:solidFill>
              <a:srgbClr val="E07A5F"/>
            </a:solidFill>
            <a:prstDash val="solid"/>
          </a:ln>
        </p:spPr>
      </p:sp>
      <p:pic>
        <p:nvPicPr>
          <p:cNvPr id="24" name="Image 2" descr="preencoded.png">    </p:cNvPr>
          <p:cNvPicPr>
            <a:picLocks noChangeAspect="1"/>
          </p:cNvPicPr>
          <p:nvPr/>
        </p:nvPicPr>
        <p:blipFill>
          <a:blip r:embed="rId3"/>
          <a:stretch>
            <a:fillRect/>
          </a:stretch>
        </p:blipFill>
        <p:spPr>
          <a:xfrm>
            <a:off x="630936" y="4745736"/>
            <a:ext cx="246888" cy="246888"/>
          </a:xfrm>
          <a:prstGeom prst="rect">
            <a:avLst/>
          </a:prstGeom>
        </p:spPr>
      </p:pic>
      <p:sp>
        <p:nvSpPr>
          <p:cNvPr id="25" name="Text 19"/>
          <p:cNvSpPr txBox="1"/>
          <p:nvPr/>
        </p:nvSpPr>
        <p:spPr>
          <a:xfrm>
            <a:off x="1188720" y="4572000"/>
            <a:ext cx="6664757" cy="502920"/>
          </a:xfrm>
          <a:prstGeom prst="rect">
            <a:avLst/>
          </a:prstGeom>
          <a:noFill/>
          <a:ln/>
        </p:spPr>
        <p:txBody>
          <a:bodyPr wrap="square" lIns="0" tIns="0" rIns="0" bIns="0" rtlCol="0" anchor="ctr">
            <a:normAutofit/>
          </a:bodyPr>
          <a:lstStyle/>
          <a:p>
            <a:pPr algn="l" indent="0" marL="0">
              <a:buNone/>
            </a:pPr>
            <a:r>
              <a:rPr lang="en-US" sz="1500" dirty="0">
                <a:solidFill>
                  <a:srgbClr val="EEF2F7"/>
                </a:solidFill>
                <a:latin typeface="Arial" pitchFamily="34" charset="0"/>
                <a:ea typeface="Arial" pitchFamily="34" charset="-122"/>
                <a:cs typeface="Arial" pitchFamily="34" charset="-120"/>
              </a:rPr>
              <a:t>Review the findings together after four weeks against the bar of under 3 findings per check</a:t>
            </a:r>
            <a:endParaRPr lang="en-US" sz="1500" dirty="0"/>
          </a:p>
        </p:txBody>
      </p:sp>
      <p:sp>
        <p:nvSpPr>
          <p:cNvPr id="26" name="Shape 20"/>
          <p:cNvSpPr/>
          <p:nvPr/>
        </p:nvSpPr>
        <p:spPr>
          <a:xfrm>
            <a:off x="8127797" y="4937760"/>
            <a:ext cx="1620469" cy="0"/>
          </a:xfrm>
          <a:prstGeom prst="line">
            <a:avLst/>
          </a:prstGeom>
          <a:noFill/>
          <a:ln w="9525">
            <a:solidFill>
              <a:srgbClr val="B9C2CF"/>
            </a:solidFill>
            <a:prstDash val="solid"/>
            <a:headEnd type="none"/>
            <a:tailEnd type="none"/>
          </a:ln>
        </p:spPr>
      </p:sp>
      <p:sp>
        <p:nvSpPr>
          <p:cNvPr id="27" name="Shape 21"/>
          <p:cNvSpPr/>
          <p:nvPr/>
        </p:nvSpPr>
        <p:spPr>
          <a:xfrm>
            <a:off x="10022586" y="4937760"/>
            <a:ext cx="1620469" cy="0"/>
          </a:xfrm>
          <a:prstGeom prst="line">
            <a:avLst/>
          </a:prstGeom>
          <a:noFill/>
          <a:ln w="9525">
            <a:solidFill>
              <a:srgbClr val="B9C2CF"/>
            </a:solidFill>
            <a:prstDash val="solid"/>
            <a:headEnd type="none"/>
            <a:tailEnd type="none"/>
          </a:ln>
        </p:spPr>
      </p:sp>
      <p:sp>
        <p:nvSpPr>
          <p:cNvPr id="28" name="Text 22"/>
          <p:cNvSpPr txBox="1"/>
          <p:nvPr/>
        </p:nvSpPr>
        <p:spPr>
          <a:xfrm>
            <a:off x="548640" y="5349240"/>
            <a:ext cx="11094415" cy="457200"/>
          </a:xfrm>
          <a:prstGeom prst="rect">
            <a:avLst/>
          </a:prstGeom>
          <a:noFill/>
          <a:ln/>
        </p:spPr>
        <p:txBody>
          <a:bodyPr wrap="square" lIns="0" tIns="0" rIns="0" bIns="0" rtlCol="0" anchor="b">
            <a:normAutofit/>
          </a:bodyPr>
          <a:lstStyle/>
          <a:p>
            <a:pPr algn="l" indent="0" marL="0">
              <a:buNone/>
            </a:pPr>
            <a:r>
              <a:rPr lang="en-US" sz="1300" dirty="0">
                <a:solidFill>
                  <a:srgbClr val="B9C2CF"/>
                </a:solidFill>
                <a:latin typeface="Arial" pitchFamily="34" charset="0"/>
                <a:ea typeface="Arial" pitchFamily="34" charset="-122"/>
                <a:cs typeface="Arial" pitchFamily="34" charset="-120"/>
              </a:rPr>
              <a:t>Without a trial the practice stays improvised and drift keeps surfacing in review</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Sources</a:t>
            </a:r>
            <a:endParaRPr lang="en-US" sz="3600" dirty="0"/>
          </a:p>
        </p:txBody>
      </p:sp>
      <p:sp>
        <p:nvSpPr>
          <p:cNvPr id="3" name="Text 1"/>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48640"/>
                <a:gridCol w="6538381"/>
                <a:gridCol w="4007395"/>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Claim or figure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Governing artifact and section</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r>
              <a:tr h="38404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 methodology and artifact catalog for AI-assisted teams: templates plus one skill</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docs/helix/00-discover/product-vision.md#mission-statement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S2</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AI-assisted development went from novelty to default; most developers ship AI-touched code daily</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docs/helix/00-discover/product-vision.md#why-now</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S3</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Three failure modes: artifact drift, inconsistent agent behavior, lossy session boundaries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docs/helix/01-frame/prd.md#problem</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S4</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Templates for 53 artifact types plus a single routing skill; no CLI, tracker, or execution loop</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docs/helix/01-frame/prd.md#summary</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74980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S5</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The seven activities, the artifact loop, and the authority hierarchy</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workflows/README.md#activities, workflows/README.md#authority-hierarchy, workflows/artifact-hierarchy.md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S6</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Twenty-one routed modes in the routing table; alignment is the required mode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skills/helix/SKILL.md#routing-rules, docs/helix/01-frame/prd.md#goals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Sources (continued)</a:t>
            </a:r>
            <a:endParaRPr lang="en-US" sz="3600" dirty="0"/>
          </a:p>
        </p:txBody>
      </p:sp>
      <p:sp>
        <p:nvSpPr>
          <p:cNvPr id="3" name="Text 1"/>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48640"/>
                <a:gridCol w="6538381"/>
                <a:gridCol w="4007395"/>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Claim or figure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Governing artifact and section</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r>
              <a:tr h="38404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S7</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Four-step contract: write the brief, check alignment, plan the work, run it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docs/helix/01-frame/prd.md#core-workflow-contract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S8</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OAuth example: three specs and two designs affected, one decision in conflict, four stories missing</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docs/helix/00-discover/product-vision.md#user-experience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74980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S9</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Concerns propagate practices downstream; the project's active concerns and slots; 50 concerns in the library</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workflows/README.md#cross-cutting-context, docs/helix/01-frame/concerns.md, workflows/concerns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S10</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Seven principles, from spec is the contract to deliverable over machinery, with tension resolution</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workflows/principles.md#principles, docs/helix/01-frame/principles.md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S11</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Artifact honesty: phantom claims block; verification evidence comes from the running system</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docs/helix/01-frame/features/FEAT-016-artifact-honesty.md, workflows/concerns/verification/practices.md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S12</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Tests cite the criterion they cover; quality floors never slide back</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docs/helix/02-design/adr/ADR-009-acceptance-criteria-ownership.md, workflows/ratchets.md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Sources (continued)</a:t>
            </a:r>
            <a:endParaRPr lang="en-US" sz="3600" dirty="0"/>
          </a:p>
        </p:txBody>
      </p:sp>
      <p:sp>
        <p:nvSpPr>
          <p:cNvPr id="3" name="Text 1"/>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48640"/>
                <a:gridCol w="6538381"/>
                <a:gridCol w="4007395"/>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Claim or figure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Governing artifact and section</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S13</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Non-goals: no CLI, tracker, queue, or engine; no imposed technology; judgment stays with people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docs/helix/01-frame/prd.md#non-goals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S14</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Six install surfaces: DDx, Claude Code, Codex, Copilot, Databricks Genie, Grok Build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docs/helix/01-frame/features/FEAT-013-runtime-install-coverage.md, docs/install/README.md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S15</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Autonomy is a three-position spectrum with a hard-stop floor at every level</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docs/helix/02-design/adr/ADR-003-autonomy-spectrum.md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S16</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Roadmap, iteration plan, status report; a client cut may subset but never contradict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docs/helix/01-frame/features/FEAT-017-iteration-documentation.md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S17</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Deliverables projected from governed artifacts, every number sourced, gated and inspected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workflows/modes/present.md, workflows/activities/06-iterate/artifacts/deliverable/meta.yml</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S18</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Targets: &lt; 3 findings per run; 3 runtimes in 12 months; 50+ repos in 18 months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docs/helix/00-discover/product-vision.md#success-definition, docs/helix/01-frame/prd.md#success-metrics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1188720"/>
          </a:xfrm>
          <a:prstGeom prst="rect">
            <a:avLst/>
          </a:prstGeom>
          <a:noFill/>
          <a:ln/>
        </p:spPr>
        <p:txBody>
          <a:bodyPr wrap="square" lIns="0" tIns="0" rIns="0" bIns="0" rtlCol="0" anchor="t">
            <a:normAutofit/>
          </a:bodyPr>
          <a:lstStyle/>
          <a:p>
            <a:pPr algn="l" indent="0" marL="0">
              <a:buNone/>
            </a:pPr>
            <a:r>
              <a:rPr lang="en-US" sz="3600" b="1" dirty="0">
                <a:solidFill>
                  <a:srgbClr val="1F2933"/>
                </a:solidFill>
                <a:latin typeface="Georgia" pitchFamily="34" charset="0"/>
                <a:ea typeface="Georgia" pitchFamily="34" charset="-122"/>
                <a:cs typeface="Georgia" pitchFamily="34" charset="-120"/>
              </a:rPr>
              <a:t>Sources (continued)</a:t>
            </a:r>
            <a:endParaRPr lang="en-US" sz="3600" dirty="0"/>
          </a:p>
        </p:txBody>
      </p:sp>
      <p:sp>
        <p:nvSpPr>
          <p:cNvPr id="3" name="Text 1"/>
          <p:cNvSpPr txBox="1"/>
          <p:nvPr/>
        </p:nvSpPr>
        <p:spPr>
          <a:xfrm>
            <a:off x="11094415" y="6035040"/>
            <a:ext cx="548640" cy="274320"/>
          </a:xfrm>
          <a:prstGeom prst="rect">
            <a:avLst/>
          </a:prstGeom>
          <a:noFill/>
          <a:ln/>
        </p:spPr>
        <p:txBody>
          <a:bodyPr wrap="square" lIns="0" tIns="0" rIns="0" bIns="0" rtlCol="0" anchor="b"/>
          <a:lstStyle/>
          <a:p>
            <a:pPr algn="r" indent="0" marL="0">
              <a:buNone/>
            </a:pPr>
            <a:r>
              <a:rPr lang="en-US" sz="1000" dirty="0">
                <a:solidFill>
                  <a:srgbClr val="55606D"/>
                </a:solidFill>
                <a:latin typeface="Arial" pitchFamily="34" charset="0"/>
                <a:ea typeface="Arial" pitchFamily="34" charset="-122"/>
                <a:cs typeface="Arial"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4415" cy="914400"/>
        </p:xfrm>
        <a:graphic>
          <a:graphicData uri="http://schemas.openxmlformats.org/drawingml/2006/table">
            <a:tbl>
              <a:tblPr/>
              <a:tblGrid>
                <a:gridCol w="548640"/>
                <a:gridCol w="6538381"/>
                <a:gridCol w="4007395"/>
              </a:tblGrid>
              <a:tr h="384048">
                <a:tc>
                  <a:txBody>
                    <a:bodyPr/>
                    <a:lstStyle/>
                    <a:p>
                      <a:pPr indent="0" marL="0">
                        <a:buNone/>
                      </a:pPr>
                      <a:r>
                        <a:rPr lang="en-US" sz="1200" b="1" dirty="0">
                          <a:solidFill>
                            <a:srgbClr val="FFFFFF"/>
                          </a:solidFill>
                          <a:latin typeface="Arial" pitchFamily="34" charset="0"/>
                          <a:ea typeface="Arial" pitchFamily="34" charset="-122"/>
                          <a:cs typeface="Arial" pitchFamily="34" charset="-120"/>
                        </a:rPr>
                        <a:t>Id</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Claim or figure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Governing artifact and section</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3B6BA8"/>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S19</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Layers are the control: each layer governs the next; a change enters at the top layer it affects; rules live in a layer, not a prompt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workflows/principles.md#layers-are-the-control</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S20</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The hierarchy as control loop: authority flows down, concerns cross layers, gates sit between layers, humans hold the hand-offs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workflows/artifact-hierarchy.md#the-hierarchy-is-the-control-loop</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S21</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Humans decide, agents draft: people own intent, judgment, approval; agents own drafting, checking, surfacing, recording; every hand-off has an owner and a rule</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workflows/principles.md#humans-decide-agents-draft</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55606D"/>
                          </a:solidFill>
                          <a:latin typeface="Arial" pitchFamily="34" charset="0"/>
                          <a:ea typeface="Arial" pitchFamily="34" charset="-122"/>
                          <a:cs typeface="Arial" pitchFamily="34" charset="-120"/>
                        </a:rPr>
                        <a:t>S22</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Hand-off table: approval, autonomy level, stop triggers, escalation, surfaced judgment, and the rule behind each</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c>
                  <a:txBody>
                    <a:bodyPr/>
                    <a:lstStyle/>
                    <a:p>
                      <a:pPr indent="0" marL="0">
                        <a:buNone/>
                      </a:pPr>
                      <a:r>
                        <a:rPr lang="en-US" sz="1200" dirty="0">
                          <a:solidFill>
                            <a:srgbClr val="1F2933"/>
                          </a:solidFill>
                          <a:latin typeface="Arial" pitchFamily="34" charset="0"/>
                          <a:ea typeface="Arial" pitchFamily="34" charset="-122"/>
                          <a:cs typeface="Arial" pitchFamily="34" charset="-120"/>
                        </a:rPr>
                        <a:t>workflows/README.md#human-ai-collaboration, docs/helix/00-discover/product-vision.md#key-value-propositions</a:t>
                      </a:r>
                      <a:endParaRPr lang="en-US" sz="1200" dirty="0">
                        <a:latin typeface="Arial" charset="0"/>
                        <a:ea typeface="Arial" charset="0"/>
                        <a:cs typeface="Arial" charset="0"/>
                      </a:endParaRPr>
                    </a:p>
                  </a:txBody>
                  <a:tcPr marL="73152" marR="73152" marT="73152" marB="73152" anchor="ctr">
                    <a:lnL w="9525" cap="flat" cmpd="sng" algn="ctr">
                      <a:solidFill>
                        <a:srgbClr val="D6DCE4"/>
                      </a:solidFill>
                      <a:prstDash val="solid"/>
                      <a:round/>
                      <a:headEnd type="none" w="med" len="med"/>
                      <a:tailEnd type="none" w="med" len="med"/>
                    </a:lnL>
                    <a:lnR w="9525" cap="flat" cmpd="sng" algn="ctr">
                      <a:solidFill>
                        <a:srgbClr val="D6DCE4"/>
                      </a:solidFill>
                      <a:prstDash val="solid"/>
                      <a:round/>
                      <a:headEnd type="none" w="med" len="med"/>
                      <a:tailEnd type="none" w="med" len="med"/>
                    </a:lnR>
                    <a:lnT w="9525" cap="flat" cmpd="sng" algn="ctr">
                      <a:solidFill>
                        <a:srgbClr val="D6DCE4"/>
                      </a:solidFill>
                      <a:prstDash val="solid"/>
                      <a:round/>
                      <a:headEnd type="none" w="med" len="med"/>
                      <a:tailEnd type="none" w="med" len="med"/>
                    </a:lnT>
                    <a:lnB w="9525" cap="flat" cmpd="sng" algn="ctr">
                      <a:solidFill>
                        <a:srgbClr val="D6DCE4"/>
                      </a:solidFill>
                      <a:prstDash val="solid"/>
                      <a:round/>
                      <a:headEnd type="none" w="med" len="med"/>
                      <a:tailEnd type="none" w="med" len="med"/>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discipline governs agent work from intent to release</dc:title>
  <dc:subject>PptxGenJS Presentation</dc:subject>
  <dc:creator>HELIX</dc:creator>
  <cp:lastModifiedBy>HELIX</cp:lastModifiedBy>
  <cp:revision>1</cp:revision>
  <dcterms:created xsi:type="dcterms:W3CDTF">2026-09-16T01:35:18Z</dcterms:created>
  <dcterms:modified xsi:type="dcterms:W3CDTF">2026-09-16T01:35:18Z</dcterms:modified>
</cp:coreProperties>
</file>