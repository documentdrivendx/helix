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takeaway once, then say the ask comes on the last slide and is one project for one quarter. Do not explain HELIX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change; do not argue it. This audience lives it. The missing third milestone is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 modes the requirements document names. Each shows up late, in review or in production, which is why the cost is high. Ask which one the audience saw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first: a method you adopt. The picture is the product's own metaphor. The last bullet is the one that lowers switching cost, so land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four-step contract the requirements document commits to. The highlighted step is the one that replaces manual document walking, and slide 7 shows it on a real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the audience recognizes. The verdict line is the whole deck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worked example in the product vision, not a customer result. The point is the order: the plan starts with the security architecture revision, then the specs, then the stories, and no code moves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this slide is a target, not a result; say so before anyone asks. The first one is the measure the trial on slide 10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non-goals from the requirements document. This answers the objection every platform team is forming by now, so give it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after the ask. If asked about cost, the trial needs one champion and no new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1371600"/>
            <a:ext cx="7304837" cy="2286000"/>
          </a:xfrm>
          <a:prstGeom prst="rect">
            <a:avLst/>
          </a:prstGeom>
          <a:noFill/>
          <a:ln/>
        </p:spPr>
        <p:txBody>
          <a:bodyPr wrap="square" lIns="0" tIns="0" rIns="0" bIns="0" rtlCol="0" anchor="b">
            <a:normAutofit/>
          </a:bodyPr>
          <a:lstStyle/>
          <a:p>
            <a:pPr algn="l" indent="0" marL="0">
              <a:buNone/>
            </a:pPr>
            <a:r>
              <a:rPr lang="en-US" sz="4000" b="1" dirty="0">
                <a:solidFill>
                  <a:srgbClr val="EEF2F7"/>
                </a:solidFill>
                <a:latin typeface="Georgia" pitchFamily="34" charset="0"/>
                <a:ea typeface="Georgia" pitchFamily="34" charset="-122"/>
                <a:cs typeface="Georgia" pitchFamily="34" charset="-120"/>
              </a:rPr>
              <a:t>Document discipline catches agent drift before review</a:t>
            </a:r>
            <a:endParaRPr lang="en-US" sz="4000" dirty="0"/>
          </a:p>
        </p:txBody>
      </p:sp>
      <p:sp>
        <p:nvSpPr>
          <p:cNvPr id="3" name="Text 1"/>
          <p:cNvSpPr txBox="1"/>
          <p:nvPr/>
        </p:nvSpPr>
        <p:spPr>
          <a:xfrm>
            <a:off x="548640" y="3840480"/>
            <a:ext cx="7304837" cy="914400"/>
          </a:xfrm>
          <a:prstGeom prst="rect">
            <a:avLst/>
          </a:prstGeom>
          <a:noFill/>
          <a:ln/>
        </p:spPr>
        <p:txBody>
          <a:bodyPr wrap="square" lIns="0" tIns="0" rIns="0" bIns="0" rtlCol="0" anchor="t">
            <a:normAutofit/>
          </a:bodyPr>
          <a:lstStyle/>
          <a:p>
            <a:pPr algn="l" indent="0" marL="0">
              <a:buNone/>
            </a:pPr>
            <a:r>
              <a:rPr lang="en-US" sz="2000" dirty="0">
                <a:solidFill>
                  <a:srgbClr val="B9C2CF"/>
                </a:solidFill>
                <a:latin typeface="Arial" pitchFamily="34" charset="0"/>
                <a:ea typeface="Arial" pitchFamily="34" charset="-122"/>
                <a:cs typeface="Arial" pitchFamily="34" charset="-120"/>
              </a:rPr>
              <a:t>An evaluation briefing for engineering leaders whose teams build with AI agents</a:t>
            </a:r>
            <a:endParaRPr lang="en-US" sz="2000" dirty="0"/>
          </a:p>
        </p:txBody>
      </p:sp>
      <p:sp>
        <p:nvSpPr>
          <p:cNvPr id="4" name="Text 2"/>
          <p:cNvSpPr txBox="1"/>
          <p:nvPr/>
        </p:nvSpPr>
        <p:spPr>
          <a:xfrm>
            <a:off x="548640" y="5669280"/>
            <a:ext cx="5486400" cy="320040"/>
          </a:xfrm>
          <a:prstGeom prst="rect">
            <a:avLst/>
          </a:prstGeom>
          <a:noFill/>
          <a:ln/>
        </p:spPr>
        <p:txBody>
          <a:bodyPr wrap="square" lIns="0" tIns="0" rIns="0" bIns="0" rtlCol="0" anchor="b">
            <a:normAutofit/>
          </a:bodyPr>
          <a:lstStyle/>
          <a:p>
            <a:pPr algn="l" indent="0" marL="0">
              <a:buNone/>
            </a:pPr>
            <a:r>
              <a:rPr lang="en-US" sz="1200" dirty="0">
                <a:solidFill>
                  <a:srgbClr val="B9C2CF"/>
                </a:solidFill>
                <a:latin typeface="Arial" pitchFamily="34" charset="0"/>
                <a:ea typeface="Arial" pitchFamily="34" charset="-122"/>
                <a:cs typeface="Arial" pitchFamily="34" charset="-120"/>
              </a:rPr>
              <a:t>September 2026</a:t>
            </a:r>
            <a:endParaRPr lang="en-US" sz="1200" dirty="0"/>
          </a:p>
        </p:txBody>
      </p:sp>
      <p:sp>
        <p:nvSpPr>
          <p:cNvPr id="5" name="Shape 3"/>
          <p:cNvSpPr/>
          <p:nvPr/>
        </p:nvSpPr>
        <p:spPr>
          <a:xfrm>
            <a:off x="8716975" y="1965960"/>
            <a:ext cx="2926080" cy="2926080"/>
          </a:xfrm>
          <a:prstGeom prst="ellipse">
            <a:avLst/>
          </a:prstGeom>
          <a:solidFill>
            <a:srgbClr val="14181F"/>
          </a:solidFill>
          <a:ln w="50800">
            <a:solidFill>
              <a:srgbClr val="E07A5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Agents now write most production code without a shared practice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2</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Most professional developers ship agent-written code every day</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output is locally good and globally inconsistent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document disciplines human teams built never reached the agents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Every practice era gets its equivalent of test-driven development</a:t>
            </a:r>
            <a:endParaRPr lang="en-US" sz="1800" dirty="0"/>
          </a:p>
        </p:txBody>
      </p:sp>
      <p:sp>
        <p:nvSpPr>
          <p:cNvPr id="9" name="Shape 6"/>
          <p:cNvSpPr/>
          <p:nvPr/>
        </p:nvSpPr>
        <p:spPr>
          <a:xfrm>
            <a:off x="5834253" y="3502152"/>
            <a:ext cx="5260162" cy="0"/>
          </a:xfrm>
          <a:prstGeom prst="line">
            <a:avLst/>
          </a:prstGeom>
          <a:noFill/>
          <a:ln w="38100">
            <a:solidFill>
              <a:srgbClr val="D6DCE4"/>
            </a:solidFill>
            <a:prstDash val="solid"/>
            <a:headEnd type="none"/>
            <a:tailEnd type="none"/>
          </a:ln>
        </p:spPr>
      </p:sp>
      <p:sp>
        <p:nvSpPr>
          <p:cNvPr id="10" name="Shape 7"/>
          <p:cNvSpPr/>
          <p:nvPr/>
        </p:nvSpPr>
        <p:spPr>
          <a:xfrm>
            <a:off x="5697093" y="3364992"/>
            <a:ext cx="274320" cy="274320"/>
          </a:xfrm>
          <a:prstGeom prst="ellipse">
            <a:avLst/>
          </a:prstGeom>
          <a:solidFill>
            <a:srgbClr val="3B6BA8"/>
          </a:solidFill>
          <a:ln w="12700">
            <a:solidFill>
              <a:srgbClr val="3B6BA8"/>
            </a:solidFill>
            <a:prstDash val="solid"/>
          </a:ln>
        </p:spPr>
      </p:sp>
      <p:sp>
        <p:nvSpPr>
          <p:cNvPr id="11" name="Text 8"/>
          <p:cNvSpPr txBox="1"/>
          <p:nvPr/>
        </p:nvSpPr>
        <p:spPr>
          <a:xfrm>
            <a:off x="5285613" y="2633472"/>
            <a:ext cx="2538641"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agents as novelty</a:t>
            </a:r>
            <a:endParaRPr lang="en-US" sz="1400" dirty="0"/>
          </a:p>
        </p:txBody>
      </p:sp>
      <p:sp>
        <p:nvSpPr>
          <p:cNvPr id="12" name="Shape 9"/>
          <p:cNvSpPr/>
          <p:nvPr/>
        </p:nvSpPr>
        <p:spPr>
          <a:xfrm>
            <a:off x="8327174" y="3364992"/>
            <a:ext cx="274320" cy="274320"/>
          </a:xfrm>
          <a:prstGeom prst="ellipse">
            <a:avLst/>
          </a:prstGeom>
          <a:solidFill>
            <a:srgbClr val="C44B2F"/>
          </a:solidFill>
          <a:ln w="12700">
            <a:solidFill>
              <a:srgbClr val="C44B2F"/>
            </a:solidFill>
            <a:prstDash val="solid"/>
          </a:ln>
        </p:spPr>
      </p:sp>
      <p:sp>
        <p:nvSpPr>
          <p:cNvPr id="13" name="Text 10"/>
          <p:cNvSpPr txBox="1"/>
          <p:nvPr/>
        </p:nvSpPr>
        <p:spPr>
          <a:xfrm>
            <a:off x="7195014" y="3730752"/>
            <a:ext cx="2538641" cy="64008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agents as default practice</a:t>
            </a:r>
            <a:endParaRPr lang="en-US" sz="1400" dirty="0"/>
          </a:p>
        </p:txBody>
      </p:sp>
      <p:sp>
        <p:nvSpPr>
          <p:cNvPr id="14" name="Shape 11"/>
          <p:cNvSpPr/>
          <p:nvPr/>
        </p:nvSpPr>
        <p:spPr>
          <a:xfrm>
            <a:off x="8464334" y="4370832"/>
            <a:ext cx="0" cy="274320"/>
          </a:xfrm>
          <a:prstGeom prst="line">
            <a:avLst/>
          </a:prstGeom>
          <a:noFill/>
          <a:ln w="25400">
            <a:solidFill>
              <a:srgbClr val="C44B2F"/>
            </a:solidFill>
            <a:prstDash val="dash"/>
            <a:headEnd type="none"/>
            <a:tailEnd type="none"/>
          </a:ln>
        </p:spPr>
      </p:sp>
      <p:sp>
        <p:nvSpPr>
          <p:cNvPr id="15" name="Text 12"/>
          <p:cNvSpPr txBox="1"/>
          <p:nvPr/>
        </p:nvSpPr>
        <p:spPr>
          <a:xfrm>
            <a:off x="6829254" y="4690872"/>
            <a:ext cx="3270161" cy="457200"/>
          </a:xfrm>
          <a:prstGeom prst="rect">
            <a:avLst/>
          </a:prstGeom>
          <a:noFill/>
          <a:ln/>
        </p:spPr>
        <p:txBody>
          <a:bodyPr wrap="square" lIns="0" tIns="0" rIns="0" bIns="0" rtlCol="0" anchor="t">
            <a:normAutofit/>
          </a:bodyPr>
          <a:lstStyle/>
          <a:p>
            <a:pPr algn="ctr" indent="0" marL="0">
              <a:buNone/>
            </a:pPr>
            <a:r>
              <a:rPr lang="en-US" sz="1300" b="1" dirty="0">
                <a:solidFill>
                  <a:srgbClr val="C44B2F"/>
                </a:solidFill>
                <a:latin typeface="Arial" pitchFamily="34" charset="0"/>
                <a:ea typeface="Arial" pitchFamily="34" charset="-122"/>
                <a:cs typeface="Arial" pitchFamily="34" charset="-120"/>
              </a:rPr>
              <a:t>no shared practice yet</a:t>
            </a:r>
            <a:endParaRPr lang="en-US" sz="1300" dirty="0"/>
          </a:p>
        </p:txBody>
      </p:sp>
      <p:sp>
        <p:nvSpPr>
          <p:cNvPr id="16" name="Shape 13"/>
          <p:cNvSpPr/>
          <p:nvPr/>
        </p:nvSpPr>
        <p:spPr>
          <a:xfrm>
            <a:off x="10957255" y="3364992"/>
            <a:ext cx="274320" cy="274320"/>
          </a:xfrm>
          <a:prstGeom prst="ellipse">
            <a:avLst/>
          </a:prstGeom>
          <a:solidFill>
            <a:srgbClr val="3B6BA8"/>
          </a:solidFill>
          <a:ln w="12700">
            <a:solidFill>
              <a:srgbClr val="3B6BA8"/>
            </a:solidFill>
            <a:prstDash val="solid"/>
          </a:ln>
        </p:spPr>
      </p:sp>
      <p:sp>
        <p:nvSpPr>
          <p:cNvPr id="17" name="Text 14"/>
          <p:cNvSpPr txBox="1"/>
          <p:nvPr/>
        </p:nvSpPr>
        <p:spPr>
          <a:xfrm>
            <a:off x="9104414" y="2633472"/>
            <a:ext cx="2538641"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 shared practice for agents</a:t>
            </a:r>
            <a:endParaRPr lang="en-US" sz="1400" dirty="0"/>
          </a:p>
        </p:txBody>
      </p:sp>
      <p:sp>
        <p:nvSpPr>
          <p:cNvPr id="18" name="Text 15"/>
          <p:cNvSpPr txBox="1"/>
          <p:nvPr/>
        </p:nvSpPr>
        <p:spPr>
          <a:xfrm>
            <a:off x="5468493" y="5303520"/>
            <a:ext cx="5991682" cy="45720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how agent-written code became the default before any discipline caught up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Without that practice, agent code drifts from specs and decisions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S3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Specs, designs, and tests fall out of sync because nobody walks them between sessions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feature ships whose design contradicts a decision recorded months earlier</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Each new conversation re-improvises the workflow, so reviews that should happen do not</a:t>
            </a:r>
            <a:endParaRPr lang="en-US" sz="1800" dirty="0"/>
          </a:p>
        </p:txBody>
      </p:sp>
      <p:sp>
        <p:nvSpPr>
          <p:cNvPr id="9" name="Shape 6"/>
          <p:cNvSpPr/>
          <p:nvPr/>
        </p:nvSpPr>
        <p:spPr>
          <a:xfrm>
            <a:off x="5285613" y="1965960"/>
            <a:ext cx="1936267" cy="3840480"/>
          </a:xfrm>
          <a:prstGeom prst="roundRect">
            <a:avLst>
              <a:gd name="adj" fmla="val 4722"/>
            </a:avLst>
          </a:prstGeom>
          <a:solidFill>
            <a:srgbClr val="F3F5F8"/>
          </a:solidFill>
          <a:ln w="9525">
            <a:solidFill>
              <a:srgbClr val="D6DCE4"/>
            </a:solidFill>
            <a:prstDash val="solid"/>
          </a:ln>
        </p:spPr>
      </p:sp>
      <p:sp>
        <p:nvSpPr>
          <p:cNvPr id="10" name="Shape 7"/>
          <p:cNvSpPr/>
          <p:nvPr/>
        </p:nvSpPr>
        <p:spPr>
          <a:xfrm>
            <a:off x="5818087" y="2423160"/>
            <a:ext cx="871320" cy="871320"/>
          </a:xfrm>
          <a:prstGeom prst="ellipse">
            <a:avLst/>
          </a:prstGeom>
          <a:solidFill>
            <a:srgbClr val="3B6BA8"/>
          </a:solidFill>
          <a:ln w="12700">
            <a:solidFill>
              <a:srgbClr val="3B6BA8"/>
            </a:solidFill>
            <a:prstDash val="solid"/>
          </a:ln>
        </p:spPr>
      </p:sp>
      <p:sp>
        <p:nvSpPr>
          <p:cNvPr id="11" name="Text 8"/>
          <p:cNvSpPr txBox="1"/>
          <p:nvPr/>
        </p:nvSpPr>
        <p:spPr>
          <a:xfrm>
            <a:off x="5818087"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422773" y="3523080"/>
            <a:ext cx="166194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Drift</a:t>
            </a:r>
            <a:endParaRPr lang="en-US" sz="1600" dirty="0"/>
          </a:p>
        </p:txBody>
      </p:sp>
      <p:sp>
        <p:nvSpPr>
          <p:cNvPr id="13" name="Text 10"/>
          <p:cNvSpPr txBox="1"/>
          <p:nvPr/>
        </p:nvSpPr>
        <p:spPr>
          <a:xfrm>
            <a:off x="5422773"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specs and code diverge between sessions</a:t>
            </a:r>
            <a:endParaRPr lang="en-US" sz="1300" dirty="0"/>
          </a:p>
        </p:txBody>
      </p:sp>
      <p:sp>
        <p:nvSpPr>
          <p:cNvPr id="14" name="Shape 11"/>
          <p:cNvSpPr/>
          <p:nvPr/>
        </p:nvSpPr>
        <p:spPr>
          <a:xfrm>
            <a:off x="7496200" y="1965960"/>
            <a:ext cx="1936267" cy="3840480"/>
          </a:xfrm>
          <a:prstGeom prst="roundRect">
            <a:avLst>
              <a:gd name="adj" fmla="val 4722"/>
            </a:avLst>
          </a:prstGeom>
          <a:solidFill>
            <a:srgbClr val="F3F5F8"/>
          </a:solidFill>
          <a:ln w="9525">
            <a:solidFill>
              <a:srgbClr val="D6DCE4"/>
            </a:solidFill>
            <a:prstDash val="solid"/>
          </a:ln>
        </p:spPr>
      </p:sp>
      <p:sp>
        <p:nvSpPr>
          <p:cNvPr id="15" name="Shape 12"/>
          <p:cNvSpPr/>
          <p:nvPr/>
        </p:nvSpPr>
        <p:spPr>
          <a:xfrm>
            <a:off x="8028674" y="2423160"/>
            <a:ext cx="871320" cy="871320"/>
          </a:xfrm>
          <a:prstGeom prst="ellipse">
            <a:avLst/>
          </a:prstGeom>
          <a:solidFill>
            <a:srgbClr val="6842A8"/>
          </a:solidFill>
          <a:ln w="12700">
            <a:solidFill>
              <a:srgbClr val="6842A8"/>
            </a:solidFill>
            <a:prstDash val="solid"/>
          </a:ln>
        </p:spPr>
      </p:sp>
      <p:sp>
        <p:nvSpPr>
          <p:cNvPr id="16" name="Text 13"/>
          <p:cNvSpPr txBox="1"/>
          <p:nvPr/>
        </p:nvSpPr>
        <p:spPr>
          <a:xfrm>
            <a:off x="8028674"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633360" y="3523080"/>
            <a:ext cx="166194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Contradiction</a:t>
            </a:r>
            <a:endParaRPr lang="en-US" sz="1600" dirty="0"/>
          </a:p>
        </p:txBody>
      </p:sp>
      <p:sp>
        <p:nvSpPr>
          <p:cNvPr id="18" name="Text 15"/>
          <p:cNvSpPr txBox="1"/>
          <p:nvPr/>
        </p:nvSpPr>
        <p:spPr>
          <a:xfrm>
            <a:off x="7633360"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design ignores an earlier decision</a:t>
            </a:r>
            <a:endParaRPr lang="en-US" sz="1300" dirty="0"/>
          </a:p>
        </p:txBody>
      </p:sp>
      <p:sp>
        <p:nvSpPr>
          <p:cNvPr id="19" name="Shape 16"/>
          <p:cNvSpPr/>
          <p:nvPr/>
        </p:nvSpPr>
        <p:spPr>
          <a:xfrm>
            <a:off x="9706788" y="1965960"/>
            <a:ext cx="1936267" cy="3840480"/>
          </a:xfrm>
          <a:prstGeom prst="roundRect">
            <a:avLst>
              <a:gd name="adj" fmla="val 4722"/>
            </a:avLst>
          </a:prstGeom>
          <a:solidFill>
            <a:srgbClr val="F3F5F8"/>
          </a:solidFill>
          <a:ln w="9525">
            <a:solidFill>
              <a:srgbClr val="D6DCE4"/>
            </a:solidFill>
            <a:prstDash val="solid"/>
          </a:ln>
        </p:spPr>
      </p:sp>
      <p:sp>
        <p:nvSpPr>
          <p:cNvPr id="20" name="Shape 17"/>
          <p:cNvSpPr/>
          <p:nvPr/>
        </p:nvSpPr>
        <p:spPr>
          <a:xfrm>
            <a:off x="10239261" y="2423160"/>
            <a:ext cx="871320" cy="871320"/>
          </a:xfrm>
          <a:prstGeom prst="ellipse">
            <a:avLst/>
          </a:prstGeom>
          <a:solidFill>
            <a:srgbClr val="C44B2F"/>
          </a:solidFill>
          <a:ln w="12700">
            <a:solidFill>
              <a:srgbClr val="C44B2F"/>
            </a:solidFill>
            <a:prstDash val="solid"/>
          </a:ln>
        </p:spPr>
      </p:sp>
      <p:sp>
        <p:nvSpPr>
          <p:cNvPr id="21" name="Text 18"/>
          <p:cNvSpPr txBox="1"/>
          <p:nvPr/>
        </p:nvSpPr>
        <p:spPr>
          <a:xfrm>
            <a:off x="10239261"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9843948" y="3523080"/>
            <a:ext cx="166194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Lost context</a:t>
            </a:r>
            <a:endParaRPr lang="en-US" sz="1600" dirty="0"/>
          </a:p>
        </p:txBody>
      </p:sp>
      <p:sp>
        <p:nvSpPr>
          <p:cNvPr id="23" name="Text 20"/>
          <p:cNvSpPr txBox="1"/>
          <p:nvPr/>
        </p:nvSpPr>
        <p:spPr>
          <a:xfrm>
            <a:off x="9843948"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every session starts from zero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HELIX traces every agent change to a governing document</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 S4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4</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HELIX is a method, not a tool: document templates plus one alignment skill</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Every change traces to the document that governs it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content runs on any agent runtime that reads and writes markdown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Teams adopt one document type at a time</a:t>
            </a:r>
            <a:endParaRPr lang="en-US" sz="1800" dirty="0"/>
          </a:p>
        </p:txBody>
      </p:sp>
      <p:sp>
        <p:nvSpPr>
          <p:cNvPr id="9" name="Shape 6"/>
          <p:cNvSpPr/>
          <p:nvPr/>
        </p:nvSpPr>
        <p:spPr>
          <a:xfrm>
            <a:off x="5285613" y="1965960"/>
            <a:ext cx="6357442" cy="3840480"/>
          </a:xfrm>
          <a:prstGeom prst="roundRect">
            <a:avLst>
              <a:gd name="adj" fmla="val 2381"/>
            </a:avLst>
          </a:prstGeom>
          <a:solidFill>
            <a:srgbClr val="F3F5F8"/>
          </a:solidFill>
          <a:ln w="9525">
            <a:solidFill>
              <a:srgbClr val="D6DCE4"/>
            </a:solidFill>
            <a:prstDash val="solid"/>
          </a:ln>
        </p:spPr>
      </p:sp>
      <p:sp>
        <p:nvSpPr>
          <p:cNvPr id="10" name="Shape 7"/>
          <p:cNvSpPr/>
          <p:nvPr/>
        </p:nvSpPr>
        <p:spPr>
          <a:xfrm>
            <a:off x="6272770" y="2651760"/>
            <a:ext cx="822960" cy="2286000"/>
          </a:xfrm>
          <a:prstGeom prst="roundRect">
            <a:avLst>
              <a:gd name="adj" fmla="val 50000"/>
            </a:avLst>
          </a:prstGeom>
          <a:solidFill>
            <a:srgbClr val="3B6BA8"/>
          </a:solidFill>
          <a:ln w="9525">
            <a:solidFill>
              <a:srgbClr val="3B6BA8"/>
            </a:solidFill>
            <a:prstDash val="solid"/>
          </a:ln>
        </p:spPr>
      </p:sp>
      <p:sp>
        <p:nvSpPr>
          <p:cNvPr id="11" name="Shape 8"/>
          <p:cNvSpPr/>
          <p:nvPr/>
        </p:nvSpPr>
        <p:spPr>
          <a:xfrm>
            <a:off x="9832938" y="2651760"/>
            <a:ext cx="822960" cy="2286000"/>
          </a:xfrm>
          <a:prstGeom prst="roundRect">
            <a:avLst>
              <a:gd name="adj" fmla="val 50000"/>
            </a:avLst>
          </a:prstGeom>
          <a:solidFill>
            <a:srgbClr val="C44B2F"/>
          </a:solidFill>
          <a:ln w="9525">
            <a:solidFill>
              <a:srgbClr val="C44B2F"/>
            </a:solidFill>
            <a:prstDash val="solid"/>
          </a:ln>
        </p:spPr>
      </p:sp>
      <p:sp>
        <p:nvSpPr>
          <p:cNvPr id="12" name="Shape 9"/>
          <p:cNvSpPr/>
          <p:nvPr/>
        </p:nvSpPr>
        <p:spPr>
          <a:xfrm>
            <a:off x="7095730" y="3223260"/>
            <a:ext cx="2737208" cy="0"/>
          </a:xfrm>
          <a:prstGeom prst="line">
            <a:avLst/>
          </a:prstGeom>
          <a:noFill/>
          <a:ln w="31750">
            <a:solidFill>
              <a:srgbClr val="6842A8"/>
            </a:solidFill>
            <a:prstDash val="solid"/>
            <a:headEnd type="none"/>
            <a:tailEnd type="none"/>
          </a:ln>
        </p:spPr>
      </p:sp>
      <p:sp>
        <p:nvSpPr>
          <p:cNvPr id="13" name="Shape 10"/>
          <p:cNvSpPr/>
          <p:nvPr/>
        </p:nvSpPr>
        <p:spPr>
          <a:xfrm>
            <a:off x="7095730" y="3794760"/>
            <a:ext cx="2737208" cy="0"/>
          </a:xfrm>
          <a:prstGeom prst="line">
            <a:avLst/>
          </a:prstGeom>
          <a:noFill/>
          <a:ln w="31750">
            <a:solidFill>
              <a:srgbClr val="6842A8"/>
            </a:solidFill>
            <a:prstDash val="solid"/>
            <a:headEnd type="none"/>
            <a:tailEnd type="none"/>
          </a:ln>
        </p:spPr>
      </p:sp>
      <p:sp>
        <p:nvSpPr>
          <p:cNvPr id="14" name="Shape 11"/>
          <p:cNvSpPr/>
          <p:nvPr/>
        </p:nvSpPr>
        <p:spPr>
          <a:xfrm>
            <a:off x="7095730" y="4366260"/>
            <a:ext cx="2737208" cy="0"/>
          </a:xfrm>
          <a:prstGeom prst="line">
            <a:avLst/>
          </a:prstGeom>
          <a:noFill/>
          <a:ln w="31750">
            <a:solidFill>
              <a:srgbClr val="6842A8"/>
            </a:solidFill>
            <a:prstDash val="solid"/>
            <a:headEnd type="none"/>
            <a:tailEnd type="none"/>
          </a:ln>
        </p:spPr>
      </p:sp>
      <p:sp>
        <p:nvSpPr>
          <p:cNvPr id="15" name="Text 12"/>
          <p:cNvSpPr txBox="1"/>
          <p:nvPr/>
        </p:nvSpPr>
        <p:spPr>
          <a:xfrm>
            <a:off x="7278610" y="3429000"/>
            <a:ext cx="2371448" cy="320040"/>
          </a:xfrm>
          <a:prstGeom prst="rect">
            <a:avLst/>
          </a:prstGeom>
          <a:noFill/>
          <a:ln/>
        </p:spPr>
        <p:txBody>
          <a:bodyPr wrap="square" lIns="0" tIns="0" rIns="0" bIns="0" rtlCol="0" anchor="b">
            <a:normAutofit/>
          </a:bodyPr>
          <a:lstStyle/>
          <a:p>
            <a:pPr algn="ctr" indent="0" marL="0">
              <a:buNone/>
            </a:pPr>
            <a:r>
              <a:rPr lang="en-US" sz="1200" b="1" dirty="0">
                <a:solidFill>
                  <a:srgbClr val="6842A8"/>
                </a:solidFill>
                <a:latin typeface="Arial" pitchFamily="34" charset="0"/>
                <a:ea typeface="Arial" pitchFamily="34" charset="-122"/>
                <a:cs typeface="Arial" pitchFamily="34" charset="-120"/>
              </a:rPr>
              <a:t>alignment</a:t>
            </a:r>
            <a:endParaRPr lang="en-US" sz="1200" dirty="0"/>
          </a:p>
        </p:txBody>
      </p:sp>
      <p:sp>
        <p:nvSpPr>
          <p:cNvPr id="16" name="Text 13"/>
          <p:cNvSpPr txBox="1"/>
          <p:nvPr/>
        </p:nvSpPr>
        <p:spPr>
          <a:xfrm>
            <a:off x="5724130" y="5029200"/>
            <a:ext cx="1920240" cy="320040"/>
          </a:xfrm>
          <a:prstGeom prst="rect">
            <a:avLst/>
          </a:prstGeom>
          <a:noFill/>
          <a:ln/>
        </p:spPr>
        <p:txBody>
          <a:bodyPr wrap="square" lIns="0" tIns="0" rIns="0" bIns="0" rtlCol="0" anchor="t">
            <a:normAutofit/>
          </a:bodyPr>
          <a:lstStyle/>
          <a:p>
            <a:pPr algn="ctr" indent="0" marL="0">
              <a:buNone/>
            </a:pPr>
            <a:r>
              <a:rPr lang="en-US" sz="1200" b="1" dirty="0">
                <a:solidFill>
                  <a:srgbClr val="3B6BA8"/>
                </a:solidFill>
                <a:latin typeface="Arial" pitchFamily="34" charset="0"/>
                <a:ea typeface="Arial" pitchFamily="34" charset="-122"/>
                <a:cs typeface="Arial" pitchFamily="34" charset="-120"/>
              </a:rPr>
              <a:t>documents</a:t>
            </a:r>
            <a:endParaRPr lang="en-US" sz="1200" dirty="0"/>
          </a:p>
        </p:txBody>
      </p:sp>
      <p:sp>
        <p:nvSpPr>
          <p:cNvPr id="17" name="Text 14"/>
          <p:cNvSpPr txBox="1"/>
          <p:nvPr/>
        </p:nvSpPr>
        <p:spPr>
          <a:xfrm>
            <a:off x="9284298" y="5029200"/>
            <a:ext cx="1920240" cy="320040"/>
          </a:xfrm>
          <a:prstGeom prst="rect">
            <a:avLst/>
          </a:prstGeom>
          <a:noFill/>
          <a:ln/>
        </p:spPr>
        <p:txBody>
          <a:bodyPr wrap="square" lIns="0" tIns="0" rIns="0" bIns="0" rtlCol="0" anchor="t">
            <a:normAutofit/>
          </a:bodyPr>
          <a:lstStyle/>
          <a:p>
            <a:pPr algn="ctr" indent="0" marL="0">
              <a:buNone/>
            </a:pPr>
            <a:r>
              <a:rPr lang="en-US" sz="1200" b="1" dirty="0">
                <a:solidFill>
                  <a:srgbClr val="C44B2F"/>
                </a:solidFill>
                <a:latin typeface="Arial" pitchFamily="34" charset="0"/>
                <a:ea typeface="Arial" pitchFamily="34" charset="-122"/>
                <a:cs typeface="Arial" pitchFamily="34" charset="-120"/>
              </a:rPr>
              <a:t>your runtime</a:t>
            </a:r>
            <a:endParaRPr lang="en-US" sz="1200" dirty="0"/>
          </a:p>
        </p:txBody>
      </p:sp>
      <p:sp>
        <p:nvSpPr>
          <p:cNvPr id="18" name="Text 15"/>
          <p:cNvSpPr txBox="1"/>
          <p:nvPr/>
        </p:nvSpPr>
        <p:spPr>
          <a:xfrm>
            <a:off x="5724130" y="2148840"/>
            <a:ext cx="1920240" cy="365760"/>
          </a:xfrm>
          <a:prstGeom prst="rect">
            <a:avLst/>
          </a:prstGeom>
          <a:noFill/>
          <a:ln/>
        </p:spPr>
        <p:txBody>
          <a:bodyPr wrap="square" lIns="0" tIns="0" rIns="0" bIns="0" rtlCol="0" anchor="t">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intent, design, tests</a:t>
            </a:r>
            <a:endParaRPr lang="en-US" sz="1200" dirty="0"/>
          </a:p>
        </p:txBody>
      </p:sp>
      <p:sp>
        <p:nvSpPr>
          <p:cNvPr id="19" name="Text 16"/>
          <p:cNvSpPr txBox="1"/>
          <p:nvPr/>
        </p:nvSpPr>
        <p:spPr>
          <a:xfrm>
            <a:off x="9284298" y="2148840"/>
            <a:ext cx="1920240" cy="365760"/>
          </a:xfrm>
          <a:prstGeom prst="rect">
            <a:avLst/>
          </a:prstGeom>
          <a:noFill/>
          <a:ln/>
        </p:spPr>
        <p:txBody>
          <a:bodyPr wrap="square" lIns="0" tIns="0" rIns="0" bIns="0" rtlCol="0" anchor="t">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code, runs, evidence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The alignment check reads those documents before anyone codes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S5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5</a:t>
            </a:r>
            <a:endParaRPr lang="en-US" sz="1000" dirty="0"/>
          </a:p>
        </p:txBody>
      </p:sp>
      <p:sp>
        <p:nvSpPr>
          <p:cNvPr id="8" name="Shape 5"/>
          <p:cNvSpPr/>
          <p:nvPr/>
        </p:nvSpPr>
        <p:spPr>
          <a:xfrm>
            <a:off x="548640" y="2788920"/>
            <a:ext cx="2718740" cy="1051560"/>
          </a:xfrm>
          <a:prstGeom prst="chevron">
            <a:avLst/>
          </a:prstGeom>
          <a:solidFill>
            <a:srgbClr val="3B6BA8"/>
          </a:solidFill>
          <a:ln w="19050">
            <a:solidFill>
              <a:srgbClr val="FFFFFF"/>
            </a:solidFill>
            <a:prstDash val="solid"/>
          </a:ln>
        </p:spPr>
      </p:sp>
      <p:sp>
        <p:nvSpPr>
          <p:cNvPr id="9" name="Text 6"/>
          <p:cNvSpPr txBox="1"/>
          <p:nvPr/>
        </p:nvSpPr>
        <p:spPr>
          <a:xfrm>
            <a:off x="1126998"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Write the brief</a:t>
            </a:r>
            <a:endParaRPr lang="en-US" sz="1600" dirty="0"/>
          </a:p>
        </p:txBody>
      </p:sp>
      <p:sp>
        <p:nvSpPr>
          <p:cNvPr id="10" name="Text 7"/>
          <p:cNvSpPr txBox="1"/>
          <p:nvPr/>
        </p:nvSpPr>
        <p:spPr>
          <a:xfrm>
            <a:off x="640080"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intent, requirements, constraints, decisions</a:t>
            </a:r>
            <a:endParaRPr lang="en-US" sz="1400" dirty="0"/>
          </a:p>
        </p:txBody>
      </p:sp>
      <p:sp>
        <p:nvSpPr>
          <p:cNvPr id="11" name="Shape 8"/>
          <p:cNvSpPr/>
          <p:nvPr/>
        </p:nvSpPr>
        <p:spPr>
          <a:xfrm>
            <a:off x="3340532" y="2788920"/>
            <a:ext cx="2718740" cy="1051560"/>
          </a:xfrm>
          <a:prstGeom prst="chevron">
            <a:avLst/>
          </a:prstGeom>
          <a:solidFill>
            <a:srgbClr val="C44B2F"/>
          </a:solidFill>
          <a:ln w="19050">
            <a:solidFill>
              <a:srgbClr val="FFFFFF"/>
            </a:solidFill>
            <a:prstDash val="solid"/>
          </a:ln>
        </p:spPr>
      </p:sp>
      <p:sp>
        <p:nvSpPr>
          <p:cNvPr id="12" name="Text 9"/>
          <p:cNvSpPr txBox="1"/>
          <p:nvPr/>
        </p:nvSpPr>
        <p:spPr>
          <a:xfrm>
            <a:off x="3918890"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Check alignment</a:t>
            </a:r>
            <a:endParaRPr lang="en-US" sz="1600" dirty="0"/>
          </a:p>
        </p:txBody>
      </p:sp>
      <p:sp>
        <p:nvSpPr>
          <p:cNvPr id="13" name="Text 10"/>
          <p:cNvSpPr txBox="1"/>
          <p:nvPr/>
        </p:nvSpPr>
        <p:spPr>
          <a:xfrm>
            <a:off x="3431972"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drift, contradictions, stale assumptions</a:t>
            </a:r>
            <a:endParaRPr lang="en-US" sz="1400" dirty="0"/>
          </a:p>
        </p:txBody>
      </p:sp>
      <p:sp>
        <p:nvSpPr>
          <p:cNvPr id="14" name="Text 11"/>
          <p:cNvSpPr txBox="1"/>
          <p:nvPr/>
        </p:nvSpPr>
        <p:spPr>
          <a:xfrm>
            <a:off x="2974772" y="5029200"/>
            <a:ext cx="3450260" cy="54864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the step nobody does by hand today</a:t>
            </a:r>
            <a:endParaRPr lang="en-US" sz="1400" dirty="0"/>
          </a:p>
        </p:txBody>
      </p:sp>
      <p:sp>
        <p:nvSpPr>
          <p:cNvPr id="15" name="Shape 12"/>
          <p:cNvSpPr/>
          <p:nvPr/>
        </p:nvSpPr>
        <p:spPr>
          <a:xfrm>
            <a:off x="6132424" y="2788920"/>
            <a:ext cx="2718740" cy="1051560"/>
          </a:xfrm>
          <a:prstGeom prst="chevron">
            <a:avLst/>
          </a:prstGeom>
          <a:solidFill>
            <a:srgbClr val="3B6BA8"/>
          </a:solidFill>
          <a:ln w="19050">
            <a:solidFill>
              <a:srgbClr val="FFFFFF"/>
            </a:solidFill>
            <a:prstDash val="solid"/>
          </a:ln>
        </p:spPr>
      </p:sp>
      <p:sp>
        <p:nvSpPr>
          <p:cNvPr id="16" name="Text 13"/>
          <p:cNvSpPr txBox="1"/>
          <p:nvPr/>
        </p:nvSpPr>
        <p:spPr>
          <a:xfrm>
            <a:off x="6710782"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Plan the work</a:t>
            </a:r>
            <a:endParaRPr lang="en-US" sz="1600" dirty="0"/>
          </a:p>
        </p:txBody>
      </p:sp>
      <p:sp>
        <p:nvSpPr>
          <p:cNvPr id="17" name="Text 14"/>
          <p:cNvSpPr txBox="1"/>
          <p:nvPr/>
        </p:nvSpPr>
        <p:spPr>
          <a:xfrm>
            <a:off x="6223864"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bounded items with scope and evidence</a:t>
            </a:r>
            <a:endParaRPr lang="en-US" sz="1400" dirty="0"/>
          </a:p>
        </p:txBody>
      </p:sp>
      <p:sp>
        <p:nvSpPr>
          <p:cNvPr id="18" name="Shape 15"/>
          <p:cNvSpPr/>
          <p:nvPr/>
        </p:nvSpPr>
        <p:spPr>
          <a:xfrm>
            <a:off x="8924315" y="2788920"/>
            <a:ext cx="2718740" cy="1051560"/>
          </a:xfrm>
          <a:prstGeom prst="chevron">
            <a:avLst/>
          </a:prstGeom>
          <a:solidFill>
            <a:srgbClr val="3B6BA8"/>
          </a:solidFill>
          <a:ln w="19050">
            <a:solidFill>
              <a:srgbClr val="FFFFFF"/>
            </a:solidFill>
            <a:prstDash val="solid"/>
          </a:ln>
        </p:spPr>
      </p:sp>
      <p:sp>
        <p:nvSpPr>
          <p:cNvPr id="19" name="Text 16"/>
          <p:cNvSpPr txBox="1"/>
          <p:nvPr/>
        </p:nvSpPr>
        <p:spPr>
          <a:xfrm>
            <a:off x="9502673" y="2880360"/>
            <a:ext cx="1562024" cy="86868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Run it</a:t>
            </a:r>
            <a:endParaRPr lang="en-US" sz="1600" dirty="0"/>
          </a:p>
        </p:txBody>
      </p:sp>
      <p:sp>
        <p:nvSpPr>
          <p:cNvPr id="20" name="Text 17"/>
          <p:cNvSpPr txBox="1"/>
          <p:nvPr/>
        </p:nvSpPr>
        <p:spPr>
          <a:xfrm>
            <a:off x="9015755" y="4023360"/>
            <a:ext cx="2535860"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your own runtime executes, measures, reports back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Drift surfaces at the alignment check instead of in review</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S6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6</a:t>
            </a:r>
            <a:endParaRPr lang="en-US" sz="1000" dirty="0"/>
          </a:p>
        </p:txBody>
      </p:sp>
      <p:sp>
        <p:nvSpPr>
          <p:cNvPr id="8" name="Shape 5"/>
          <p:cNvSpPr/>
          <p:nvPr/>
        </p:nvSpPr>
        <p:spPr>
          <a:xfrm>
            <a:off x="548640" y="1965960"/>
            <a:ext cx="5410048" cy="3108960"/>
          </a:xfrm>
          <a:prstGeom prst="roundRect">
            <a:avLst>
              <a:gd name="adj" fmla="val 2941"/>
            </a:avLst>
          </a:prstGeom>
          <a:solidFill>
            <a:srgbClr val="F3F5F8"/>
          </a:solidFill>
          <a:ln w="9525">
            <a:solidFill>
              <a:srgbClr val="D6DCE4"/>
            </a:solidFill>
            <a:prstDash val="solid"/>
          </a:ln>
        </p:spPr>
      </p:sp>
      <p:sp>
        <p:nvSpPr>
          <p:cNvPr id="9" name="Text 6"/>
          <p:cNvSpPr txBox="1"/>
          <p:nvPr/>
        </p:nvSpPr>
        <p:spPr>
          <a:xfrm>
            <a:off x="822960"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Today</a:t>
            </a:r>
            <a:endParaRPr lang="en-US" sz="2000" dirty="0"/>
          </a:p>
        </p:txBody>
      </p:sp>
      <p:sp>
        <p:nvSpPr>
          <p:cNvPr id="10" name="Text 7"/>
          <p:cNvSpPr txBox="1"/>
          <p:nvPr/>
        </p:nvSpPr>
        <p:spPr>
          <a:xfrm>
            <a:off x="822960" y="2697480"/>
            <a:ext cx="4861408" cy="96012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Ad hoc prompting, manual document upkeep, and hoping for the best</a:t>
            </a:r>
            <a:endParaRPr lang="en-US" sz="1500" dirty="0"/>
          </a:p>
        </p:txBody>
      </p:sp>
      <p:sp>
        <p:nvSpPr>
          <p:cNvPr id="11" name="Text 8"/>
          <p:cNvSpPr txBox="1"/>
          <p:nvPr/>
        </p:nvSpPr>
        <p:spPr>
          <a:xfrm>
            <a:off x="822960" y="3794760"/>
            <a:ext cx="4861408" cy="96012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Drift shows up in review or in production</a:t>
            </a:r>
            <a:endParaRPr lang="en-US" sz="1500" dirty="0"/>
          </a:p>
        </p:txBody>
      </p:sp>
      <p:sp>
        <p:nvSpPr>
          <p:cNvPr id="12" name="Shape 9"/>
          <p:cNvSpPr/>
          <p:nvPr/>
        </p:nvSpPr>
        <p:spPr>
          <a:xfrm>
            <a:off x="6233008" y="1965960"/>
            <a:ext cx="5410048" cy="3108960"/>
          </a:xfrm>
          <a:prstGeom prst="roundRect">
            <a:avLst>
              <a:gd name="adj" fmla="val 2941"/>
            </a:avLst>
          </a:prstGeom>
          <a:solidFill>
            <a:srgbClr val="FFFFFF"/>
          </a:solidFill>
          <a:ln w="9525">
            <a:solidFill>
              <a:srgbClr val="D6DCE4"/>
            </a:solidFill>
            <a:prstDash val="solid"/>
          </a:ln>
        </p:spPr>
      </p:sp>
      <p:sp>
        <p:nvSpPr>
          <p:cNvPr id="13" name="Text 10"/>
          <p:cNvSpPr txBox="1"/>
          <p:nvPr/>
        </p:nvSpPr>
        <p:spPr>
          <a:xfrm>
            <a:off x="6507328"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With HELIX</a:t>
            </a:r>
            <a:endParaRPr lang="en-US" sz="2000" dirty="0"/>
          </a:p>
        </p:txBody>
      </p:sp>
      <p:sp>
        <p:nvSpPr>
          <p:cNvPr id="14" name="Shape 11"/>
          <p:cNvSpPr/>
          <p:nvPr/>
        </p:nvSpPr>
        <p:spPr>
          <a:xfrm>
            <a:off x="6507328" y="2743200"/>
            <a:ext cx="292608" cy="292608"/>
          </a:xfrm>
          <a:prstGeom prst="ellipse">
            <a:avLst/>
          </a:prstGeom>
          <a:solidFill>
            <a:srgbClr val="3B6BA8"/>
          </a:solidFill>
          <a:ln w="12700">
            <a:solidFill>
              <a:srgbClr val="3B6BA8"/>
            </a:solidFill>
            <a:prstDash val="solid"/>
          </a:ln>
        </p:spPr>
      </p:sp>
      <p:sp>
        <p:nvSpPr>
          <p:cNvPr id="15" name="Text 12"/>
          <p:cNvSpPr txBox="1"/>
          <p:nvPr/>
        </p:nvSpPr>
        <p:spPr>
          <a:xfrm>
            <a:off x="6507328" y="27432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6" name="Text 13"/>
          <p:cNvSpPr txBox="1"/>
          <p:nvPr/>
        </p:nvSpPr>
        <p:spPr>
          <a:xfrm>
            <a:off x="6964528" y="2697480"/>
            <a:ext cx="4404208" cy="96012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Agents and people share one practice, and every change traces to a document</a:t>
            </a:r>
            <a:endParaRPr lang="en-US" sz="1500" dirty="0"/>
          </a:p>
        </p:txBody>
      </p:sp>
      <p:sp>
        <p:nvSpPr>
          <p:cNvPr id="17" name="Shape 14"/>
          <p:cNvSpPr/>
          <p:nvPr/>
        </p:nvSpPr>
        <p:spPr>
          <a:xfrm>
            <a:off x="6507328" y="3840480"/>
            <a:ext cx="292608" cy="292608"/>
          </a:xfrm>
          <a:prstGeom prst="ellipse">
            <a:avLst/>
          </a:prstGeom>
          <a:solidFill>
            <a:srgbClr val="3B6BA8"/>
          </a:solidFill>
          <a:ln w="12700">
            <a:solidFill>
              <a:srgbClr val="3B6BA8"/>
            </a:solidFill>
            <a:prstDash val="solid"/>
          </a:ln>
        </p:spPr>
      </p:sp>
      <p:sp>
        <p:nvSpPr>
          <p:cNvPr id="18" name="Text 15"/>
          <p:cNvSpPr txBox="1"/>
          <p:nvPr/>
        </p:nvSpPr>
        <p:spPr>
          <a:xfrm>
            <a:off x="6507328" y="3840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9" name="Text 16"/>
          <p:cNvSpPr txBox="1"/>
          <p:nvPr/>
        </p:nvSpPr>
        <p:spPr>
          <a:xfrm>
            <a:off x="6964528" y="3794760"/>
            <a:ext cx="4404208" cy="96012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alignment check catches drift before the first line of code</a:t>
            </a:r>
            <a:endParaRPr lang="en-US" sz="1500" dirty="0"/>
          </a:p>
        </p:txBody>
      </p:sp>
      <p:sp>
        <p:nvSpPr>
          <p:cNvPr id="20" name="Text 17"/>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the biggest change is when drift is found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One OAuth change showed three drifted specs before coding</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S7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7</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team asked its agent to add OAuth login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alignment check found 3 affected feature specs and 2 affected designs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flagged 1 recorded decision that conflicted with the OAuth pattern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listed 4 missing user stories and 1 test plan to revise</a:t>
            </a:r>
            <a:endParaRPr lang="en-US" sz="1800" dirty="0"/>
          </a:p>
        </p:txBody>
      </p:sp>
      <p:sp>
        <p:nvSpPr>
          <p:cNvPr id="9" name="Shape 6"/>
          <p:cNvSpPr/>
          <p:nvPr/>
        </p:nvSpPr>
        <p:spPr>
          <a:xfrm>
            <a:off x="5285613" y="1965960"/>
            <a:ext cx="1383621" cy="3840480"/>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423160"/>
            <a:ext cx="622629" cy="622629"/>
          </a:xfrm>
          <a:prstGeom prst="ellipse">
            <a:avLst/>
          </a:prstGeom>
          <a:solidFill>
            <a:srgbClr val="3B6BA8"/>
          </a:solidFill>
          <a:ln w="12700">
            <a:solidFill>
              <a:srgbClr val="3B6BA8"/>
            </a:solidFill>
            <a:prstDash val="solid"/>
          </a:ln>
        </p:spPr>
      </p:sp>
      <p:sp>
        <p:nvSpPr>
          <p:cNvPr id="11" name="Text 8"/>
          <p:cNvSpPr txBox="1"/>
          <p:nvPr/>
        </p:nvSpPr>
        <p:spPr>
          <a:xfrm>
            <a:off x="566610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422773" y="3274389"/>
            <a:ext cx="1109301"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3 specs</a:t>
            </a:r>
            <a:endParaRPr lang="en-US" sz="1600" dirty="0"/>
          </a:p>
        </p:txBody>
      </p:sp>
      <p:sp>
        <p:nvSpPr>
          <p:cNvPr id="13" name="Text 10"/>
          <p:cNvSpPr txBox="1"/>
          <p:nvPr/>
        </p:nvSpPr>
        <p:spPr>
          <a:xfrm>
            <a:off x="5422773"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affected by the change</a:t>
            </a:r>
            <a:endParaRPr lang="en-US" sz="1300" dirty="0"/>
          </a:p>
        </p:txBody>
      </p:sp>
      <p:sp>
        <p:nvSpPr>
          <p:cNvPr id="14" name="Shape 11"/>
          <p:cNvSpPr/>
          <p:nvPr/>
        </p:nvSpPr>
        <p:spPr>
          <a:xfrm>
            <a:off x="6943554" y="1965960"/>
            <a:ext cx="1383621" cy="3840480"/>
          </a:xfrm>
          <a:prstGeom prst="roundRect">
            <a:avLst>
              <a:gd name="adj" fmla="val 6609"/>
            </a:avLst>
          </a:prstGeom>
          <a:solidFill>
            <a:srgbClr val="F3F5F8"/>
          </a:solidFill>
          <a:ln w="9525">
            <a:solidFill>
              <a:srgbClr val="D6DCE4"/>
            </a:solidFill>
            <a:prstDash val="solid"/>
          </a:ln>
        </p:spPr>
      </p:sp>
      <p:sp>
        <p:nvSpPr>
          <p:cNvPr id="15" name="Shape 12"/>
          <p:cNvSpPr/>
          <p:nvPr/>
        </p:nvSpPr>
        <p:spPr>
          <a:xfrm>
            <a:off x="7324049" y="2423160"/>
            <a:ext cx="622629" cy="622629"/>
          </a:xfrm>
          <a:prstGeom prst="ellipse">
            <a:avLst/>
          </a:prstGeom>
          <a:solidFill>
            <a:srgbClr val="6842A8"/>
          </a:solidFill>
          <a:ln w="12700">
            <a:solidFill>
              <a:srgbClr val="6842A8"/>
            </a:solidFill>
            <a:prstDash val="solid"/>
          </a:ln>
        </p:spPr>
      </p:sp>
      <p:sp>
        <p:nvSpPr>
          <p:cNvPr id="16" name="Text 13"/>
          <p:cNvSpPr txBox="1"/>
          <p:nvPr/>
        </p:nvSpPr>
        <p:spPr>
          <a:xfrm>
            <a:off x="732404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080714" y="3274389"/>
            <a:ext cx="1109301"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1 decision</a:t>
            </a:r>
            <a:endParaRPr lang="en-US" sz="1600" dirty="0"/>
          </a:p>
        </p:txBody>
      </p:sp>
      <p:sp>
        <p:nvSpPr>
          <p:cNvPr id="18" name="Text 15"/>
          <p:cNvSpPr txBox="1"/>
          <p:nvPr/>
        </p:nvSpPr>
        <p:spPr>
          <a:xfrm>
            <a:off x="708071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in conflict with OAuth</a:t>
            </a:r>
            <a:endParaRPr lang="en-US" sz="1300" dirty="0"/>
          </a:p>
        </p:txBody>
      </p:sp>
      <p:sp>
        <p:nvSpPr>
          <p:cNvPr id="19" name="Shape 16"/>
          <p:cNvSpPr/>
          <p:nvPr/>
        </p:nvSpPr>
        <p:spPr>
          <a:xfrm>
            <a:off x="8601494" y="1965960"/>
            <a:ext cx="1383621" cy="3840480"/>
          </a:xfrm>
          <a:prstGeom prst="roundRect">
            <a:avLst>
              <a:gd name="adj" fmla="val 6609"/>
            </a:avLst>
          </a:prstGeom>
          <a:solidFill>
            <a:srgbClr val="F3F5F8"/>
          </a:solidFill>
          <a:ln w="9525">
            <a:solidFill>
              <a:srgbClr val="D6DCE4"/>
            </a:solidFill>
            <a:prstDash val="solid"/>
          </a:ln>
        </p:spPr>
      </p:sp>
      <p:sp>
        <p:nvSpPr>
          <p:cNvPr id="20" name="Shape 17"/>
          <p:cNvSpPr/>
          <p:nvPr/>
        </p:nvSpPr>
        <p:spPr>
          <a:xfrm>
            <a:off x="8981990" y="2423160"/>
            <a:ext cx="622629" cy="622629"/>
          </a:xfrm>
          <a:prstGeom prst="ellipse">
            <a:avLst/>
          </a:prstGeom>
          <a:solidFill>
            <a:srgbClr val="C44B2F"/>
          </a:solidFill>
          <a:ln w="12700">
            <a:solidFill>
              <a:srgbClr val="C44B2F"/>
            </a:solidFill>
            <a:prstDash val="solid"/>
          </a:ln>
        </p:spPr>
      </p:sp>
      <p:sp>
        <p:nvSpPr>
          <p:cNvPr id="21" name="Text 18"/>
          <p:cNvSpPr txBox="1"/>
          <p:nvPr/>
        </p:nvSpPr>
        <p:spPr>
          <a:xfrm>
            <a:off x="898199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8738654" y="3274389"/>
            <a:ext cx="1109301"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4 stories</a:t>
            </a:r>
            <a:endParaRPr lang="en-US" sz="1600" dirty="0"/>
          </a:p>
        </p:txBody>
      </p:sp>
      <p:sp>
        <p:nvSpPr>
          <p:cNvPr id="23" name="Text 20"/>
          <p:cNvSpPr txBox="1"/>
          <p:nvPr/>
        </p:nvSpPr>
        <p:spPr>
          <a:xfrm>
            <a:off x="873865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missing and now listed</a:t>
            </a:r>
            <a:endParaRPr lang="en-US" sz="1300" dirty="0"/>
          </a:p>
        </p:txBody>
      </p:sp>
      <p:sp>
        <p:nvSpPr>
          <p:cNvPr id="24" name="Shape 21"/>
          <p:cNvSpPr/>
          <p:nvPr/>
        </p:nvSpPr>
        <p:spPr>
          <a:xfrm>
            <a:off x="10259435" y="1965960"/>
            <a:ext cx="1383621" cy="3840480"/>
          </a:xfrm>
          <a:prstGeom prst="roundRect">
            <a:avLst>
              <a:gd name="adj" fmla="val 6609"/>
            </a:avLst>
          </a:prstGeom>
          <a:solidFill>
            <a:srgbClr val="F3F5F8"/>
          </a:solidFill>
          <a:ln w="9525">
            <a:solidFill>
              <a:srgbClr val="D6DCE4"/>
            </a:solidFill>
            <a:prstDash val="solid"/>
          </a:ln>
        </p:spPr>
      </p:sp>
      <p:sp>
        <p:nvSpPr>
          <p:cNvPr id="25" name="Shape 22"/>
          <p:cNvSpPr/>
          <p:nvPr/>
        </p:nvSpPr>
        <p:spPr>
          <a:xfrm>
            <a:off x="10639930" y="2423160"/>
            <a:ext cx="622629" cy="622629"/>
          </a:xfrm>
          <a:prstGeom prst="ellipse">
            <a:avLst/>
          </a:prstGeom>
          <a:solidFill>
            <a:srgbClr val="3B6BA8"/>
          </a:solidFill>
          <a:ln w="12700">
            <a:solidFill>
              <a:srgbClr val="3B6BA8"/>
            </a:solidFill>
            <a:prstDash val="solid"/>
          </a:ln>
        </p:spPr>
      </p:sp>
      <p:sp>
        <p:nvSpPr>
          <p:cNvPr id="26" name="Text 23"/>
          <p:cNvSpPr txBox="1"/>
          <p:nvPr/>
        </p:nvSpPr>
        <p:spPr>
          <a:xfrm>
            <a:off x="1063993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27" name="Text 24"/>
          <p:cNvSpPr txBox="1"/>
          <p:nvPr/>
        </p:nvSpPr>
        <p:spPr>
          <a:xfrm>
            <a:off x="10396595" y="3274389"/>
            <a:ext cx="1109301" cy="45720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1 test plan</a:t>
            </a:r>
            <a:endParaRPr lang="en-US" sz="1400" dirty="0"/>
          </a:p>
        </p:txBody>
      </p:sp>
      <p:sp>
        <p:nvSpPr>
          <p:cNvPr id="28" name="Text 25"/>
          <p:cNvSpPr txBox="1"/>
          <p:nvPr/>
        </p:nvSpPr>
        <p:spPr>
          <a:xfrm>
            <a:off x="10396595"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to revise first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 healthy project averages under 3 drift findings per check</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8</a:t>
            </a:r>
            <a:endParaRPr lang="en-US" sz="1000" dirty="0"/>
          </a:p>
        </p:txBody>
      </p:sp>
      <p:sp>
        <p:nvSpPr>
          <p:cNvPr id="8" name="Shape 5"/>
          <p:cNvSpPr/>
          <p:nvPr/>
        </p:nvSpPr>
        <p:spPr>
          <a:xfrm>
            <a:off x="548640" y="1965960"/>
            <a:ext cx="3515258" cy="3840480"/>
          </a:xfrm>
          <a:prstGeom prst="roundRect">
            <a:avLst>
              <a:gd name="adj" fmla="val 2601"/>
            </a:avLst>
          </a:prstGeom>
          <a:solidFill>
            <a:srgbClr val="F3F5F8"/>
          </a:solidFill>
          <a:ln w="9525">
            <a:solidFill>
              <a:srgbClr val="D6DCE4"/>
            </a:solidFill>
            <a:prstDash val="solid"/>
          </a:ln>
        </p:spPr>
      </p:sp>
      <p:sp>
        <p:nvSpPr>
          <p:cNvPr id="9" name="Text 6"/>
          <p:cNvSpPr txBox="1"/>
          <p:nvPr/>
        </p:nvSpPr>
        <p:spPr>
          <a:xfrm>
            <a:off x="777240" y="2240280"/>
            <a:ext cx="3058058" cy="1463040"/>
          </a:xfrm>
          <a:prstGeom prst="rect">
            <a:avLst/>
          </a:prstGeom>
          <a:noFill/>
          <a:ln/>
        </p:spPr>
        <p:txBody>
          <a:bodyPr wrap="square" lIns="0" tIns="0" rIns="0" bIns="0" rtlCol="0" anchor="ctr">
            <a:normAutofit/>
          </a:bodyPr>
          <a:lstStyle/>
          <a:p>
            <a:pPr algn="ctr" indent="0" marL="0">
              <a:buNone/>
            </a:pPr>
            <a:r>
              <a:rPr lang="en-US" sz="6400" dirty="0">
                <a:solidFill>
                  <a:srgbClr val="3B6BA8"/>
                </a:solidFill>
                <a:latin typeface="Georgia" pitchFamily="34" charset="0"/>
                <a:ea typeface="Georgia" pitchFamily="34" charset="-122"/>
                <a:cs typeface="Georgia" pitchFamily="34" charset="-120"/>
              </a:rPr>
              <a:t>&lt; 3</a:t>
            </a:r>
            <a:endParaRPr lang="en-US" sz="6400" dirty="0"/>
          </a:p>
        </p:txBody>
      </p:sp>
      <p:sp>
        <p:nvSpPr>
          <p:cNvPr id="10" name="Text 7"/>
          <p:cNvSpPr txBox="1"/>
          <p:nvPr/>
        </p:nvSpPr>
        <p:spPr>
          <a:xfrm>
            <a:off x="777240" y="3886200"/>
            <a:ext cx="3058058" cy="1280160"/>
          </a:xfrm>
          <a:prstGeom prst="rect">
            <a:avLst/>
          </a:prstGeom>
          <a:noFill/>
          <a:ln/>
        </p:spPr>
        <p:txBody>
          <a:bodyPr wrap="square" lIns="0" tIns="0" rIns="0" bIns="0" rtlCol="0" anchor="t">
            <a:normAutofit/>
          </a:bodyPr>
          <a:lstStyle/>
          <a:p>
            <a:pPr algn="ctr" indent="0" marL="0">
              <a:buNone/>
            </a:pPr>
            <a:r>
              <a:rPr lang="en-US" sz="1500" dirty="0">
                <a:solidFill>
                  <a:srgbClr val="1F2933"/>
                </a:solidFill>
                <a:latin typeface="Arial" pitchFamily="34" charset="0"/>
                <a:ea typeface="Arial" pitchFamily="34" charset="-122"/>
                <a:cs typeface="Arial" pitchFamily="34" charset="-120"/>
              </a:rPr>
              <a:t>drift findings per check on a healthy project</a:t>
            </a:r>
            <a:endParaRPr lang="en-US" sz="1500" dirty="0"/>
          </a:p>
        </p:txBody>
      </p:sp>
      <p:sp>
        <p:nvSpPr>
          <p:cNvPr id="11" name="Text 8"/>
          <p:cNvSpPr txBox="1"/>
          <p:nvPr/>
        </p:nvSpPr>
        <p:spPr>
          <a:xfrm>
            <a:off x="777240" y="5303520"/>
            <a:ext cx="3058058" cy="320040"/>
          </a:xfrm>
          <a:prstGeom prst="rect">
            <a:avLst/>
          </a:prstGeom>
          <a:noFill/>
          <a:ln/>
        </p:spPr>
        <p:txBody>
          <a:bodyPr wrap="square" lIns="0" tIns="0" rIns="0" bIns="0" rtlCol="0" anchor="b">
            <a:normAutofit/>
          </a:bodyPr>
          <a:lstStyle/>
          <a:p>
            <a:pPr algn="ctr" indent="0" marL="0">
              <a:buNone/>
            </a:pPr>
            <a:r>
              <a:rPr lang="en-US" sz="1200" b="1" dirty="0">
                <a:solidFill>
                  <a:srgbClr val="55606D"/>
                </a:solidFill>
                <a:latin typeface="Arial" pitchFamily="34" charset="0"/>
                <a:ea typeface="Arial" pitchFamily="34" charset="-122"/>
                <a:cs typeface="Arial" pitchFamily="34" charset="-120"/>
              </a:rPr>
              <a:t>TARGET</a:t>
            </a:r>
            <a:endParaRPr lang="en-US" sz="1200" dirty="0"/>
          </a:p>
        </p:txBody>
      </p:sp>
      <p:sp>
        <p:nvSpPr>
          <p:cNvPr id="12" name="Shape 9"/>
          <p:cNvSpPr/>
          <p:nvPr/>
        </p:nvSpPr>
        <p:spPr>
          <a:xfrm>
            <a:off x="4338218" y="1965960"/>
            <a:ext cx="3515258" cy="3840480"/>
          </a:xfrm>
          <a:prstGeom prst="roundRect">
            <a:avLst>
              <a:gd name="adj" fmla="val 2601"/>
            </a:avLst>
          </a:prstGeom>
          <a:solidFill>
            <a:srgbClr val="F3F5F8"/>
          </a:solidFill>
          <a:ln w="9525">
            <a:solidFill>
              <a:srgbClr val="D6DCE4"/>
            </a:solidFill>
            <a:prstDash val="solid"/>
          </a:ln>
        </p:spPr>
      </p:sp>
      <p:sp>
        <p:nvSpPr>
          <p:cNvPr id="13" name="Text 10"/>
          <p:cNvSpPr txBox="1"/>
          <p:nvPr/>
        </p:nvSpPr>
        <p:spPr>
          <a:xfrm>
            <a:off x="4566818" y="2240280"/>
            <a:ext cx="3058058" cy="1463040"/>
          </a:xfrm>
          <a:prstGeom prst="rect">
            <a:avLst/>
          </a:prstGeom>
          <a:noFill/>
          <a:ln/>
        </p:spPr>
        <p:txBody>
          <a:bodyPr wrap="square" lIns="0" tIns="0" rIns="0" bIns="0" rtlCol="0" anchor="ctr">
            <a:normAutofit/>
          </a:bodyPr>
          <a:lstStyle/>
          <a:p>
            <a:pPr algn="ctr" indent="0" marL="0">
              <a:buNone/>
            </a:pPr>
            <a:r>
              <a:rPr lang="en-US" sz="6400" dirty="0">
                <a:solidFill>
                  <a:srgbClr val="6842A8"/>
                </a:solidFill>
                <a:latin typeface="Georgia" pitchFamily="34" charset="0"/>
                <a:ea typeface="Georgia" pitchFamily="34" charset="-122"/>
                <a:cs typeface="Georgia" pitchFamily="34" charset="-120"/>
              </a:rPr>
              <a:t>3</a:t>
            </a:r>
            <a:endParaRPr lang="en-US" sz="6400" dirty="0"/>
          </a:p>
        </p:txBody>
      </p:sp>
      <p:sp>
        <p:nvSpPr>
          <p:cNvPr id="14" name="Text 11"/>
          <p:cNvSpPr txBox="1"/>
          <p:nvPr/>
        </p:nvSpPr>
        <p:spPr>
          <a:xfrm>
            <a:off x="4566818" y="3886200"/>
            <a:ext cx="3058058" cy="1280160"/>
          </a:xfrm>
          <a:prstGeom prst="rect">
            <a:avLst/>
          </a:prstGeom>
          <a:noFill/>
          <a:ln/>
        </p:spPr>
        <p:txBody>
          <a:bodyPr wrap="square" lIns="0" tIns="0" rIns="0" bIns="0" rtlCol="0" anchor="t">
            <a:normAutofit/>
          </a:bodyPr>
          <a:lstStyle/>
          <a:p>
            <a:pPr algn="ctr" indent="0" marL="0">
              <a:buNone/>
            </a:pPr>
            <a:r>
              <a:rPr lang="en-US" sz="1500" dirty="0">
                <a:solidFill>
                  <a:srgbClr val="1F2933"/>
                </a:solidFill>
                <a:latin typeface="Arial" pitchFamily="34" charset="0"/>
                <a:ea typeface="Arial" pitchFamily="34" charset="-122"/>
                <a:cs typeface="Arial" pitchFamily="34" charset="-120"/>
              </a:rPr>
              <a:t>runtimes documented within 12 months</a:t>
            </a:r>
            <a:endParaRPr lang="en-US" sz="1500" dirty="0"/>
          </a:p>
        </p:txBody>
      </p:sp>
      <p:sp>
        <p:nvSpPr>
          <p:cNvPr id="15" name="Text 12"/>
          <p:cNvSpPr txBox="1"/>
          <p:nvPr/>
        </p:nvSpPr>
        <p:spPr>
          <a:xfrm>
            <a:off x="4566818" y="5303520"/>
            <a:ext cx="3058058" cy="320040"/>
          </a:xfrm>
          <a:prstGeom prst="rect">
            <a:avLst/>
          </a:prstGeom>
          <a:noFill/>
          <a:ln/>
        </p:spPr>
        <p:txBody>
          <a:bodyPr wrap="square" lIns="0" tIns="0" rIns="0" bIns="0" rtlCol="0" anchor="b">
            <a:normAutofit/>
          </a:bodyPr>
          <a:lstStyle/>
          <a:p>
            <a:pPr algn="ctr" indent="0" marL="0">
              <a:buNone/>
            </a:pPr>
            <a:r>
              <a:rPr lang="en-US" sz="1200" b="1" dirty="0">
                <a:solidFill>
                  <a:srgbClr val="55606D"/>
                </a:solidFill>
                <a:latin typeface="Arial" pitchFamily="34" charset="0"/>
                <a:ea typeface="Arial" pitchFamily="34" charset="-122"/>
                <a:cs typeface="Arial" pitchFamily="34" charset="-120"/>
              </a:rPr>
              <a:t>TARGET</a:t>
            </a:r>
            <a:endParaRPr lang="en-US" sz="1200" dirty="0"/>
          </a:p>
        </p:txBody>
      </p:sp>
      <p:sp>
        <p:nvSpPr>
          <p:cNvPr id="16" name="Shape 13"/>
          <p:cNvSpPr/>
          <p:nvPr/>
        </p:nvSpPr>
        <p:spPr>
          <a:xfrm>
            <a:off x="8127797" y="1965960"/>
            <a:ext cx="3515258" cy="3840480"/>
          </a:xfrm>
          <a:prstGeom prst="roundRect">
            <a:avLst>
              <a:gd name="adj" fmla="val 2601"/>
            </a:avLst>
          </a:prstGeom>
          <a:solidFill>
            <a:srgbClr val="F3F5F8"/>
          </a:solidFill>
          <a:ln w="9525">
            <a:solidFill>
              <a:srgbClr val="D6DCE4"/>
            </a:solidFill>
            <a:prstDash val="solid"/>
          </a:ln>
        </p:spPr>
      </p:sp>
      <p:sp>
        <p:nvSpPr>
          <p:cNvPr id="17" name="Text 14"/>
          <p:cNvSpPr txBox="1"/>
          <p:nvPr/>
        </p:nvSpPr>
        <p:spPr>
          <a:xfrm>
            <a:off x="8356397" y="2240280"/>
            <a:ext cx="3058058" cy="1463040"/>
          </a:xfrm>
          <a:prstGeom prst="rect">
            <a:avLst/>
          </a:prstGeom>
          <a:noFill/>
          <a:ln/>
        </p:spPr>
        <p:txBody>
          <a:bodyPr wrap="square" lIns="0" tIns="0" rIns="0" bIns="0" rtlCol="0" anchor="ctr">
            <a:normAutofit/>
          </a:bodyPr>
          <a:lstStyle/>
          <a:p>
            <a:pPr algn="ctr" indent="0" marL="0">
              <a:buNone/>
            </a:pPr>
            <a:r>
              <a:rPr lang="en-US" sz="6400" dirty="0">
                <a:solidFill>
                  <a:srgbClr val="C44B2F"/>
                </a:solidFill>
                <a:latin typeface="Georgia" pitchFamily="34" charset="0"/>
                <a:ea typeface="Georgia" pitchFamily="34" charset="-122"/>
                <a:cs typeface="Georgia" pitchFamily="34" charset="-120"/>
              </a:rPr>
              <a:t>50+</a:t>
            </a:r>
            <a:endParaRPr lang="en-US" sz="6400" dirty="0"/>
          </a:p>
        </p:txBody>
      </p:sp>
      <p:sp>
        <p:nvSpPr>
          <p:cNvPr id="18" name="Text 15"/>
          <p:cNvSpPr txBox="1"/>
          <p:nvPr/>
        </p:nvSpPr>
        <p:spPr>
          <a:xfrm>
            <a:off x="8356397" y="3886200"/>
            <a:ext cx="3058058" cy="1280160"/>
          </a:xfrm>
          <a:prstGeom prst="rect">
            <a:avLst/>
          </a:prstGeom>
          <a:noFill/>
          <a:ln/>
        </p:spPr>
        <p:txBody>
          <a:bodyPr wrap="square" lIns="0" tIns="0" rIns="0" bIns="0" rtlCol="0" anchor="t">
            <a:normAutofit/>
          </a:bodyPr>
          <a:lstStyle/>
          <a:p>
            <a:pPr algn="ctr" indent="0" marL="0">
              <a:buNone/>
            </a:pPr>
            <a:r>
              <a:rPr lang="en-US" sz="1500" dirty="0">
                <a:solidFill>
                  <a:srgbClr val="1F2933"/>
                </a:solidFill>
                <a:latin typeface="Arial" pitchFamily="34" charset="0"/>
                <a:ea typeface="Arial" pitchFamily="34" charset="-122"/>
                <a:cs typeface="Arial" pitchFamily="34" charset="-120"/>
              </a:rPr>
              <a:t>public repositories within 18 months</a:t>
            </a:r>
            <a:endParaRPr lang="en-US" sz="1500" dirty="0"/>
          </a:p>
        </p:txBody>
      </p:sp>
      <p:sp>
        <p:nvSpPr>
          <p:cNvPr id="19" name="Text 16"/>
          <p:cNvSpPr txBox="1"/>
          <p:nvPr/>
        </p:nvSpPr>
        <p:spPr>
          <a:xfrm>
            <a:off x="8356397" y="5303520"/>
            <a:ext cx="3058058" cy="320040"/>
          </a:xfrm>
          <a:prstGeom prst="rect">
            <a:avLst/>
          </a:prstGeom>
          <a:noFill/>
          <a:ln/>
        </p:spPr>
        <p:txBody>
          <a:bodyPr wrap="square" lIns="0" tIns="0" rIns="0" bIns="0" rtlCol="0" anchor="b">
            <a:normAutofit/>
          </a:bodyPr>
          <a:lstStyle/>
          <a:p>
            <a:pPr algn="ctr" indent="0" marL="0">
              <a:buNone/>
            </a:pPr>
            <a:r>
              <a:rPr lang="en-US" sz="1200" b="1" dirty="0">
                <a:solidFill>
                  <a:srgbClr val="55606D"/>
                </a:solidFill>
                <a:latin typeface="Arial" pitchFamily="34" charset="0"/>
                <a:ea typeface="Arial" pitchFamily="34" charset="-122"/>
                <a:cs typeface="Arial" pitchFamily="34" charset="-120"/>
              </a:rPr>
              <a:t>TARGET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9</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HELIX checks documents and leaves your runtime and stack alone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S9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9</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No command-line tool, tracker, queue, or execution engine ships with it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Your technology choices stay yours; HELIX imposes none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Product, design, and architecture judgment stays with people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How much an agent does without asking is a dial you set</a:t>
            </a:r>
            <a:endParaRPr lang="en-US" sz="1800" dirty="0"/>
          </a:p>
        </p:txBody>
      </p:sp>
      <p:sp>
        <p:nvSpPr>
          <p:cNvPr id="9" name="Shape 6"/>
          <p:cNvSpPr/>
          <p:nvPr/>
        </p:nvSpPr>
        <p:spPr>
          <a:xfrm>
            <a:off x="5285613" y="1965960"/>
            <a:ext cx="6357442" cy="3840480"/>
          </a:xfrm>
          <a:prstGeom prst="roundRect">
            <a:avLst>
              <a:gd name="adj" fmla="val 2381"/>
            </a:avLst>
          </a:prstGeom>
          <a:solidFill>
            <a:srgbClr val="F3F5F8"/>
          </a:solidFill>
          <a:ln w="12700">
            <a:solidFill>
              <a:srgbClr val="D6DCE4"/>
            </a:solidFill>
            <a:prstDash val="solid"/>
          </a:ln>
        </p:spPr>
      </p:sp>
      <p:sp>
        <p:nvSpPr>
          <p:cNvPr id="10" name="Text 7"/>
          <p:cNvSpPr txBox="1"/>
          <p:nvPr/>
        </p:nvSpPr>
        <p:spPr>
          <a:xfrm>
            <a:off x="5559933" y="2148840"/>
            <a:ext cx="5808802" cy="365760"/>
          </a:xfrm>
          <a:prstGeom prst="rect">
            <a:avLst/>
          </a:prstGeom>
          <a:noFill/>
          <a:ln/>
        </p:spPr>
        <p:txBody>
          <a:bodyPr wrap="square" lIns="0" tIns="0" rIns="0" bIns="0" rtlCol="0" anchor="t">
            <a:normAutofit/>
          </a:bodyPr>
          <a:lstStyle/>
          <a:p>
            <a:pPr algn="ctr" indent="0" marL="0">
              <a:buNone/>
            </a:pPr>
            <a:r>
              <a:rPr lang="en-US" sz="1400" b="1" dirty="0">
                <a:solidFill>
                  <a:srgbClr val="55606D"/>
                </a:solidFill>
                <a:latin typeface="Arial" pitchFamily="34" charset="0"/>
                <a:ea typeface="Arial" pitchFamily="34" charset="-122"/>
                <a:cs typeface="Arial" pitchFamily="34" charset="-120"/>
              </a:rPr>
              <a:t>your runtime and tools</a:t>
            </a:r>
            <a:endParaRPr lang="en-US" sz="1400" dirty="0"/>
          </a:p>
        </p:txBody>
      </p:sp>
      <p:sp>
        <p:nvSpPr>
          <p:cNvPr id="11" name="Text 8"/>
          <p:cNvSpPr txBox="1"/>
          <p:nvPr/>
        </p:nvSpPr>
        <p:spPr>
          <a:xfrm>
            <a:off x="5559933" y="2514600"/>
            <a:ext cx="5808802" cy="320040"/>
          </a:xfrm>
          <a:prstGeom prst="rect">
            <a:avLst/>
          </a:prstGeom>
          <a:noFill/>
          <a:ln/>
        </p:spPr>
        <p:txBody>
          <a:bodyPr wrap="square" lIns="0" tIns="0" rIns="0" bIns="0" rtlCol="0" anchor="t">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tracker, queue, CI, stack, judgment</a:t>
            </a:r>
            <a:endParaRPr lang="en-US" sz="1200" dirty="0"/>
          </a:p>
        </p:txBody>
      </p:sp>
      <p:sp>
        <p:nvSpPr>
          <p:cNvPr id="12" name="Shape 9"/>
          <p:cNvSpPr/>
          <p:nvPr/>
        </p:nvSpPr>
        <p:spPr>
          <a:xfrm>
            <a:off x="7092734" y="3383280"/>
            <a:ext cx="2743200" cy="1371600"/>
          </a:xfrm>
          <a:prstGeom prst="roundRect">
            <a:avLst>
              <a:gd name="adj" fmla="val 6667"/>
            </a:avLst>
          </a:prstGeom>
          <a:solidFill>
            <a:srgbClr val="3B6BA8"/>
          </a:solidFill>
          <a:ln w="9525">
            <a:solidFill>
              <a:srgbClr val="3B6BA8"/>
            </a:solidFill>
            <a:prstDash val="solid"/>
          </a:ln>
        </p:spPr>
      </p:sp>
      <p:sp>
        <p:nvSpPr>
          <p:cNvPr id="13" name="Text 10"/>
          <p:cNvSpPr txBox="1"/>
          <p:nvPr/>
        </p:nvSpPr>
        <p:spPr>
          <a:xfrm>
            <a:off x="7275614" y="3611880"/>
            <a:ext cx="2377440" cy="457200"/>
          </a:xfrm>
          <a:prstGeom prst="rect">
            <a:avLst/>
          </a:prstGeom>
          <a:noFill/>
          <a:ln/>
        </p:spPr>
        <p:txBody>
          <a:bodyPr wrap="square" lIns="0" tIns="0" rIns="0" bIns="0" rtlCol="0" anchor="t">
            <a:normAutofit/>
          </a:bodyPr>
          <a:lstStyle/>
          <a:p>
            <a:pPr algn="ctr" indent="0" marL="0">
              <a:buNone/>
            </a:pPr>
            <a:r>
              <a:rPr lang="en-US" sz="1800" b="1" dirty="0">
                <a:solidFill>
                  <a:srgbClr val="FFFFFF"/>
                </a:solidFill>
                <a:latin typeface="Georgia" pitchFamily="34" charset="0"/>
                <a:ea typeface="Georgia" pitchFamily="34" charset="-122"/>
                <a:cs typeface="Georgia" pitchFamily="34" charset="-120"/>
              </a:rPr>
              <a:t>HELIX</a:t>
            </a:r>
            <a:endParaRPr lang="en-US" sz="1800" dirty="0"/>
          </a:p>
        </p:txBody>
      </p:sp>
      <p:sp>
        <p:nvSpPr>
          <p:cNvPr id="14" name="Text 11"/>
          <p:cNvSpPr txBox="1"/>
          <p:nvPr/>
        </p:nvSpPr>
        <p:spPr>
          <a:xfrm>
            <a:off x="7275614" y="4114800"/>
            <a:ext cx="2377440" cy="457200"/>
          </a:xfrm>
          <a:prstGeom prst="rect">
            <a:avLst/>
          </a:prstGeom>
          <a:noFill/>
          <a:ln/>
        </p:spPr>
        <p:txBody>
          <a:bodyPr wrap="square" lIns="0" tIns="0" rIns="0" bIns="0" rtlCol="0" anchor="t">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templates plus one skill</a:t>
            </a:r>
            <a:endParaRPr lang="en-US" sz="1300" dirty="0"/>
          </a:p>
        </p:txBody>
      </p:sp>
      <p:sp>
        <p:nvSpPr>
          <p:cNvPr id="15" name="Shape 12"/>
          <p:cNvSpPr/>
          <p:nvPr/>
        </p:nvSpPr>
        <p:spPr>
          <a:xfrm>
            <a:off x="9927374" y="4069080"/>
            <a:ext cx="914400" cy="0"/>
          </a:xfrm>
          <a:prstGeom prst="line">
            <a:avLst/>
          </a:prstGeom>
          <a:noFill/>
          <a:ln w="25400">
            <a:solidFill>
              <a:srgbClr val="C44B2F"/>
            </a:solidFill>
            <a:prstDash val="solid"/>
            <a:headEnd type="none"/>
            <a:tailEnd type="triangle"/>
          </a:ln>
        </p:spPr>
      </p:sp>
      <p:sp>
        <p:nvSpPr>
          <p:cNvPr id="16" name="Shape 13"/>
          <p:cNvSpPr/>
          <p:nvPr/>
        </p:nvSpPr>
        <p:spPr>
          <a:xfrm>
            <a:off x="6086894" y="4069080"/>
            <a:ext cx="914400" cy="0"/>
          </a:xfrm>
          <a:prstGeom prst="line">
            <a:avLst/>
          </a:prstGeom>
          <a:noFill/>
          <a:ln w="25400">
            <a:solidFill>
              <a:srgbClr val="C44B2F"/>
            </a:solidFill>
            <a:prstDash val="solid"/>
            <a:headEnd type="triangle"/>
            <a:tailEnd type="none"/>
          </a:ln>
        </p:spPr>
      </p:sp>
      <p:sp>
        <p:nvSpPr>
          <p:cNvPr id="17" name="Text 14"/>
          <p:cNvSpPr txBox="1"/>
          <p:nvPr/>
        </p:nvSpPr>
        <p:spPr>
          <a:xfrm>
            <a:off x="5559933" y="5120640"/>
            <a:ext cx="5808802" cy="54864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reads and writes your documents, asks before anything irreversible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1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E07A5F"/>
          </a:solidFill>
          <a:ln w="12700">
            <a:solidFill>
              <a:srgbClr val="E07A5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10</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Pilot HELIX on one project this quarter and count the drift</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B9C2CF"/>
                </a:solidFill>
                <a:latin typeface="Arial" pitchFamily="34" charset="0"/>
                <a:ea typeface="Arial" pitchFamily="34" charset="-122"/>
                <a:cs typeface="Arial" pitchFamily="34" charset="-120"/>
              </a:rPr>
              <a:t>Sources: S5, S8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B9C2CF"/>
                </a:solidFill>
                <a:latin typeface="Arial" pitchFamily="34" charset="0"/>
                <a:ea typeface="Arial" pitchFamily="34" charset="-122"/>
                <a:cs typeface="Arial" pitchFamily="34" charset="-120"/>
              </a:rPr>
              <a:t>10</a:t>
            </a:r>
            <a:endParaRPr lang="en-US" sz="1000" dirty="0"/>
          </a:p>
        </p:txBody>
      </p:sp>
      <p:sp>
        <p:nvSpPr>
          <p:cNvPr id="8" name="Shape 5"/>
          <p:cNvSpPr/>
          <p:nvPr/>
        </p:nvSpPr>
        <p:spPr>
          <a:xfrm>
            <a:off x="548640" y="1965960"/>
            <a:ext cx="11094415" cy="777240"/>
          </a:xfrm>
          <a:prstGeom prst="roundRect">
            <a:avLst>
              <a:gd name="adj" fmla="val 11765"/>
            </a:avLst>
          </a:prstGeom>
          <a:solidFill>
            <a:srgbClr val="E07A5F"/>
          </a:solidFill>
          <a:ln w="9525">
            <a:solidFill>
              <a:srgbClr val="E07A5F"/>
            </a:solidFill>
            <a:prstDash val="solid"/>
          </a:ln>
        </p:spPr>
      </p:sp>
      <p:sp>
        <p:nvSpPr>
          <p:cNvPr id="9" name="Text 6"/>
          <p:cNvSpPr txBox="1"/>
          <p:nvPr/>
        </p:nvSpPr>
        <p:spPr>
          <a:xfrm>
            <a:off x="822960" y="1965960"/>
            <a:ext cx="10545775" cy="77724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rial" pitchFamily="34" charset="0"/>
                <a:ea typeface="Arial" pitchFamily="34" charset="-122"/>
                <a:cs typeface="Arial" pitchFamily="34" charset="-120"/>
              </a:rPr>
              <a:t>Pilot HELIX on one project this quarter and count the drift</a:t>
            </a:r>
            <a:endParaRPr lang="en-US" sz="1800" dirty="0"/>
          </a:p>
        </p:txBody>
      </p:sp>
      <p:sp>
        <p:nvSpPr>
          <p:cNvPr id="10" name="Text 7"/>
          <p:cNvSpPr txBox="1"/>
          <p:nvPr/>
        </p:nvSpPr>
        <p:spPr>
          <a:xfrm>
            <a:off x="1188720" y="3017520"/>
            <a:ext cx="6664757"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Step</a:t>
            </a:r>
            <a:endParaRPr lang="en-US" sz="1200" dirty="0"/>
          </a:p>
        </p:txBody>
      </p:sp>
      <p:sp>
        <p:nvSpPr>
          <p:cNvPr id="11" name="Text 8"/>
          <p:cNvSpPr txBox="1"/>
          <p:nvPr/>
        </p:nvSpPr>
        <p:spPr>
          <a:xfrm>
            <a:off x="8127797"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Owner</a:t>
            </a:r>
            <a:endParaRPr lang="en-US" sz="1200" dirty="0"/>
          </a:p>
        </p:txBody>
      </p:sp>
      <p:sp>
        <p:nvSpPr>
          <p:cNvPr id="12" name="Text 9"/>
          <p:cNvSpPr txBox="1"/>
          <p:nvPr/>
        </p:nvSpPr>
        <p:spPr>
          <a:xfrm>
            <a:off x="10022586"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Date</a:t>
            </a:r>
            <a:endParaRPr lang="en-US" sz="1200" dirty="0"/>
          </a:p>
        </p:txBody>
      </p:sp>
      <p:sp>
        <p:nvSpPr>
          <p:cNvPr id="13" name="Shape 10"/>
          <p:cNvSpPr/>
          <p:nvPr/>
        </p:nvSpPr>
        <p:spPr>
          <a:xfrm>
            <a:off x="548640" y="3474720"/>
            <a:ext cx="411480" cy="411480"/>
          </a:xfrm>
          <a:prstGeom prst="ellipse">
            <a:avLst/>
          </a:prstGeom>
          <a:solidFill>
            <a:srgbClr val="E07A5F"/>
          </a:solidFill>
          <a:ln w="12700">
            <a:solidFill>
              <a:srgbClr val="E07A5F"/>
            </a:solidFill>
            <a:prstDash val="solid"/>
          </a:ln>
        </p:spPr>
      </p:sp>
      <p:sp>
        <p:nvSpPr>
          <p:cNvPr id="14" name="Text 11"/>
          <p:cNvSpPr txBox="1"/>
          <p:nvPr/>
        </p:nvSpPr>
        <p:spPr>
          <a:xfrm>
            <a:off x="548640" y="3474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5" name="Text 12"/>
          <p:cNvSpPr txBox="1"/>
          <p:nvPr/>
        </p:nvSpPr>
        <p:spPr>
          <a:xfrm>
            <a:off x="1188720" y="338328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Pick one active project with an agent already in the loop, by the end of this week</a:t>
            </a:r>
            <a:endParaRPr lang="en-US" sz="1500" dirty="0"/>
          </a:p>
        </p:txBody>
      </p:sp>
      <p:sp>
        <p:nvSpPr>
          <p:cNvPr id="16" name="Shape 13"/>
          <p:cNvSpPr/>
          <p:nvPr/>
        </p:nvSpPr>
        <p:spPr>
          <a:xfrm>
            <a:off x="8127797" y="3749040"/>
            <a:ext cx="1620469" cy="0"/>
          </a:xfrm>
          <a:prstGeom prst="line">
            <a:avLst/>
          </a:prstGeom>
          <a:noFill/>
          <a:ln w="9525">
            <a:solidFill>
              <a:srgbClr val="B9C2CF"/>
            </a:solidFill>
            <a:prstDash val="solid"/>
            <a:headEnd type="none"/>
            <a:tailEnd type="none"/>
          </a:ln>
        </p:spPr>
      </p:sp>
      <p:sp>
        <p:nvSpPr>
          <p:cNvPr id="17" name="Shape 14"/>
          <p:cNvSpPr/>
          <p:nvPr/>
        </p:nvSpPr>
        <p:spPr>
          <a:xfrm>
            <a:off x="10022586" y="3749040"/>
            <a:ext cx="1620469" cy="0"/>
          </a:xfrm>
          <a:prstGeom prst="line">
            <a:avLst/>
          </a:prstGeom>
          <a:noFill/>
          <a:ln w="9525">
            <a:solidFill>
              <a:srgbClr val="B9C2CF"/>
            </a:solidFill>
            <a:prstDash val="solid"/>
            <a:headEnd type="none"/>
            <a:tailEnd type="none"/>
          </a:ln>
        </p:spPr>
      </p:sp>
      <p:sp>
        <p:nvSpPr>
          <p:cNvPr id="18" name="Shape 15"/>
          <p:cNvSpPr/>
          <p:nvPr/>
        </p:nvSpPr>
        <p:spPr>
          <a:xfrm>
            <a:off x="548640" y="4069080"/>
            <a:ext cx="411480" cy="411480"/>
          </a:xfrm>
          <a:prstGeom prst="ellipse">
            <a:avLst/>
          </a:prstGeom>
          <a:solidFill>
            <a:srgbClr val="E07A5F"/>
          </a:solidFill>
          <a:ln w="12700">
            <a:solidFill>
              <a:srgbClr val="E07A5F"/>
            </a:solidFill>
            <a:prstDash val="solid"/>
          </a:ln>
        </p:spPr>
      </p:sp>
      <p:sp>
        <p:nvSpPr>
          <p:cNvPr id="19" name="Text 16"/>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20" name="Text 17"/>
          <p:cNvSpPr txBox="1"/>
          <p:nvPr/>
        </p:nvSpPr>
        <p:spPr>
          <a:xfrm>
            <a:off x="1188720" y="397764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Adopt the templates and run one alignment check on its documents in the first sprint</a:t>
            </a:r>
            <a:endParaRPr lang="en-US" sz="1500" dirty="0"/>
          </a:p>
        </p:txBody>
      </p:sp>
      <p:sp>
        <p:nvSpPr>
          <p:cNvPr id="21" name="Shape 18"/>
          <p:cNvSpPr/>
          <p:nvPr/>
        </p:nvSpPr>
        <p:spPr>
          <a:xfrm>
            <a:off x="8127797" y="4343400"/>
            <a:ext cx="1620469" cy="0"/>
          </a:xfrm>
          <a:prstGeom prst="line">
            <a:avLst/>
          </a:prstGeom>
          <a:noFill/>
          <a:ln w="9525">
            <a:solidFill>
              <a:srgbClr val="B9C2CF"/>
            </a:solidFill>
            <a:prstDash val="solid"/>
            <a:headEnd type="none"/>
            <a:tailEnd type="none"/>
          </a:ln>
        </p:spPr>
      </p:sp>
      <p:sp>
        <p:nvSpPr>
          <p:cNvPr id="22" name="Shape 19"/>
          <p:cNvSpPr/>
          <p:nvPr/>
        </p:nvSpPr>
        <p:spPr>
          <a:xfrm>
            <a:off x="10022586" y="4343400"/>
            <a:ext cx="1620469" cy="0"/>
          </a:xfrm>
          <a:prstGeom prst="line">
            <a:avLst/>
          </a:prstGeom>
          <a:noFill/>
          <a:ln w="9525">
            <a:solidFill>
              <a:srgbClr val="B9C2CF"/>
            </a:solidFill>
            <a:prstDash val="solid"/>
            <a:headEnd type="none"/>
            <a:tailEnd type="none"/>
          </a:ln>
        </p:spPr>
      </p:sp>
      <p:sp>
        <p:nvSpPr>
          <p:cNvPr id="23" name="Shape 20"/>
          <p:cNvSpPr/>
          <p:nvPr/>
        </p:nvSpPr>
        <p:spPr>
          <a:xfrm>
            <a:off x="548640" y="4663440"/>
            <a:ext cx="411480" cy="411480"/>
          </a:xfrm>
          <a:prstGeom prst="ellipse">
            <a:avLst/>
          </a:prstGeom>
          <a:solidFill>
            <a:srgbClr val="E07A5F"/>
          </a:solidFill>
          <a:ln w="12700">
            <a:solidFill>
              <a:srgbClr val="E07A5F"/>
            </a:solidFill>
            <a:prstDash val="solid"/>
          </a:ln>
        </p:spPr>
      </p:sp>
      <p:sp>
        <p:nvSpPr>
          <p:cNvPr id="24" name="Text 21"/>
          <p:cNvSpPr txBox="1"/>
          <p:nvPr/>
        </p:nvSpPr>
        <p:spPr>
          <a:xfrm>
            <a:off x="54864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5" name="Text 22"/>
          <p:cNvSpPr txBox="1"/>
          <p:nvPr/>
        </p:nvSpPr>
        <p:spPr>
          <a:xfrm>
            <a:off x="1188720" y="457200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Review the findings together after four weeks and decide whether to widen</a:t>
            </a:r>
            <a:endParaRPr lang="en-US" sz="1500" dirty="0"/>
          </a:p>
        </p:txBody>
      </p:sp>
      <p:sp>
        <p:nvSpPr>
          <p:cNvPr id="26" name="Shape 23"/>
          <p:cNvSpPr/>
          <p:nvPr/>
        </p:nvSpPr>
        <p:spPr>
          <a:xfrm>
            <a:off x="8127797" y="4937760"/>
            <a:ext cx="1620469" cy="0"/>
          </a:xfrm>
          <a:prstGeom prst="line">
            <a:avLst/>
          </a:prstGeom>
          <a:noFill/>
          <a:ln w="9525">
            <a:solidFill>
              <a:srgbClr val="B9C2CF"/>
            </a:solidFill>
            <a:prstDash val="solid"/>
            <a:headEnd type="none"/>
            <a:tailEnd type="none"/>
          </a:ln>
        </p:spPr>
      </p:sp>
      <p:sp>
        <p:nvSpPr>
          <p:cNvPr id="27" name="Shape 24"/>
          <p:cNvSpPr/>
          <p:nvPr/>
        </p:nvSpPr>
        <p:spPr>
          <a:xfrm>
            <a:off x="10022586" y="4937760"/>
            <a:ext cx="1620469" cy="0"/>
          </a:xfrm>
          <a:prstGeom prst="line">
            <a:avLst/>
          </a:prstGeom>
          <a:noFill/>
          <a:ln w="9525">
            <a:solidFill>
              <a:srgbClr val="B9C2CF"/>
            </a:solidFill>
            <a:prstDash val="solid"/>
            <a:headEnd type="none"/>
            <a:tailEnd type="none"/>
          </a:ln>
        </p:spPr>
      </p:sp>
      <p:sp>
        <p:nvSpPr>
          <p:cNvPr id="28" name="Text 25"/>
          <p:cNvSpPr txBox="1"/>
          <p:nvPr/>
        </p:nvSpPr>
        <p:spPr>
          <a:xfrm>
            <a:off x="548640" y="5349240"/>
            <a:ext cx="11094415" cy="457200"/>
          </a:xfrm>
          <a:prstGeom prst="rect">
            <a:avLst/>
          </a:prstGeom>
          <a:noFill/>
          <a:ln/>
        </p:spPr>
        <p:txBody>
          <a:bodyPr wrap="square" lIns="0" tIns="0" rIns="0" bIns="0" rtlCol="0" anchor="b">
            <a:normAutofit/>
          </a:bodyPr>
          <a:lstStyle/>
          <a:p>
            <a:pPr algn="l" indent="0" marL="0">
              <a:buNone/>
            </a:pPr>
            <a:r>
              <a:rPr lang="en-US" sz="1300" dirty="0">
                <a:solidFill>
                  <a:srgbClr val="B9C2CF"/>
                </a:solidFill>
                <a:latin typeface="Arial" pitchFamily="34" charset="0"/>
                <a:ea typeface="Arial" pitchFamily="34" charset="-122"/>
                <a:cs typeface="Arial" pitchFamily="34" charset="-120"/>
              </a:rPr>
              <a:t>Without a trial the practice stays improvised and drift keeps surfacing in review</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HELIX is a methodology and artifact catalog for AI-assisted teams; the double helix of a document strand and an execution runtime; document disciplines packaged as templates plus one skill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docs/helix/00-discover/product-vision.md#mission-statement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AI-assisted development crossed from novelty to default; most professional developers ship AI-touched code daily; locally good, globally inconsistent; the era's TDD-equivalent practice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docs/helix/00-discover/product-vision.md#why-now</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Three failure modes: artifact drift, inconsistent agent behavior (a feature whose design contradicts an earlier ADR), lossy session boundaries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docs/helix/01-frame/prd.md#problem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Positioning: a methodology you adopt, not a platform you join; runs on any runtime that reads and writes markdown; adopt incrementally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docs/helix/00-discover/product-vision.md#positioning, docs/helix/00-discover/product-vision.md#key-value-propositions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Four-step workflow contract: write the brief, check alignment, create the work plan, run it in the factory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docs/helix/01-frame/prd.md#core-workflow-contract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Target market: current solution is ad hoc prompting, manual document maintenance, hoping for the best; teams switch because every change traces back to a governing artifact and the alignment skill catches drift early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docs/helix/00-discover/product-vision.md#target-market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OAuth example: the alignment skill finds 3 feature specs and 2 solution designs affected, 1 ADR in conflict, 4 user stories to add, 1 test plan to revise, ordered by authority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docs/helix/00-discover/product-vision.md#user-experience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Targets: healthy artifact sets average &lt; 3 alignment findings per run; 3 documented runtime deployments within 12 months; 50+ public repos within 18 months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docs/helix/00-discover/product-vision.md#success-definition, docs/helix/01-frame/prd.md#success-metrics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S9</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Non-goals: no CLI, tracker, queue, or execution engine; no technology choices imposed; no replacement for product, design, or architectural judgment; autonomy is a controllable spectrum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docs/helix/01-frame/prd.md#non-goals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Document discipline catches agent drift before review</dc:title>
  <dc:subject>PptxGenJS Presentation</dc:subject>
  <dc:creator>HELIX</dc:creator>
  <cp:lastModifiedBy>HELIX</cp:lastModifiedBy>
  <cp:revision>1</cp:revision>
  <dcterms:created xsi:type="dcterms:W3CDTF">2026-09-11T14:20:06Z</dcterms:created>
  <dcterms:modified xsi:type="dcterms:W3CDTF">2026-09-11T14:20:06Z</dcterms:modified>
</cp:coreProperties>
</file>